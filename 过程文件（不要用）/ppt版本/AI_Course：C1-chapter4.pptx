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73" r:id="rId4"/>
    <p:sldId id="274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75" r:id="rId14"/>
    <p:sldId id="268" r:id="rId15"/>
    <p:sldId id="264" r:id="rId16"/>
    <p:sldId id="276" r:id="rId17"/>
    <p:sldId id="277" r:id="rId18"/>
    <p:sldId id="279" r:id="rId19"/>
    <p:sldId id="280" r:id="rId20"/>
    <p:sldId id="281" r:id="rId21"/>
    <p:sldId id="265" r:id="rId22"/>
    <p:sldId id="269" r:id="rId23"/>
    <p:sldId id="270" r:id="rId24"/>
    <p:sldId id="271" r:id="rId25"/>
    <p:sldId id="272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26464" y="624840"/>
            <a:ext cx="7291071" cy="388874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" name="Text 1"/>
          <p:cNvSpPr txBox="1"/>
          <p:nvPr/>
        </p:nvSpPr>
        <p:spPr>
          <a:xfrm>
            <a:off x="1785938" y="1285875"/>
            <a:ext cx="670560" cy="4616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3200" b="1">
                <a:solidFill>
                  <a:srgbClr val="A5B4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r>
              <a:rPr sz="4000"/>
              <a:t>C1</a:t>
            </a:r>
            <a:endParaRPr sz="4000"/>
          </a:p>
        </p:txBody>
      </p:sp>
      <p:sp>
        <p:nvSpPr>
          <p:cNvPr id="22" name="Shape 2"/>
          <p:cNvSpPr/>
          <p:nvPr/>
        </p:nvSpPr>
        <p:spPr>
          <a:xfrm>
            <a:off x="2430660" y="1392137"/>
            <a:ext cx="737593" cy="244674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>
            <a:endParaRPr sz="2400"/>
          </a:p>
        </p:txBody>
      </p:sp>
      <p:sp>
        <p:nvSpPr>
          <p:cNvPr id="23" name="Text 3"/>
          <p:cNvSpPr txBox="1"/>
          <p:nvPr/>
        </p:nvSpPr>
        <p:spPr>
          <a:xfrm>
            <a:off x="2515870" y="1391920"/>
            <a:ext cx="1499870" cy="216535"/>
          </a:xfrm>
          <a:prstGeom prst="rect">
            <a:avLst/>
          </a:prstGeom>
          <a:ln w="12700">
            <a:miter lim="400000"/>
          </a:ln>
        </p:spPr>
        <p:txBody>
          <a:bodyPr wrap="square" lIns="51053" tIns="51053" rIns="51053" bIns="51053">
            <a:spAutoFit/>
          </a:bodyPr>
          <a:lstStyle>
            <a:lvl1pPr>
              <a:lnSpc>
                <a:spcPts val="900"/>
              </a:lnSpc>
              <a:defRPr sz="700" spc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00" b="1"/>
              <a:t>必修 · 5节</a:t>
            </a:r>
            <a:endParaRPr sz="900" b="1"/>
          </a:p>
        </p:txBody>
      </p:sp>
      <p:sp>
        <p:nvSpPr>
          <p:cNvPr id="24" name="Text 4"/>
          <p:cNvSpPr txBox="1"/>
          <p:nvPr/>
        </p:nvSpPr>
        <p:spPr>
          <a:xfrm>
            <a:off x="1785938" y="2329029"/>
            <a:ext cx="3242945" cy="4870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2800" b="1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 algn="l"/>
            <a:r>
              <a:rPr lang="en-US" altLang="zh-CN" sz="3200"/>
              <a:t>AI</a:t>
            </a:r>
            <a:r>
              <a:rPr lang="en-US" altLang="en-US" sz="3200"/>
              <a:t>⼯</a:t>
            </a:r>
            <a:r>
              <a:rPr lang="zh-CN" altLang="en-US" sz="3200"/>
              <a:t>具与核</a:t>
            </a:r>
            <a:r>
              <a:rPr lang="en-US" altLang="en-US" sz="3200"/>
              <a:t>⼼</a:t>
            </a:r>
            <a:r>
              <a:rPr lang="zh-CN" altLang="en-US" sz="3200"/>
              <a:t>概念</a:t>
            </a:r>
            <a:endParaRPr lang="zh-CN" altLang="en-US" sz="3200"/>
          </a:p>
        </p:txBody>
      </p:sp>
      <p:sp>
        <p:nvSpPr>
          <p:cNvPr id="25" name="Text 5"/>
          <p:cNvSpPr txBox="1"/>
          <p:nvPr/>
        </p:nvSpPr>
        <p:spPr>
          <a:xfrm>
            <a:off x="1785938" y="2923383"/>
            <a:ext cx="1950720" cy="2051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00"/>
              <a:t>从零建立对AI的完整认知</a:t>
            </a:r>
            <a:endParaRPr sz="1400"/>
          </a:p>
        </p:txBody>
      </p:sp>
      <p:pic>
        <p:nvPicPr>
          <p:cNvPr id="26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33" y="2393156"/>
            <a:ext cx="535782" cy="7143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" name="Text 6"/>
          <p:cNvSpPr txBox="1"/>
          <p:nvPr/>
        </p:nvSpPr>
        <p:spPr>
          <a:xfrm>
            <a:off x="1786254" y="3693159"/>
            <a:ext cx="1016000" cy="14097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1400">
                <a:latin typeface="SimHei"/>
                <a:ea typeface="SimHei"/>
                <a:cs typeface="SimHei"/>
                <a:sym typeface="SimHei"/>
              </a:defRPr>
            </a:lvl1pPr>
          </a:lstStyle>
          <a:p>
            <a:r>
              <a:rPr sz="1600"/>
              <a:t>讲师：</a:t>
            </a:r>
            <a:r>
              <a:rPr lang="zh-CN" sz="1600"/>
              <a:t>陈放</a:t>
            </a:r>
            <a:endParaRPr lang="zh-CN" sz="1600"/>
          </a:p>
        </p:txBody>
      </p:sp>
      <p:pic>
        <p:nvPicPr>
          <p:cNvPr id="28" name="图片 13" descr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5" y="1708149"/>
            <a:ext cx="1666876" cy="16668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94be285099de42c573f65d6aab04a88979779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56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7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85750" y="1096010"/>
            <a:ext cx="2124710" cy="45085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90500" y="0"/>
                </a:moveTo>
                <a:lnTo>
                  <a:pt x="1181100" y="0"/>
                </a:lnTo>
                <a:cubicBezTo>
                  <a:pt x="1286240" y="0"/>
                  <a:pt x="1371600" y="85360"/>
                  <a:pt x="1371600" y="190500"/>
                </a:cubicBezTo>
                <a:lnTo>
                  <a:pt x="1371600" y="190500"/>
                </a:lnTo>
                <a:cubicBezTo>
                  <a:pt x="1371600" y="295640"/>
                  <a:pt x="1286240" y="381000"/>
                  <a:pt x="11811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30885" y="1247140"/>
            <a:ext cx="1234440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3</a:t>
            </a:r>
            <a:endParaRPr lang="en-US" sz="1200" b="1" kern="0" spc="60" dirty="0">
              <a:solidFill>
                <a:srgbClr val="0071E3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5750" y="1775222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我们应该怎么学习</a:t>
            </a: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呢</a:t>
            </a: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？</a:t>
            </a:r>
            <a:endParaRPr lang="en-US" altLang="zh-CN" sz="4050" b="1" dirty="0">
              <a:solidFill>
                <a:srgbClr val="1D1D1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5750" y="3232547"/>
            <a:ext cx="5572125" cy="2786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3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从OpenClaw说起</a:t>
            </a:r>
            <a:endParaRPr lang="en-US" altLang="zh-CN" sz="1350" dirty="0">
              <a:solidFill>
                <a:srgbClr val="86868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85750" y="3854054"/>
            <a:ext cx="914400" cy="28575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71E3"/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先问你一个问题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572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OpenCSG / C1-4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如果让你做一个AI助手，能自动处理微信消息、查数据库、还能调用飞书机器人——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694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你该从哪开始？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OpenClaw是什么？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6055" y="1361440"/>
            <a:ext cx="2286000" cy="320040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5" name="Text 3"/>
          <p:cNvSpPr/>
          <p:nvPr/>
        </p:nvSpPr>
        <p:spPr>
          <a:xfrm>
            <a:off x="4800600" y="5029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929255" y="1361440"/>
            <a:ext cx="4937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12135" y="149860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6535" y="159004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OpenClaw是一个AI Agent运行框架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9255" y="2367280"/>
            <a:ext cx="4937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2135" y="250444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6535" y="2595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它能让AI真正"动手"操作你的工具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9255" y="3373120"/>
            <a:ext cx="4937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2135" y="351028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6535" y="36017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核心理念：把复杂系统简化成AI能理解和调用的"技能"</a:t>
            </a:r>
            <a:endParaRPr lang="en-US" sz="1600" dirty="0"/>
          </a:p>
        </p:txBody>
      </p:sp>
      <p:pic>
        <p:nvPicPr>
          <p:cNvPr id="15" name="图片 14" descr="3887fed6-6330-454d-ab95-0ba41c2f74f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" y="1280160"/>
            <a:ext cx="1852295" cy="3166110"/>
          </a:xfrm>
          <a:prstGeom prst="rect">
            <a:avLst/>
          </a:prstGeom>
        </p:spPr>
      </p:pic>
      <p:pic>
        <p:nvPicPr>
          <p:cNvPr id="16" name="图片 15" descr="bbf3a83a-783c-463e-aa5f-f325b217610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15" y="1498600"/>
            <a:ext cx="1292225" cy="2810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OpenClaw的核心理念：四层架构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5486400" cy="640080"/>
          </a:xfrm>
          <a:prstGeom prst="roundRect">
            <a:avLst/>
          </a:prstGeom>
          <a:solidFill>
            <a:srgbClr val="4472C4"/>
          </a:solidFill>
        </p:spPr>
      </p:sp>
      <p:sp>
        <p:nvSpPr>
          <p:cNvPr id="5" name="Text 3"/>
          <p:cNvSpPr/>
          <p:nvPr/>
        </p:nvSpPr>
        <p:spPr>
          <a:xfrm>
            <a:off x="2011680" y="36118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技能层 Skills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365760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AI能执行的具体任务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5486400" cy="640080"/>
          </a:xfrm>
          <a:prstGeom prst="roundRect">
            <a:avLst/>
          </a:prstGeom>
          <a:solidFill>
            <a:srgbClr val="FFC000"/>
          </a:solidFill>
        </p:spPr>
      </p:sp>
      <p:sp>
        <p:nvSpPr>
          <p:cNvPr id="8" name="Text 6"/>
          <p:cNvSpPr/>
          <p:nvPr/>
        </p:nvSpPr>
        <p:spPr>
          <a:xfrm>
            <a:off x="2011680" y="27889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Agent层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协调与决策中心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5486400" cy="640080"/>
          </a:xfrm>
          <a:prstGeom prst="roundRect">
            <a:avLst/>
          </a:prstGeom>
          <a:solidFill>
            <a:srgbClr val="5B9BD5"/>
          </a:solidFill>
        </p:spPr>
      </p:sp>
      <p:sp>
        <p:nvSpPr>
          <p:cNvPr id="11" name="Text 9"/>
          <p:cNvSpPr/>
          <p:nvPr/>
        </p:nvSpPr>
        <p:spPr>
          <a:xfrm>
            <a:off x="2011680" y="19659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 Gateway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连接外部世界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005840"/>
            <a:ext cx="5486400" cy="640080"/>
          </a:xfrm>
          <a:prstGeom prst="roundRect">
            <a:avLst/>
          </a:prstGeom>
          <a:solidFill>
            <a:srgbClr val="70AD47"/>
          </a:solidFill>
        </p:spPr>
      </p:sp>
      <p:sp>
        <p:nvSpPr>
          <p:cNvPr id="14" name="Text 12"/>
          <p:cNvSpPr/>
          <p:nvPr/>
        </p:nvSpPr>
        <p:spPr>
          <a:xfrm>
            <a:off x="2011680" y="1143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LLM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1887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AI的大脑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91690" y="44348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理解这个分层，你就理解了学习AI的正确顺序</a:t>
            </a:r>
            <a:endParaRPr lang="en-US" sz="1400" dirty="0"/>
          </a:p>
        </p:txBody>
      </p:sp>
      <p:pic>
        <p:nvPicPr>
          <p:cNvPr id="18" name="图片 17" descr="70387bbd-3825-4043-94a0-7c32082e347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4462145"/>
            <a:ext cx="1544320" cy="31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第一层：模型层——先学会"说话"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对应学习阶段一：学会用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7" name="Text 5"/>
          <p:cNvSpPr/>
          <p:nvPr/>
        </p:nvSpPr>
        <p:spPr>
          <a:xfrm>
            <a:off x="914400" y="155448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模型是AI的"大脑"，负责理解意图和生成内容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主流大模型：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</a:t>
            </a:r>
            <a:endParaRPr lang="en-US" sz="1200" dirty="0">
              <a:solidFill>
                <a:srgbClr val="11182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83464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200" dirty="0">
              <a:solidFill>
                <a:srgbClr val="11182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269748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83464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</a:t>
            </a:r>
            <a:endParaRPr lang="en-US" sz="1200" dirty="0">
              <a:solidFill>
                <a:srgbClr val="11182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🧠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学习AI，首先要会用这些大模型</a:t>
            </a:r>
            <a:endParaRPr lang="en-US" sz="1300" dirty="0"/>
          </a:p>
        </p:txBody>
      </p:sp>
      <p:sp>
        <p:nvSpPr>
          <p:cNvPr id="17" name="Shape 6"/>
          <p:cNvSpPr/>
          <p:nvPr/>
        </p:nvSpPr>
        <p:spPr>
          <a:xfrm>
            <a:off x="1737360" y="347472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1737360" y="36118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</a:t>
            </a:r>
            <a:endParaRPr lang="en-US" sz="1200" dirty="0">
              <a:solidFill>
                <a:srgbClr val="11182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3383280" y="347472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9"/>
          <p:cNvSpPr/>
          <p:nvPr/>
        </p:nvSpPr>
        <p:spPr>
          <a:xfrm>
            <a:off x="3383280" y="36118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200" dirty="0">
              <a:solidFill>
                <a:srgbClr val="11182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B9BD5"/>
          </a:solidFill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第二层：网关层——学会连接外部世界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对应学习阶段二：学会连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7" name="Text 5"/>
          <p:cNvSpPr/>
          <p:nvPr/>
        </p:nvSpPr>
        <p:spPr>
          <a:xfrm>
            <a:off x="914400" y="155448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网关让AI能调用外部工具和服务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 · 飞书 · 钉钉 · 数据库 · API接口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🔌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类比：MCP就是AI的"USB-C接口"，统一标准，即插即用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000"/>
          </a:solidFill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第三层：Pi Agent——学会编排工作流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对应学习阶段三：学会搭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7" name="Text 5"/>
          <p:cNvSpPr/>
          <p:nvPr/>
        </p:nvSpPr>
        <p:spPr>
          <a:xfrm>
            <a:off x="914400" y="155448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Agent是协调者，负责理解意图、拆解任务、调度技能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示例："帮我整理会议纪要并发邮件"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🎙️ 听录音 → 📝 提取要点 → ✉️ 生成邮件 → 📤 发送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第四层：技能层——学会封装能力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7D3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对应学习阶段四：学会建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7" name="Text 5"/>
          <p:cNvSpPr/>
          <p:nvPr/>
        </p:nvSpPr>
        <p:spPr>
          <a:xfrm>
            <a:off x="914400" y="155448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技能是可复用的能力模块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就像乐高积木，拼起来就是完整应用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查订单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56032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974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发邮件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560320"/>
            <a:ext cx="14630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6974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生成海报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286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🧩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封装能力才能产生复利：一次开发，多次收益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世界人工智能大会</a:t>
            </a:r>
            <a:r>
              <a:rPr lang="en-US" altLang="zh-CN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（WAIC）</a:t>
            </a: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的官方</a:t>
            </a: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黑客松</a:t>
            </a:r>
            <a:endParaRPr lang="zh-CN" altLang="en-US" sz="22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pic>
        <p:nvPicPr>
          <p:cNvPr id="17" name="图片 16" descr="46bcb86f-c4cf-4443-b3c9-01c75e4ce37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3100070"/>
            <a:ext cx="3081020" cy="1870075"/>
          </a:xfrm>
          <a:prstGeom prst="rect">
            <a:avLst/>
          </a:prstGeom>
        </p:spPr>
      </p:pic>
      <p:pic>
        <p:nvPicPr>
          <p:cNvPr id="18" name="图片 17" descr="3eb4b172-4d45-47f3-8409-7637858f68d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85" y="868680"/>
            <a:ext cx="3264535" cy="2179320"/>
          </a:xfrm>
          <a:prstGeom prst="rect">
            <a:avLst/>
          </a:prstGeom>
        </p:spPr>
      </p:pic>
      <p:pic>
        <p:nvPicPr>
          <p:cNvPr id="19" name="图片 18" descr="dee83650-e99b-42c0-bc0d-b603b172771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1562100"/>
            <a:ext cx="3846195" cy="2893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从OpenClaw</a:t>
            </a: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和</a:t>
            </a:r>
            <a:r>
              <a:rPr lang="en-US" altLang="zh-CN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WAIC</a:t>
            </a: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学到的三个关键认知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3200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463040"/>
            <a:ext cx="365760" cy="365760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6" name="Text 4"/>
          <p:cNvSpPr/>
          <p:nvPr/>
        </p:nvSpPr>
        <p:spPr>
          <a:xfrm>
            <a:off x="1828800" y="15087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▶️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先从用起来开始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别纠结原理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先用，在实战中理解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3200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5B9B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365760" cy="365760"/>
          </a:xfrm>
          <a:prstGeom prst="ellipse">
            <a:avLst/>
          </a:prstGeom>
          <a:solidFill>
            <a:srgbClr val="5B9BD5"/>
          </a:solidFill>
        </p:spPr>
      </p:sp>
      <p:sp>
        <p:nvSpPr>
          <p:cNvPr id="12" name="Text 10"/>
          <p:cNvSpPr/>
          <p:nvPr/>
        </p:nvSpPr>
        <p:spPr>
          <a:xfrm>
            <a:off x="4663440" y="15087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🔌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49040" y="2651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连接比模型更重要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10896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能把AI接入业务场景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比选什么模型更关键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280160"/>
            <a:ext cx="2560320" cy="3200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463040"/>
            <a:ext cx="365760" cy="365760"/>
          </a:xfrm>
          <a:prstGeom prst="ellipse">
            <a:avLst/>
          </a:prstGeom>
          <a:solidFill>
            <a:srgbClr val="ED7D31"/>
          </a:solidFill>
        </p:spPr>
      </p:sp>
      <p:sp>
        <p:nvSpPr>
          <p:cNvPr id="18" name="Text 16"/>
          <p:cNvSpPr/>
          <p:nvPr/>
        </p:nvSpPr>
        <p:spPr>
          <a:xfrm>
            <a:off x="7498080" y="15087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封装能力才能复利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把经验变成可复用技能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一次开发，多次收益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274320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好，问题来了——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你应该怎么学？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6401"/>
          </a:xfrm>
          <a:prstGeom prst="rect">
            <a:avLst/>
          </a:prstGeom>
          <a:solidFill>
            <a:srgbClr val="5EA8A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 永远不要冲第一波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587401"/>
            <a:ext cx="7874198" cy="1889373"/>
          </a:xfrm>
          <a:prstGeom prst="rect">
            <a:avLst/>
          </a:prstGeom>
          <a:noFill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每天都有新产品、新技术冒出来，都说自己是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"现象级"</a:t>
            </a: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、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"颠覆性"</a:t>
            </a:r>
            <a:endParaRPr lang="en-US" sz="1800" dirty="0"/>
          </a:p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新产品刚出时问题多、说法纷纭，测试后往往发现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也就那么回事</a:t>
            </a:r>
            <a:endParaRPr lang="en-US" sz="1800" dirty="0"/>
          </a:p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等1-2周，甚至1个月</a:t>
            </a: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后还在讨论的产品，才值得学</a:t>
            </a:r>
            <a:endParaRPr lang="en-US" sz="1800" dirty="0"/>
          </a:p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时间是最好的过滤器，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能活过一个月还保持热度</a:t>
            </a: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的产品才是真需求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6401"/>
          </a:xfrm>
          <a:prstGeom prst="rect">
            <a:avLst/>
          </a:prstGeom>
          <a:solidFill>
            <a:srgbClr val="FE444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 对AI产品，像渣男一样没有忠诚度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587401"/>
            <a:ext cx="7874198" cy="2209354"/>
          </a:xfrm>
          <a:prstGeom prst="rect">
            <a:avLst/>
          </a:prstGeom>
          <a:noFill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AI变化太快，过几周就会有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新的替代品</a:t>
            </a: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出现</a:t>
            </a:r>
            <a:endParaRPr lang="en-US" sz="1800" dirty="0"/>
          </a:p>
          <a:p>
            <a:pPr marL="152400" indent="-152400" algn="l">
              <a:lnSpc>
                <a:spcPts val="252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踩过的坑：买了Cursor → 限制Claude 3.5 → 又买Claude Code → 又买全家桶</a:t>
            </a:r>
            <a:endParaRPr lang="en-US" sz="1800" dirty="0"/>
          </a:p>
          <a:p>
            <a:pPr marL="152400" indent="-152400" algn="l">
              <a:lnSpc>
                <a:spcPts val="252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沉没成本心态，是学AI路上最大的敌人</a:t>
            </a:r>
            <a:endParaRPr lang="en-US" sz="1800" dirty="0"/>
          </a:p>
          <a:p>
            <a:pPr marL="0" indent="0" algn="l">
              <a:lnSpc>
                <a:spcPts val="2520"/>
              </a:lnSpc>
              <a:spcAft>
                <a:spcPts val="1600"/>
              </a:spcAft>
              <a:buSzPct val="100000"/>
              <a:buNone/>
            </a:pP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哪个好用用哪个，</a:t>
            </a:r>
            <a:r>
              <a:rPr lang="en-US" sz="18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随时准备切换</a:t>
            </a:r>
            <a:r>
              <a:rPr lang="en-US" sz="18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，不要死磕已付费的工具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6401"/>
          </a:xfrm>
          <a:prstGeom prst="rect">
            <a:avLst/>
          </a:prstGeom>
          <a:solidFill>
            <a:srgbClr val="5EA8A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 多看普通博主，少问资深程序员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523851"/>
            <a:ext cx="7874198" cy="1742182"/>
          </a:xfrm>
          <a:prstGeom prst="rect">
            <a:avLst/>
          </a:prstGeom>
          <a:noFill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2380"/>
              </a:lnSpc>
              <a:spcAft>
                <a:spcPts val="1400"/>
              </a:spcAft>
              <a:buSzPct val="100000"/>
              <a:buNone/>
            </a:pPr>
            <a:r>
              <a:rPr lang="en-US" sz="17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最不欢迎AI的往往是程序员：</a:t>
            </a:r>
            <a:r>
              <a:rPr lang="en-US" sz="1700" i="1" dirty="0">
                <a:solidFill>
                  <a:srgbClr val="27788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"手写代码比AI写的好"</a:t>
            </a:r>
            <a:endParaRPr lang="en-US" sz="1700" dirty="0"/>
          </a:p>
          <a:p>
            <a:pPr marL="0" indent="0" algn="l">
              <a:lnSpc>
                <a:spcPts val="2380"/>
              </a:lnSpc>
              <a:spcAft>
                <a:spcPts val="1400"/>
              </a:spcAft>
              <a:buSzPct val="100000"/>
              <a:buNone/>
            </a:pPr>
            <a:r>
              <a:rPr lang="en-US" sz="17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普通人因不了解技术细节，对新技术有</a:t>
            </a:r>
            <a:r>
              <a:rPr lang="en-US" sz="17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更好的接受度</a:t>
            </a:r>
            <a:endParaRPr lang="en-US" sz="1700" dirty="0"/>
          </a:p>
          <a:p>
            <a:pPr marL="152400" indent="-152400" algn="l">
              <a:lnSpc>
                <a:spcPts val="238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部分视频号博主（清华美院李一舟等）说起AI应用比大部分程序员清楚</a:t>
            </a:r>
            <a:endParaRPr lang="en-US" sz="1700" dirty="0"/>
          </a:p>
          <a:p>
            <a:pPr marL="0" indent="0" algn="l">
              <a:lnSpc>
                <a:spcPts val="2380"/>
              </a:lnSpc>
              <a:spcAft>
                <a:spcPts val="1400"/>
              </a:spcAft>
              <a:buSzPct val="100000"/>
              <a:buNone/>
            </a:pPr>
            <a:r>
              <a:rPr lang="en-US" sz="17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关键看态度：</a:t>
            </a:r>
            <a:r>
              <a:rPr lang="en-US" sz="17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拥抱变化的人</a:t>
            </a:r>
            <a:r>
              <a:rPr lang="en-US" sz="17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，才能教你怎么用好AI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6401"/>
          </a:xfrm>
          <a:prstGeom prst="rect">
            <a:avLst/>
          </a:prstGeom>
          <a:solidFill>
            <a:srgbClr val="FE444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04 说再多，不如动起来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523851"/>
            <a:ext cx="3821531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学习资源推荐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990576"/>
            <a:ext cx="3746599" cy="1619101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博主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：通向AGI之路、秋芝2046、李一舟</a:t>
            </a:r>
            <a:endParaRPr lang="en-US" sz="1500" dirty="0"/>
          </a:p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进阶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：Andrew Ng 的AI课程</a:t>
            </a:r>
            <a:endParaRPr lang="en-US" sz="1500" dirty="0"/>
          </a:p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工具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：腾讯IMA、豆包、Cursor、NotebookLM、Claude Code、Manus</a:t>
            </a:r>
            <a:endParaRPr lang="en-US" sz="1500" dirty="0"/>
          </a:p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理论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：李飞飞《Agent AI》论文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0" y="1523851"/>
            <a:ext cx="3821531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避坑两忌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62500" y="1990576"/>
            <a:ext cx="3746599" cy="1117550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完美主义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等完全搞懂了再用，永远等不到那天</a:t>
            </a:r>
            <a:endParaRPr lang="en-US" sz="1500" dirty="0"/>
          </a:p>
          <a:p>
            <a:pPr marL="0" indent="0" algn="l">
              <a:lnSpc>
                <a:spcPts val="1950"/>
              </a:lnSpc>
              <a:spcAft>
                <a:spcPts val="1000"/>
              </a:spcAft>
              <a:buSzPct val="100000"/>
              <a:buNone/>
            </a:pPr>
            <a:r>
              <a:rPr lang="en-US" sz="1500" b="1" dirty="0">
                <a:solidFill>
                  <a:srgbClr val="FE44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沉没成本</a:t>
            </a: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花钱买了工具就死磕，浪费时间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0" y="3235077"/>
            <a:ext cx="3821531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正确姿势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2500" y="3701802"/>
            <a:ext cx="3746599" cy="622250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快速试错 · 随时切换 · 跟着大流走</a:t>
            </a:r>
            <a:endParaRPr lang="en-US" sz="1500" dirty="0"/>
          </a:p>
          <a:p>
            <a:pPr marL="114300" indent="-11430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AI不是看会的，是用会的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274320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200" dirty="0"/>
              <a:t>你真的学好</a:t>
            </a:r>
            <a:r>
              <a:rPr lang="en-US" altLang="zh-CN" sz="3200" dirty="0"/>
              <a:t>AI</a:t>
            </a:r>
            <a:r>
              <a:rPr lang="zh-CN" altLang="en-US" sz="3200" dirty="0"/>
              <a:t>了</a:t>
            </a:r>
            <a:r>
              <a:rPr lang="zh-CN" altLang="en-US" sz="3200" dirty="0"/>
              <a:t>吗</a:t>
            </a:r>
            <a:endParaRPr lang="zh-CN" alt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你觉得你在哪个阶段</a:t>
            </a:r>
            <a:r>
              <a:rPr lang="en-US" altLang="zh-CN" sz="40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？</a:t>
            </a:r>
            <a:endParaRPr lang="en-US" altLang="zh-CN" sz="4000" b="1" dirty="0">
              <a:solidFill>
                <a:srgbClr val="4472C4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————————————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AI学习的5个阶段（对应四层架构）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2560320" cy="548640"/>
          </a:xfrm>
          <a:prstGeom prst="roundRect">
            <a:avLst/>
          </a:prstGeom>
          <a:solidFill>
            <a:srgbClr val="4472C4"/>
          </a:solidFill>
        </p:spPr>
      </p:sp>
      <p:sp>
        <p:nvSpPr>
          <p:cNvPr id="5" name="Text 3"/>
          <p:cNvSpPr/>
          <p:nvPr/>
        </p:nvSpPr>
        <p:spPr>
          <a:xfrm>
            <a:off x="1097280" y="13258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 使用者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3533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会用模型（模型层）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657600" cy="548640"/>
          </a:xfrm>
          <a:prstGeom prst="roundRect">
            <a:avLst/>
          </a:prstGeom>
          <a:solidFill>
            <a:srgbClr val="5B9BD5"/>
          </a:solidFill>
        </p:spPr>
      </p:sp>
      <p:sp>
        <p:nvSpPr>
          <p:cNvPr id="8" name="Text 6"/>
          <p:cNvSpPr/>
          <p:nvPr/>
        </p:nvSpPr>
        <p:spPr>
          <a:xfrm>
            <a:off x="1097280" y="20116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Lv.2 连接者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0391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会接工具（网关层）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4754880" cy="548640"/>
          </a:xfrm>
          <a:prstGeom prst="roundRect">
            <a:avLst/>
          </a:prstGeom>
          <a:solidFill>
            <a:srgbClr val="70AD47"/>
          </a:solidFill>
        </p:spPr>
      </p:sp>
      <p:sp>
        <p:nvSpPr>
          <p:cNvPr id="11" name="Text 9"/>
          <p:cNvSpPr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Lv.3 构建者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7249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会搭工作流（Pi Agent层）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5852160" cy="548640"/>
          </a:xfrm>
          <a:prstGeom prst="roundRect">
            <a:avLst/>
          </a:prstGeom>
          <a:solidFill>
            <a:srgbClr val="FFC000"/>
          </a:solidFill>
        </p:spPr>
      </p:sp>
      <p:sp>
        <p:nvSpPr>
          <p:cNvPr id="14" name="Text 12"/>
          <p:cNvSpPr/>
          <p:nvPr/>
        </p:nvSpPr>
        <p:spPr>
          <a:xfrm>
            <a:off x="1097280" y="3383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Lv.4 开发者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4107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会封装技能（技能层）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931920"/>
            <a:ext cx="6949440" cy="548640"/>
          </a:xfrm>
          <a:prstGeom prst="roundRect">
            <a:avLst/>
          </a:prstGeom>
          <a:solidFill>
            <a:srgbClr val="ED7D31"/>
          </a:solidFill>
        </p:spPr>
      </p:sp>
      <p:sp>
        <p:nvSpPr>
          <p:cNvPr id="17" name="Text 15"/>
          <p:cNvSpPr/>
          <p:nvPr/>
        </p:nvSpPr>
        <p:spPr>
          <a:xfrm>
            <a:off x="1097280" y="4069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Lv.5 架构师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0965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会设计系统（四层融会贯通）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具体怎么开始？30天行动计划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32004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学会Prompt基础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掌握核心概念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C1 + C2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280160"/>
            <a:ext cx="2011680" cy="32004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🚩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56032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学会接业务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34747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C3 + C4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2011680" cy="32004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🚩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D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选修深化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按角色选课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AD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C5/C6/C7 选1-2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280160"/>
            <a:ext cx="2011680" cy="32004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4630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32320" y="20116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7D3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Week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56032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毕业项目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4747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7D3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综合实战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"先学会用，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再学会建，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最后学会架构"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13716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1031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0" y="283464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B9BD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架构</a:t>
            </a:r>
            <a:endParaRPr 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731520"/>
          </a:xfrm>
          <a:prstGeom prst="round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课后任务：画一张"AI能力进阶画布"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任务说明：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用一张表格规划你的AI学习路径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评估你的当前能力等级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设定你的目标等级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列出具体的行动计划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402336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1188720" cy="365760"/>
          </a:xfrm>
          <a:prstGeom prst="roundRect">
            <a:avLst/>
          </a:prstGeom>
          <a:solidFill>
            <a:srgbClr val="5B9BD5"/>
          </a:solidFill>
        </p:spPr>
      </p:sp>
      <p:sp>
        <p:nvSpPr>
          <p:cNvPr id="9" name="Text 7"/>
          <p:cNvSpPr/>
          <p:nvPr/>
        </p:nvSpPr>
        <p:spPr>
          <a:xfrm>
            <a:off x="4846320" y="178308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当前能力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1188720" cy="365760"/>
          </a:xfrm>
          <a:prstGeom prst="roundRect">
            <a:avLst/>
          </a:prstGeom>
          <a:solidFill>
            <a:srgbClr val="5B9BD5"/>
          </a:solidFill>
        </p:spPr>
      </p:sp>
      <p:sp>
        <p:nvSpPr>
          <p:cNvPr id="11" name="Text 9"/>
          <p:cNvSpPr/>
          <p:nvPr/>
        </p:nvSpPr>
        <p:spPr>
          <a:xfrm>
            <a:off x="6126480" y="178308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目标能力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737360"/>
            <a:ext cx="1188720" cy="365760"/>
          </a:xfrm>
          <a:prstGeom prst="roundRect">
            <a:avLst/>
          </a:prstGeom>
          <a:solidFill>
            <a:srgbClr val="5B9BD5"/>
          </a:solidFill>
        </p:spPr>
      </p:sp>
      <p:sp>
        <p:nvSpPr>
          <p:cNvPr id="13" name="Text 11"/>
          <p:cNvSpPr/>
          <p:nvPr/>
        </p:nvSpPr>
        <p:spPr>
          <a:xfrm>
            <a:off x="7406640" y="178308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只会聊天 Lv.1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2194560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完成C2作业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432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7432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265176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74320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20040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918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2918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320040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2918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8404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8404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3749040"/>
            <a:ext cx="1188720" cy="45720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8404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</a:rPr>
              <a:t>...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3840480"/>
          </a:xfrm>
          <a:prstGeom prst="roundRect">
            <a:avLst/>
          </a:prstGeom>
          <a:solidFill>
            <a:srgbClr val="EFF6FF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预告：从OpenClaw到CSGHub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472C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模型从哪来？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9260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📦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CSGHub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9260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0" y="3657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AgenticHub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9260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🦞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OpenClaw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32918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下节课讲完整技术栈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1944</Words>
  <Application>WPS 文字</Application>
  <PresentationFormat>On-screen Show (16:9)</PresentationFormat>
  <Paragraphs>339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50" baseType="lpstr">
      <vt:lpstr>Arial</vt:lpstr>
      <vt:lpstr>SimSun</vt:lpstr>
      <vt:lpstr>Wingdings</vt:lpstr>
      <vt:lpstr>Arial</vt:lpstr>
      <vt:lpstr>Arial</vt:lpstr>
      <vt:lpstr>Microsoft YaHei</vt:lpstr>
      <vt:lpstr>汉仪旗黑</vt:lpstr>
      <vt:lpstr>Microsoft YaHei</vt:lpstr>
      <vt:lpstr>Microsoft YaHei</vt:lpstr>
      <vt:lpstr>汉仪书宋二KW</vt:lpstr>
      <vt:lpstr>Calibri</vt:lpstr>
      <vt:lpstr>Helvetica Neue</vt:lpstr>
      <vt:lpstr>SimSun</vt:lpstr>
      <vt:lpstr>Microsoft YaHei</vt:lpstr>
      <vt:lpstr>Arial Unicode MS</vt:lpstr>
      <vt:lpstr>等线</vt:lpstr>
      <vt:lpstr>汉仪中等线KW</vt:lpstr>
      <vt:lpstr>Apple Color Emoji</vt:lpstr>
      <vt:lpstr>Space Grotesk</vt:lpstr>
      <vt:lpstr>Thonburi</vt:lpstr>
      <vt:lpstr>Inter</vt:lpstr>
      <vt:lpstr>SimHei</vt:lpstr>
      <vt:lpstr>汉仪中黑KW</vt:lpstr>
      <vt:lpstr>MiSans</vt:lpstr>
      <vt:lpstr>宋体-简</vt:lpstr>
      <vt:lpstr>MiSans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Frank</cp:lastModifiedBy>
  <cp:revision>17</cp:revision>
  <dcterms:created xsi:type="dcterms:W3CDTF">2026-03-26T13:24:51Z</dcterms:created>
  <dcterms:modified xsi:type="dcterms:W3CDTF">2026-03-26T13:24:51Z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8B8192805275DE9C7E29C569AD98B372_42</vt:lpwstr>
  </property>
  <property fmtid="{D5CDD505-2E9C-101B-9397-08002B2CF9AE}" pid="3" name="KSOProductBuildVer">
    <vt:lpwstr>2052-12.1.24031.24031</vt:lpwstr>
  </property>
</Properties>
</file>