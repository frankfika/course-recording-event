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71" r:id="rId4"/>
    <p:sldId id="289" r:id="rId6"/>
    <p:sldId id="364" r:id="rId7"/>
    <p:sldId id="371" r:id="rId8"/>
    <p:sldId id="372" r:id="rId9"/>
    <p:sldId id="293" r:id="rId10"/>
    <p:sldId id="294" r:id="rId11"/>
    <p:sldId id="295" r:id="rId12"/>
    <p:sldId id="375" r:id="rId13"/>
    <p:sldId id="373" r:id="rId14"/>
    <p:sldId id="376" r:id="rId15"/>
    <p:sldId id="377" r:id="rId16"/>
    <p:sldId id="378" r:id="rId17"/>
    <p:sldId id="379" r:id="rId18"/>
    <p:sldId id="386" r:id="rId19"/>
    <p:sldId id="380" r:id="rId20"/>
    <p:sldId id="381" r:id="rId21"/>
    <p:sldId id="385" r:id="rId22"/>
    <p:sldId id="383" r:id="rId23"/>
    <p:sldId id="305" r:id="rId24"/>
    <p:sldId id="389" r:id="rId25"/>
    <p:sldId id="387" r:id="rId26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521415D9-36F7-43E2-AB2F-B90AF26B5E84}">
      <p14:sectionLst xmlns:p14="http://schemas.microsoft.com/office/powerpoint/2010/main">
        <p14:section name="默认节" id="{81a48e9f-511a-49b1-b474-5b2113344617}">
          <p14:sldIdLst>
            <p14:sldId id="256"/>
            <p14:sldId id="271"/>
            <p14:sldId id="289"/>
            <p14:sldId id="364"/>
            <p14:sldId id="371"/>
            <p14:sldId id="372"/>
            <p14:sldId id="293"/>
            <p14:sldId id="294"/>
            <p14:sldId id="295"/>
            <p14:sldId id="375"/>
            <p14:sldId id="373"/>
            <p14:sldId id="376"/>
            <p14:sldId id="377"/>
            <p14:sldId id="378"/>
            <p14:sldId id="379"/>
            <p14:sldId id="386"/>
            <p14:sldId id="380"/>
            <p14:sldId id="381"/>
            <p14:sldId id="385"/>
            <p14:sldId id="383"/>
            <p14:sldId id="305"/>
            <p14:sldId id="389"/>
            <p14:sldId id="387"/>
          </p14:sldIdLst>
        </p14:section>
        <p14:section name="无标题节" id="{99c22c63-91e3-403b-8b64-a3f4419cb954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【互动页】请学员说出印象最深的一个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【互动页】让学员喊答案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降低术语焦虑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这个比喻的重点，是把抽象概念讲具体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让学员观察AI如何拆解需求、规划结构、生成代码并继续迭代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作业要求尽量用自己的话写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hf sldNum="0" hdr="0" ft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»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png"/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toolsnak.com/en/ai-token-counter" TargetMode="Externa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hueOff val="198858"/>
                <a:satOff val="-2077"/>
                <a:lumOff val="20614"/>
              </a:schemeClr>
            </a:gs>
            <a:gs pos="50000">
              <a:srgbClr val="A1C1E5"/>
            </a:gs>
            <a:gs pos="100000">
              <a:schemeClr val="accent5">
                <a:hueOff val="173799"/>
                <a:satOff val="1446"/>
                <a:lumOff val="13545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926464" y="624840"/>
            <a:ext cx="7291071" cy="3888741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1" name="Text 1"/>
          <p:cNvSpPr txBox="1"/>
          <p:nvPr/>
        </p:nvSpPr>
        <p:spPr>
          <a:xfrm>
            <a:off x="1785938" y="1285875"/>
            <a:ext cx="670560" cy="46164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3600"/>
              </a:lnSpc>
              <a:defRPr sz="3200" b="1">
                <a:solidFill>
                  <a:srgbClr val="A5B4F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r>
              <a:rPr sz="4000"/>
              <a:t>C1</a:t>
            </a:r>
            <a:endParaRPr sz="4000"/>
          </a:p>
        </p:txBody>
      </p:sp>
      <p:sp>
        <p:nvSpPr>
          <p:cNvPr id="22" name="Shape 2"/>
          <p:cNvSpPr/>
          <p:nvPr/>
        </p:nvSpPr>
        <p:spPr>
          <a:xfrm>
            <a:off x="2430660" y="1392137"/>
            <a:ext cx="737593" cy="244674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</a:ln>
        </p:spPr>
        <p:txBody>
          <a:bodyPr lIns="0" tIns="0" rIns="0" bIns="0"/>
          <a:lstStyle/>
          <a:p>
            <a:endParaRPr sz="2400"/>
          </a:p>
        </p:txBody>
      </p:sp>
      <p:sp>
        <p:nvSpPr>
          <p:cNvPr id="23" name="Text 3"/>
          <p:cNvSpPr txBox="1"/>
          <p:nvPr/>
        </p:nvSpPr>
        <p:spPr>
          <a:xfrm>
            <a:off x="2515870" y="1391920"/>
            <a:ext cx="1499870" cy="216535"/>
          </a:xfrm>
          <a:prstGeom prst="rect">
            <a:avLst/>
          </a:prstGeom>
          <a:ln w="12700">
            <a:miter lim="400000"/>
          </a:ln>
        </p:spPr>
        <p:txBody>
          <a:bodyPr wrap="square" lIns="51053" tIns="51053" rIns="51053" bIns="51053">
            <a:spAutoFit/>
          </a:bodyPr>
          <a:lstStyle>
            <a:lvl1pPr>
              <a:lnSpc>
                <a:spcPts val="900"/>
              </a:lnSpc>
              <a:defRPr sz="700" spc="1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900" b="1"/>
              <a:t>必修 · 5节</a:t>
            </a:r>
            <a:endParaRPr sz="900" b="1"/>
          </a:p>
        </p:txBody>
      </p:sp>
      <p:sp>
        <p:nvSpPr>
          <p:cNvPr id="24" name="Text 4"/>
          <p:cNvSpPr txBox="1"/>
          <p:nvPr/>
        </p:nvSpPr>
        <p:spPr>
          <a:xfrm>
            <a:off x="1785938" y="2329029"/>
            <a:ext cx="3242945" cy="48704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3800"/>
              </a:lnSpc>
              <a:defRPr sz="2800" b="1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 algn="l"/>
            <a:r>
              <a:rPr lang="en-US" altLang="zh-CN" sz="3200"/>
              <a:t>AI</a:t>
            </a:r>
            <a:r>
              <a:rPr lang="en-US" altLang="en-US" sz="3200"/>
              <a:t>⼯</a:t>
            </a:r>
            <a:r>
              <a:rPr lang="zh-CN" altLang="en-US" sz="3200"/>
              <a:t>具与核</a:t>
            </a:r>
            <a:r>
              <a:rPr lang="en-US" altLang="en-US" sz="3200"/>
              <a:t>⼼</a:t>
            </a:r>
            <a:r>
              <a:rPr lang="zh-CN" altLang="en-US" sz="3200"/>
              <a:t>概念</a:t>
            </a:r>
            <a:endParaRPr lang="zh-CN" altLang="en-US" sz="3200"/>
          </a:p>
        </p:txBody>
      </p:sp>
      <p:sp>
        <p:nvSpPr>
          <p:cNvPr id="25" name="Text 5"/>
          <p:cNvSpPr txBox="1"/>
          <p:nvPr/>
        </p:nvSpPr>
        <p:spPr>
          <a:xfrm>
            <a:off x="1785938" y="2923383"/>
            <a:ext cx="1950720" cy="20510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00"/>
              <a:t>从零建立对AI的完整认知</a:t>
            </a:r>
            <a:endParaRPr sz="1400"/>
          </a:p>
        </p:txBody>
      </p:sp>
      <p:pic>
        <p:nvPicPr>
          <p:cNvPr id="26" name="Image 1" descr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7233" y="2393156"/>
            <a:ext cx="535782" cy="71437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" name="Text 6"/>
          <p:cNvSpPr txBox="1"/>
          <p:nvPr/>
        </p:nvSpPr>
        <p:spPr>
          <a:xfrm>
            <a:off x="1786254" y="3693159"/>
            <a:ext cx="1016000" cy="14097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1400"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r>
              <a:rPr sz="1600"/>
              <a:t>讲师：</a:t>
            </a:r>
            <a:r>
              <a:rPr lang="zh-CN" sz="1600"/>
              <a:t>陈放</a:t>
            </a:r>
            <a:endParaRPr lang="zh-CN" sz="1600"/>
          </a:p>
        </p:txBody>
      </p:sp>
      <p:pic>
        <p:nvPicPr>
          <p:cNvPr id="28" name="图片 13" descr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745" y="1708149"/>
            <a:ext cx="1666876" cy="166687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d94be285099de42c573f65d6aab04a88979779be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802" b="80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556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90000"/>
                </a:srgbClr>
              </a:gs>
              <a:gs pos="100000">
                <a:srgbClr val="FAFAFA">
                  <a:alpha val="7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285750" y="1096010"/>
            <a:ext cx="2124710" cy="450850"/>
          </a:xfrm>
          <a:custGeom>
            <a:avLst/>
            <a:gdLst/>
            <a:ahLst/>
            <a:cxnLst/>
            <a:rect l="l" t="t" r="r" b="b"/>
            <a:pathLst>
              <a:path w="1371600" h="381000">
                <a:moveTo>
                  <a:pt x="190500" y="0"/>
                </a:moveTo>
                <a:lnTo>
                  <a:pt x="1181100" y="0"/>
                </a:lnTo>
                <a:cubicBezTo>
                  <a:pt x="1286240" y="0"/>
                  <a:pt x="1371600" y="85360"/>
                  <a:pt x="1371600" y="190500"/>
                </a:cubicBezTo>
                <a:lnTo>
                  <a:pt x="1371600" y="190500"/>
                </a:lnTo>
                <a:cubicBezTo>
                  <a:pt x="1371600" y="295640"/>
                  <a:pt x="1286240" y="381000"/>
                  <a:pt x="11811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30885" y="1247140"/>
            <a:ext cx="1234440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CHAPTER 2</a:t>
            </a:r>
            <a:endParaRPr lang="en-US" sz="1200" b="1" kern="0" spc="60" dirty="0">
              <a:solidFill>
                <a:srgbClr val="0071E3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85750" y="1775222"/>
            <a:ext cx="8829675" cy="1285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40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</a:t>
            </a:r>
            <a:r>
              <a:rPr lang="zh-CN" altLang="en-US" sz="40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核心概念一锅端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85750" y="3232547"/>
            <a:ext cx="5572125" cy="2786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altLang="zh-CN" sz="13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</a:t>
            </a:r>
            <a:r>
              <a:rPr lang="zh-CN" altLang="en-US" sz="13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已经开始替你上班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5750" y="3854054"/>
            <a:ext cx="914400" cy="28575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0071E3"/>
          </a:solidFill>
        </p:spPr>
        <p:txBody>
          <a:bodyPr/>
          <a:p/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 w="38100">
            <a:solidFill>
              <a:srgbClr val="FF6B3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6050" y="444401"/>
            <a:ext cx="1244352" cy="311051"/>
          </a:xfrm>
          <a:prstGeom prst="roundRect">
            <a:avLst>
              <a:gd name="adj" fmla="val 24498"/>
            </a:avLst>
          </a:prstGeom>
          <a:solidFill>
            <a:srgbClr val="FF6B3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751" y="495151"/>
            <a:ext cx="906729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请思考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6050" y="958602"/>
            <a:ext cx="8212937" cy="466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400"/>
              </a:spcAft>
              <a:buNone/>
            </a:pPr>
            <a:r>
              <a:rPr lang="en-US" sz="26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上节课的震撼，你记住了几个？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65430" y="2444502"/>
            <a:ext cx="2412950" cy="561975"/>
          </a:xfrm>
          <a:prstGeom prst="roundRect">
            <a:avLst>
              <a:gd name="adj" fmla="val 22599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8581" y="2596902"/>
            <a:ext cx="158484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5458" y="2611189"/>
            <a:ext cx="1076447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写</a:t>
            </a:r>
            <a:r>
              <a:rPr lang="en-US" sz="1300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交付文档包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30781" y="2444502"/>
            <a:ext cx="2412950" cy="561975"/>
          </a:xfrm>
          <a:prstGeom prst="roundRect">
            <a:avLst>
              <a:gd name="adj" fmla="val 22599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33931" y="2596902"/>
            <a:ext cx="158484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90809" y="2611189"/>
            <a:ext cx="124798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画</a:t>
            </a:r>
            <a:r>
              <a:rPr lang="en-US" sz="1300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海报一次成型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96131" y="2444502"/>
            <a:ext cx="2412950" cy="561975"/>
          </a:xfrm>
          <a:prstGeom prst="roundRect">
            <a:avLst>
              <a:gd name="adj" fmla="val 22599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99282" y="2596902"/>
            <a:ext cx="158484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56159" y="2611189"/>
            <a:ext cx="92054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拍</a:t>
            </a:r>
            <a:r>
              <a:rPr lang="en-US" sz="1300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15秒成片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78305" y="3507492"/>
            <a:ext cx="2412950" cy="561975"/>
          </a:xfrm>
          <a:prstGeom prst="roundRect">
            <a:avLst>
              <a:gd name="adj" fmla="val 22599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81456" y="3659892"/>
            <a:ext cx="158484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38333" y="3674179"/>
            <a:ext cx="124798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看</a:t>
            </a:r>
            <a:r>
              <a:rPr lang="en-US" sz="1300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实时理解屏幕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43656" y="3507492"/>
            <a:ext cx="2412950" cy="561975"/>
          </a:xfrm>
          <a:prstGeom prst="roundRect">
            <a:avLst>
              <a:gd name="adj" fmla="val 22599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46806" y="3659892"/>
            <a:ext cx="158484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03684" y="3674179"/>
            <a:ext cx="159106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编程</a:t>
            </a:r>
            <a:r>
              <a:rPr lang="en-US" sz="1300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不写代码做网页</a:t>
            </a:r>
            <a:endParaRPr lang="en-US" sz="1300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5" name="Shape 12"/>
          <p:cNvSpPr/>
          <p:nvPr/>
        </p:nvSpPr>
        <p:spPr>
          <a:xfrm>
            <a:off x="395605" y="843915"/>
            <a:ext cx="8321675" cy="3673475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77" name="Text 13"/>
          <p:cNvSpPr txBox="1"/>
          <p:nvPr/>
        </p:nvSpPr>
        <p:spPr>
          <a:xfrm>
            <a:off x="1548130" y="1503045"/>
            <a:ext cx="6163310" cy="23558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noAutofit/>
          </a:bodyPr>
          <a:lstStyle>
            <a:lvl1pPr>
              <a:lnSpc>
                <a:spcPts val="1400"/>
              </a:lnSpc>
              <a:defRPr sz="9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algn="ctr">
              <a:lnSpc>
                <a:spcPct val="300000"/>
              </a:lnSpc>
            </a:pPr>
            <a:r>
              <a:rPr lang="zh-CN" altLang="en-US" sz="2000"/>
              <a:t>知其然</a:t>
            </a:r>
            <a:r>
              <a:rPr lang="en-US" altLang="zh-CN" sz="2000"/>
              <a:t>，</a:t>
            </a:r>
            <a:r>
              <a:rPr lang="zh-CN" altLang="en-US" sz="2000"/>
              <a:t>知其所有然</a:t>
            </a:r>
            <a:r>
              <a:rPr lang="en-US" altLang="zh-CN" sz="2000"/>
              <a:t>;</a:t>
            </a:r>
            <a:endParaRPr lang="en-US" altLang="zh-CN" sz="2000"/>
          </a:p>
          <a:p>
            <a:pPr algn="ctr">
              <a:lnSpc>
                <a:spcPct val="300000"/>
              </a:lnSpc>
            </a:pPr>
            <a:r>
              <a:rPr lang="zh-CN" altLang="en-US" sz="2000"/>
              <a:t>想要真的用好</a:t>
            </a:r>
            <a:r>
              <a:rPr lang="en-US" altLang="zh-CN" sz="2000"/>
              <a:t>AI，</a:t>
            </a:r>
            <a:r>
              <a:rPr lang="zh-CN" altLang="en-US" sz="2000"/>
              <a:t>你还得了解一下基础概念</a:t>
            </a:r>
            <a:r>
              <a:rPr lang="en-US" altLang="zh-CN" sz="2000"/>
              <a:t>！</a:t>
            </a:r>
            <a:endParaRPr lang="en-US" altLang="zh-CN" sz="200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" name="Shape 2"/>
          <p:cNvSpPr/>
          <p:nvPr/>
        </p:nvSpPr>
        <p:spPr>
          <a:xfrm>
            <a:off x="285750" y="757238"/>
            <a:ext cx="8572500" cy="41005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35" name="Text 0"/>
          <p:cNvSpPr txBox="1"/>
          <p:nvPr/>
        </p:nvSpPr>
        <p:spPr>
          <a:xfrm>
            <a:off x="285750" y="285750"/>
            <a:ext cx="2138680" cy="30734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marL="0" indent="0" algn="l">
              <a:spcAft>
                <a:spcPts val="1200"/>
              </a:spcAft>
              <a:buNone/>
            </a:pPr>
            <a:r>
              <a:rPr lang="en-US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先看地图，再走路</a:t>
            </a:r>
            <a:endParaRPr lang="en-US" dirty="0"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sp>
        <p:nvSpPr>
          <p:cNvPr id="2" name="Text 1"/>
          <p:cNvSpPr/>
          <p:nvPr/>
        </p:nvSpPr>
        <p:spPr>
          <a:xfrm>
            <a:off x="2046506" y="1417122"/>
            <a:ext cx="972443" cy="1085552"/>
          </a:xfrm>
          <a:prstGeom prst="roundRect">
            <a:avLst>
              <a:gd name="adj" fmla="val 13060"/>
            </a:avLst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/tmp/pptx_workspace/images/icon_brain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878" y="1544072"/>
            <a:ext cx="355550" cy="3555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88547" y="1988473"/>
            <a:ext cx="88836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大模型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2088547" y="2213799"/>
            <a:ext cx="88836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核心引擎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3069699" y="1840835"/>
            <a:ext cx="207365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323749" y="1440934"/>
            <a:ext cx="972592" cy="1037927"/>
          </a:xfrm>
          <a:prstGeom prst="roundRect">
            <a:avLst>
              <a:gd name="adj" fmla="val 13058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/tmp/pptx_workspace/images/icon_box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269" y="1567884"/>
            <a:ext cx="355550" cy="3555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65788" y="2012285"/>
            <a:ext cx="88851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Token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3365788" y="2189986"/>
            <a:ext cx="88851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语言单位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347091" y="1840835"/>
            <a:ext cx="207365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601141" y="1440934"/>
            <a:ext cx="972443" cy="1037927"/>
          </a:xfrm>
          <a:prstGeom prst="roundRect">
            <a:avLst>
              <a:gd name="adj" fmla="val 13060"/>
            </a:avLst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/tmp/pptx_workspace/images/icon_mail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512" y="1567884"/>
            <a:ext cx="355550" cy="3555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43182" y="2012285"/>
            <a:ext cx="88836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580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Prompt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643182" y="2189986"/>
            <a:ext cx="88836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对话方式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5589409" y="1882745"/>
            <a:ext cx="207365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843459" y="1482844"/>
            <a:ext cx="972592" cy="1037927"/>
          </a:xfrm>
          <a:prstGeom prst="roundRect">
            <a:avLst>
              <a:gd name="adj" fmla="val 13058"/>
            </a:avLst>
          </a:prstGeom>
          <a:solidFill>
            <a:srgbClr val="F5F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/tmp/pptx_workspace/images/icon_wrench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1979" y="1609794"/>
            <a:ext cx="355550" cy="3555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885498" y="2054195"/>
            <a:ext cx="88851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Agent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885498" y="2231896"/>
            <a:ext cx="88851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干活形态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2719030" y="3170674"/>
            <a:ext cx="972443" cy="1037927"/>
          </a:xfrm>
          <a:prstGeom prst="roundRect">
            <a:avLst>
              <a:gd name="adj" fmla="val 13060"/>
            </a:avLst>
          </a:prstGeom>
          <a:solidFill>
            <a:srgbClr val="ECFD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4" descr="/tmp/pptx_workspace/images/icon_search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402" y="3297624"/>
            <a:ext cx="355550" cy="3555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761071" y="3742025"/>
            <a:ext cx="88836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RAG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2761071" y="3919726"/>
            <a:ext cx="88836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加知识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3742224" y="3570575"/>
            <a:ext cx="207365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3996273" y="3146862"/>
            <a:ext cx="972443" cy="1085552"/>
          </a:xfrm>
          <a:prstGeom prst="roundRect">
            <a:avLst>
              <a:gd name="adj" fmla="val 13060"/>
            </a:avLst>
          </a:prstGeom>
          <a:solidFill>
            <a:srgbClr val="FEF2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5" descr="/tmp/pptx_workspace/images/icon_gauge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4645" y="3273812"/>
            <a:ext cx="355550" cy="35555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038314" y="3718213"/>
            <a:ext cx="88836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微调</a:t>
            </a:r>
            <a:endParaRPr lang="en-US" sz="1100" dirty="0"/>
          </a:p>
        </p:txBody>
      </p:sp>
      <p:sp>
        <p:nvSpPr>
          <p:cNvPr id="33" name="Text 23"/>
          <p:cNvSpPr/>
          <p:nvPr/>
        </p:nvSpPr>
        <p:spPr>
          <a:xfrm>
            <a:off x="4038314" y="3943539"/>
            <a:ext cx="88836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加技能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5019467" y="3570575"/>
            <a:ext cx="207365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25"/>
          <p:cNvSpPr/>
          <p:nvPr/>
        </p:nvSpPr>
        <p:spPr>
          <a:xfrm>
            <a:off x="5273516" y="3170674"/>
            <a:ext cx="972443" cy="1037927"/>
          </a:xfrm>
          <a:prstGeom prst="roundRect">
            <a:avLst>
              <a:gd name="adj" fmla="val 13060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6" descr="/tmp/pptx_workspace/images/icon_layers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1888" y="3297624"/>
            <a:ext cx="355550" cy="35555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315557" y="3742025"/>
            <a:ext cx="88836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MCP</a:t>
            </a:r>
            <a:endParaRPr lang="en-US" sz="1100" dirty="0"/>
          </a:p>
        </p:txBody>
      </p:sp>
      <p:sp>
        <p:nvSpPr>
          <p:cNvPr id="39" name="Text 27"/>
          <p:cNvSpPr/>
          <p:nvPr/>
        </p:nvSpPr>
        <p:spPr>
          <a:xfrm>
            <a:off x="5315557" y="3919726"/>
            <a:ext cx="88836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装接口</a:t>
            </a:r>
            <a:endParaRPr lang="en-US" sz="900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" name="Shape 2"/>
          <p:cNvSpPr/>
          <p:nvPr/>
        </p:nvSpPr>
        <p:spPr>
          <a:xfrm>
            <a:off x="4332605" y="846455"/>
            <a:ext cx="4525645" cy="401193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35" name="Text 0"/>
          <p:cNvSpPr txBox="1"/>
          <p:nvPr/>
        </p:nvSpPr>
        <p:spPr>
          <a:xfrm>
            <a:off x="285750" y="285750"/>
            <a:ext cx="4046855" cy="30734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marL="0" indent="0" algn="l">
              <a:buNone/>
            </a:pPr>
            <a:r>
              <a:rPr lang="en-US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大模型 = 看过海量文本的超级学霸</a:t>
            </a:r>
            <a:endParaRPr lang="en-US" dirty="0"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98415" y="1563370"/>
            <a:ext cx="3322955" cy="1452245"/>
          </a:xfrm>
          <a:prstGeom prst="rect">
            <a:avLst/>
          </a:prstGeom>
          <a:noFill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86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看过海量百科、新闻和论坛内容</a:t>
            </a:r>
            <a:endParaRPr lang="en-US" sz="1300" dirty="0"/>
          </a:p>
          <a:p>
            <a:pPr marL="114300" indent="-114300" algn="l">
              <a:lnSpc>
                <a:spcPts val="286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见过大量代码和技术文档</a:t>
            </a:r>
            <a:endParaRPr lang="en-US" sz="1300" dirty="0"/>
          </a:p>
          <a:p>
            <a:pPr marL="114300" indent="-114300" algn="l">
              <a:lnSpc>
                <a:spcPts val="286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学过很多书里的表达方式</a:t>
            </a:r>
            <a:endParaRPr lang="en-US" sz="1300" dirty="0"/>
          </a:p>
          <a:p>
            <a:pPr marL="114300" indent="-114300" algn="l">
              <a:lnSpc>
                <a:spcPts val="286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擅长从海量文本里总结模式</a:t>
            </a:r>
            <a:endParaRPr lang="en-US" sz="1300" dirty="0"/>
          </a:p>
        </p:txBody>
      </p:sp>
      <p:sp>
        <p:nvSpPr>
          <p:cNvPr id="23" name="Text 2"/>
          <p:cNvSpPr/>
          <p:nvPr/>
        </p:nvSpPr>
        <p:spPr>
          <a:xfrm>
            <a:off x="4601795" y="3528755"/>
            <a:ext cx="3987850" cy="673001"/>
          </a:xfrm>
          <a:prstGeom prst="roundRect">
            <a:avLst>
              <a:gd name="adj" fmla="val 15097"/>
            </a:avLst>
          </a:prstGeom>
          <a:solidFill>
            <a:srgbClr val="FEF2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3"/>
          <p:cNvSpPr/>
          <p:nvPr/>
        </p:nvSpPr>
        <p:spPr>
          <a:xfrm>
            <a:off x="4779496" y="3655705"/>
            <a:ext cx="3705097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但它不是真的理解——它学到的，本质上是语言的模式</a:t>
            </a:r>
            <a:endParaRPr lang="en-US" sz="1200" dirty="0"/>
          </a:p>
        </p:txBody>
      </p:sp>
      <p:pic>
        <p:nvPicPr>
          <p:cNvPr id="43" name="图片 42"/>
          <p:cNvPicPr/>
          <p:nvPr/>
        </p:nvPicPr>
        <p:blipFill>
          <a:blip r:embed="rId2"/>
          <a:stretch>
            <a:fillRect/>
          </a:stretch>
        </p:blipFill>
        <p:spPr>
          <a:xfrm>
            <a:off x="467995" y="1255395"/>
            <a:ext cx="3568700" cy="22733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9047" y="998637"/>
            <a:ext cx="5452673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400"/>
              </a:spcAft>
              <a:buNone/>
            </a:pPr>
            <a:r>
              <a:rPr 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它不是在"思考"——它更像在做下一词预测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397323" y="1693962"/>
            <a:ext cx="4349353" cy="1181100"/>
          </a:xfrm>
          <a:prstGeom prst="roundRect">
            <a:avLst>
              <a:gd name="adj" fmla="val 17204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71939" y="1998762"/>
            <a:ext cx="3400121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"今天天气真____"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24000" y="3179862"/>
            <a:ext cx="1934447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好 68%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24000" y="3478262"/>
            <a:ext cx="1896517" cy="203150"/>
          </a:xfrm>
          <a:prstGeom prst="roundRect">
            <a:avLst>
              <a:gd name="adj" fmla="val 25006"/>
            </a:avLst>
          </a:prstGeom>
          <a:solidFill>
            <a:srgbClr val="E5E7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24000" y="3478262"/>
            <a:ext cx="1289596" cy="203150"/>
          </a:xfrm>
          <a:prstGeom prst="roundRect">
            <a:avLst>
              <a:gd name="adj" fmla="val 25006"/>
            </a:avLst>
          </a:prstGeom>
          <a:solidFill>
            <a:srgbClr val="05966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23667" y="3179862"/>
            <a:ext cx="1934599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热 22%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23667" y="3478262"/>
            <a:ext cx="1896666" cy="203150"/>
          </a:xfrm>
          <a:prstGeom prst="roundRect">
            <a:avLst>
              <a:gd name="adj" fmla="val 25006"/>
            </a:avLst>
          </a:prstGeom>
          <a:solidFill>
            <a:srgbClr val="E5E7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23667" y="3478262"/>
            <a:ext cx="417165" cy="203150"/>
          </a:xfrm>
          <a:prstGeom prst="roundRect">
            <a:avLst>
              <a:gd name="adj" fmla="val 25006"/>
            </a:avLst>
          </a:prstGeom>
          <a:solidFill>
            <a:srgbClr val="F59E0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23483" y="3179862"/>
            <a:ext cx="1934447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冷 10%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23483" y="3478262"/>
            <a:ext cx="1896517" cy="203150"/>
          </a:xfrm>
          <a:prstGeom prst="roundRect">
            <a:avLst>
              <a:gd name="adj" fmla="val 25006"/>
            </a:avLst>
          </a:prstGeom>
          <a:solidFill>
            <a:srgbClr val="E5E7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23483" y="3478262"/>
            <a:ext cx="189607" cy="203150"/>
          </a:xfrm>
          <a:prstGeom prst="roundRect">
            <a:avLst>
              <a:gd name="adj" fmla="val 2679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31404" y="3935313"/>
            <a:ext cx="4281044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它每次只做一件事：在已有文字之后，选出最可能的下一个词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12480" y="4709160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875"/>
            <a:ext cx="9154160" cy="51276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Text 0"/>
          <p:cNvSpPr/>
          <p:nvPr/>
        </p:nvSpPr>
        <p:spPr>
          <a:xfrm>
            <a:off x="457200" y="304800"/>
            <a:ext cx="8394192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别被参数吓住了——你真正该关心的是这4件事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11200" y="1197461"/>
            <a:ext cx="3810000" cy="1628477"/>
          </a:xfrm>
          <a:prstGeom prst="roundRect">
            <a:avLst>
              <a:gd name="adj" fmla="val 9358"/>
            </a:avLst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tmp/pptx_workspace/images/icon_brain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01" y="1451362"/>
            <a:ext cx="406301" cy="4063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101" y="1971963"/>
            <a:ext cx="3368242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推理强不强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65101" y="2362488"/>
            <a:ext cx="3368242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逻辑链条是否完整、结论是否可靠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98901" y="1197461"/>
            <a:ext cx="3810000" cy="1628477"/>
          </a:xfrm>
          <a:prstGeom prst="roundRect">
            <a:avLst>
              <a:gd name="adj" fmla="val 9358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1" descr="/tmp/pptx_workspace/images/icon_scan_ey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802" y="1451362"/>
            <a:ext cx="406301" cy="4063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52802" y="1971963"/>
            <a:ext cx="3368242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多模态行不行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952802" y="2362488"/>
            <a:ext cx="3368242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能不能同时处理文字、图片、视频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11200" y="3003639"/>
            <a:ext cx="3810000" cy="1628477"/>
          </a:xfrm>
          <a:prstGeom prst="roundRect">
            <a:avLst>
              <a:gd name="adj" fmla="val 9358"/>
            </a:avLst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2" descr="/tmp/pptx_workspace/images/icon_wrench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01" y="3257540"/>
            <a:ext cx="406301" cy="4063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5101" y="3778141"/>
            <a:ext cx="3368242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A580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会不会调工具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965101" y="4168666"/>
            <a:ext cx="3368242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能不能连接外部系统完成任务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698901" y="3003639"/>
            <a:ext cx="3810000" cy="1628477"/>
          </a:xfrm>
          <a:prstGeom prst="roundRect">
            <a:avLst>
              <a:gd name="adj" fmla="val 9358"/>
            </a:avLst>
          </a:prstGeom>
          <a:solidFill>
            <a:srgbClr val="F5F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3" descr="/tmp/pptx_workspace/images/icon_gaug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802" y="3257540"/>
            <a:ext cx="406301" cy="40630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52802" y="3778141"/>
            <a:ext cx="3368242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成本和速度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4952802" y="4168666"/>
            <a:ext cx="3368242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响应快不快、费用扛不扛得住</a:t>
            </a:r>
            <a:endParaRPr lang="en-US" sz="1200"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Token = AI处理语言时的一小口信息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6885" y="1282551"/>
            <a:ext cx="8229600" cy="1126778"/>
          </a:xfrm>
          <a:prstGeom prst="roundRect">
            <a:avLst>
              <a:gd name="adj" fmla="val 13525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0786" y="1485702"/>
            <a:ext cx="511076" cy="488752"/>
          </a:xfrm>
          <a:prstGeom prst="roundRect">
            <a:avLst>
              <a:gd name="adj" fmla="val 15591"/>
            </a:avLst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1123" y="1587202"/>
            <a:ext cx="21040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92612" y="1485702"/>
            <a:ext cx="511076" cy="488752"/>
          </a:xfrm>
          <a:prstGeom prst="roundRect">
            <a:avLst>
              <a:gd name="adj" fmla="val 15591"/>
            </a:avLst>
          </a:prstGeom>
          <a:solidFill>
            <a:srgbClr val="2DA89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42949" y="1587202"/>
            <a:ext cx="21040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9424" y="2025204"/>
            <a:ext cx="115887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"你好" → 1~2 Token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20840" y="1528564"/>
            <a:ext cx="767804" cy="441127"/>
          </a:xfrm>
          <a:prstGeom prst="roundRect">
            <a:avLst>
              <a:gd name="adj" fmla="val 17274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68610" y="1630065"/>
            <a:ext cx="472264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Hello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10646" y="2020441"/>
            <a:ext cx="103986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"Hello" → 1 Token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94214" y="1504752"/>
            <a:ext cx="565249" cy="450652"/>
          </a:xfrm>
          <a:prstGeom prst="roundRect">
            <a:avLst>
              <a:gd name="adj" fmla="val 16909"/>
            </a:avLst>
          </a:prstGeom>
          <a:solidFill>
            <a:srgbClr val="7C3A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92092" y="1606252"/>
            <a:ext cx="36949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人工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10214" y="1504752"/>
            <a:ext cx="565249" cy="450652"/>
          </a:xfrm>
          <a:prstGeom prst="roundRect">
            <a:avLst>
              <a:gd name="adj" fmla="val 16909"/>
            </a:avLst>
          </a:prstGeom>
          <a:solidFill>
            <a:srgbClr val="9333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08092" y="1606252"/>
            <a:ext cx="36949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智能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0261" y="2006154"/>
            <a:ext cx="142316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"人工智能" → 2~3 Token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6885" y="2612479"/>
            <a:ext cx="4013150" cy="1409551"/>
          </a:xfrm>
          <a:prstGeom prst="roundRect">
            <a:avLst>
              <a:gd name="adj" fmla="val 9010"/>
            </a:avLst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3967" y="2815630"/>
            <a:ext cx="3678987" cy="409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A580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$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3967" y="3301405"/>
            <a:ext cx="3678987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Token 决定价格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967" y="3618855"/>
            <a:ext cx="367898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用得越多，花得越多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93186" y="2612479"/>
            <a:ext cx="4013299" cy="1409551"/>
          </a:xfrm>
          <a:prstGeom prst="roundRect">
            <a:avLst>
              <a:gd name="adj" fmla="val 9010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0" descr="/tmp/pptx_workspace/images/icon_brain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986" y="2815630"/>
            <a:ext cx="355550" cy="3555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860266" y="3260030"/>
            <a:ext cx="3679138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Token 决定记忆力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860266" y="3577481"/>
            <a:ext cx="367913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上下文窗口有限</a:t>
            </a:r>
            <a:endParaRPr lang="en-US" sz="1100" dirty="0"/>
          </a:p>
        </p:txBody>
      </p:sp>
      <p:sp>
        <p:nvSpPr>
          <p:cNvPr id="25" name="文本框 24"/>
          <p:cNvSpPr txBox="1"/>
          <p:nvPr/>
        </p:nvSpPr>
        <p:spPr>
          <a:xfrm>
            <a:off x="6588125" y="1673860"/>
            <a:ext cx="1227455" cy="3708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  <a:hlinkClick r:id="rId2" action="ppaction://hlinkfile"/>
              </a:rPr>
              <a:t>Tokenizer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06301"/>
            <a:ext cx="1625352" cy="301526"/>
          </a:xfrm>
          <a:prstGeom prst="roundRect">
            <a:avLst>
              <a:gd name="adj" fmla="val 25271"/>
            </a:avLst>
          </a:prstGeom>
          <a:solidFill>
            <a:srgbClr val="DC262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651" y="457051"/>
            <a:ext cx="129534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910977"/>
            <a:ext cx="8290661" cy="466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现场演示：</a:t>
            </a:r>
            <a:r>
              <a:rPr lang="zh-CN" altLang="en-US" sz="26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同一个问题</a:t>
            </a:r>
            <a:r>
              <a:rPr lang="en-US" altLang="zh-CN" sz="26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，</a:t>
            </a:r>
            <a:r>
              <a:rPr lang="zh-CN" altLang="en-US" sz="26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不同模型的</a:t>
            </a:r>
            <a:r>
              <a:rPr lang="zh-CN" altLang="en-US" sz="26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答案</a:t>
            </a:r>
            <a:endParaRPr lang="zh-CN" altLang="en-US" sz="2600" b="1" dirty="0">
              <a:solidFill>
                <a:srgbClr val="111827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7950" y="1580852"/>
            <a:ext cx="8128099" cy="3156347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376" y="1844278"/>
            <a:ext cx="775327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需求原文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1525" y="2427605"/>
            <a:ext cx="7600950" cy="1008380"/>
          </a:xfrm>
          <a:prstGeom prst="roundRect">
            <a:avLst>
              <a:gd name="adj" fmla="val 12234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95020" y="2427605"/>
            <a:ext cx="635" cy="1008380"/>
          </a:xfrm>
          <a:prstGeom prst="line">
            <a:avLst/>
          </a:prstGeom>
          <a:noFill/>
          <a:ln w="47625">
            <a:solidFill>
              <a:srgbClr val="23877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96950" y="2605405"/>
            <a:ext cx="7341870" cy="10090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870"/>
              </a:lnSpc>
              <a:buFont typeface="Arial" panose="020B0704020202020204" pitchFamily="34" charset="0"/>
              <a:buChar char="•"/>
            </a:pPr>
            <a:r>
              <a:rPr lang="zh-CN" altLang="en-US" sz="11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我现在要给同学讲解什么是大模型</a:t>
            </a:r>
            <a:r>
              <a:rPr lang="en-US" altLang="zh-CN" sz="11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，</a:t>
            </a:r>
            <a:r>
              <a:rPr lang="zh-CN" altLang="en-US" sz="11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请用通俗易懂的语言来描述</a:t>
            </a:r>
            <a:r>
              <a:rPr lang="en-US" altLang="zh-CN" sz="11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，</a:t>
            </a:r>
            <a:r>
              <a:rPr lang="zh-CN" altLang="en-US" sz="11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不超过</a:t>
            </a:r>
            <a:r>
              <a:rPr lang="en-US" altLang="zh-CN" sz="11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200</a:t>
            </a:r>
            <a:r>
              <a:rPr lang="zh-CN" altLang="en-US" sz="11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字</a:t>
            </a:r>
            <a:endParaRPr lang="zh-CN" altLang="en-US" sz="1100" dirty="0">
              <a:solidFill>
                <a:srgbClr val="374151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</a:endParaRPr>
          </a:p>
          <a:p>
            <a:pPr marL="171450" indent="-171450" algn="l">
              <a:lnSpc>
                <a:spcPts val="1870"/>
              </a:lnSpc>
              <a:buFont typeface="Arial" panose="020B0704020202020204" pitchFamily="34" charset="0"/>
              <a:buChar char="•"/>
            </a:pPr>
            <a:r>
              <a:rPr lang="zh-CN" altLang="en-US" sz="11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请计算下</a:t>
            </a:r>
            <a:r>
              <a:rPr lang="en-US" altLang="zh-CN" sz="11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10+20 = </a:t>
            </a:r>
            <a:r>
              <a:rPr lang="zh-CN" altLang="en-US" sz="11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多少</a:t>
            </a:r>
            <a:r>
              <a:rPr lang="en-US" altLang="zh-CN" sz="11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？</a:t>
            </a:r>
            <a:endParaRPr lang="en-US" altLang="zh-CN" sz="1100" dirty="0">
              <a:solidFill>
                <a:srgbClr val="374151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</a:endParaRPr>
          </a:p>
          <a:p>
            <a:pPr marL="171450" indent="-171450" algn="l">
              <a:lnSpc>
                <a:spcPts val="1870"/>
              </a:lnSpc>
              <a:buFont typeface="Arial" panose="020B0704020202020204" pitchFamily="34" charset="0"/>
              <a:buChar char="•"/>
            </a:pPr>
            <a:r>
              <a:rPr lang="zh-CN" altLang="en-US" sz="11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翻译</a:t>
            </a:r>
            <a:r>
              <a:rPr lang="en-US" altLang="zh-CN" sz="11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：</a:t>
            </a:r>
            <a:r>
              <a:rPr lang="zh-CN" altLang="en-US" sz="11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我想去隔壁咖啡馆买一杯拿铁</a:t>
            </a:r>
            <a:r>
              <a:rPr lang="zh-CN" altLang="en-US" sz="11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咖啡</a:t>
            </a:r>
            <a:endParaRPr lang="zh-CN" altLang="en-US" sz="1100" dirty="0">
              <a:solidFill>
                <a:srgbClr val="374151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7256" y="3939510"/>
            <a:ext cx="775327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buNone/>
            </a:pPr>
            <a:r>
              <a:rPr lang="zh-CN" altLang="en-US" sz="1300" b="1" dirty="0">
                <a:solidFill>
                  <a:srgbClr val="FF6B3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你真的需要最好的大模型吗</a:t>
            </a:r>
            <a:r>
              <a:rPr lang="en-US" altLang="zh-CN" sz="1300" b="1" dirty="0">
                <a:solidFill>
                  <a:srgbClr val="FF6B3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？</a:t>
            </a:r>
            <a:endParaRPr lang="en-US" altLang="zh-CN" sz="1300" b="1" dirty="0">
              <a:solidFill>
                <a:srgbClr val="FF6B35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5" name="Shape 12"/>
          <p:cNvSpPr/>
          <p:nvPr/>
        </p:nvSpPr>
        <p:spPr>
          <a:xfrm>
            <a:off x="395605" y="843915"/>
            <a:ext cx="8321675" cy="3673475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77" name="Text 13"/>
          <p:cNvSpPr txBox="1"/>
          <p:nvPr/>
        </p:nvSpPr>
        <p:spPr>
          <a:xfrm>
            <a:off x="1547495" y="2169160"/>
            <a:ext cx="6163310" cy="102362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noAutofit/>
          </a:bodyPr>
          <a:lstStyle>
            <a:lvl1pPr>
              <a:lnSpc>
                <a:spcPts val="1400"/>
              </a:lnSpc>
              <a:defRPr sz="9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marL="0" indent="0" algn="ctr">
              <a:lnSpc>
                <a:spcPts val="5440"/>
              </a:lnSpc>
              <a:buNone/>
            </a:pPr>
            <a:r>
              <a:rPr lang="en-US" sz="2000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"你怎么问，决定AI怎么答"</a:t>
            </a:r>
            <a:endParaRPr lang="en-US" altLang="zh-CN" sz="200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" name="Shape 2"/>
          <p:cNvSpPr/>
          <p:nvPr/>
        </p:nvSpPr>
        <p:spPr>
          <a:xfrm>
            <a:off x="285750" y="757238"/>
            <a:ext cx="8572500" cy="41005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35" name="Text 0"/>
          <p:cNvSpPr txBox="1"/>
          <p:nvPr/>
        </p:nvSpPr>
        <p:spPr>
          <a:xfrm>
            <a:off x="285750" y="285750"/>
            <a:ext cx="4451350" cy="30734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marL="0" indent="0" algn="l">
              <a:spcAft>
                <a:spcPts val="1400"/>
              </a:spcAft>
              <a:buNone/>
            </a:pPr>
            <a:r>
              <a:rPr lang="en-US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同一个任务，好Prompt vs 坏Prompt</a:t>
            </a:r>
            <a:endParaRPr lang="en-US" dirty="0"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7990" y="1347470"/>
            <a:ext cx="4013200" cy="2859405"/>
          </a:xfrm>
          <a:prstGeom prst="roundRect">
            <a:avLst>
              <a:gd name="adj" fmla="val 3798"/>
            </a:avLst>
          </a:prstGeom>
          <a:solidFill>
            <a:srgbClr val="FEF2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1140" y="1550422"/>
            <a:ext cx="556468" cy="228600"/>
          </a:xfrm>
          <a:prstGeom prst="roundRect">
            <a:avLst>
              <a:gd name="adj" fmla="val 22222"/>
            </a:avLst>
          </a:prstGeom>
          <a:solidFill>
            <a:srgbClr val="DC262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3"/>
          <p:cNvSpPr/>
          <p:nvPr/>
        </p:nvSpPr>
        <p:spPr>
          <a:xfrm>
            <a:off x="758091" y="1588522"/>
            <a:ext cx="30861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BAD</a:t>
            </a:r>
            <a:endParaRPr lang="en-US" sz="1100" dirty="0"/>
          </a:p>
        </p:txBody>
      </p:sp>
      <p:sp>
        <p:nvSpPr>
          <p:cNvPr id="24" name="Text 4"/>
          <p:cNvSpPr/>
          <p:nvPr/>
        </p:nvSpPr>
        <p:spPr>
          <a:xfrm>
            <a:off x="631140" y="1905972"/>
            <a:ext cx="3606850" cy="514350"/>
          </a:xfrm>
          <a:prstGeom prst="roundRect">
            <a:avLst>
              <a:gd name="adj" fmla="val 19753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5"/>
          <p:cNvSpPr/>
          <p:nvPr/>
        </p:nvSpPr>
        <p:spPr>
          <a:xfrm>
            <a:off x="783540" y="2058372"/>
            <a:ext cx="3368091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"帮我写一篇文章，</a:t>
            </a:r>
            <a:r>
              <a:rPr lang="zh-CN" altLang="en-US" sz="12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主题是一个胡同里的面馆</a:t>
            </a:r>
            <a:r>
              <a:rPr lang="en-US" sz="12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"</a:t>
            </a:r>
            <a:endParaRPr lang="en-US" sz="1200" dirty="0"/>
          </a:p>
        </p:txBody>
      </p:sp>
      <p:sp>
        <p:nvSpPr>
          <p:cNvPr id="41" name="Text 6"/>
          <p:cNvSpPr/>
          <p:nvPr/>
        </p:nvSpPr>
        <p:spPr>
          <a:xfrm>
            <a:off x="631140" y="2547273"/>
            <a:ext cx="367898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没有角色、没有上下文、没有格式要求</a:t>
            </a:r>
            <a:endParaRPr lang="en-US" sz="1100" dirty="0"/>
          </a:p>
        </p:txBody>
      </p:sp>
      <p:sp>
        <p:nvSpPr>
          <p:cNvPr id="42" name="Text 7"/>
          <p:cNvSpPr/>
          <p:nvPr/>
        </p:nvSpPr>
        <p:spPr>
          <a:xfrm>
            <a:off x="4644390" y="1347470"/>
            <a:ext cx="4013200" cy="2859405"/>
          </a:xfrm>
          <a:prstGeom prst="roundRect">
            <a:avLst>
              <a:gd name="adj" fmla="val 3797"/>
            </a:avLst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8"/>
          <p:cNvSpPr/>
          <p:nvPr/>
        </p:nvSpPr>
        <p:spPr>
          <a:xfrm>
            <a:off x="4847441" y="1550422"/>
            <a:ext cx="680591" cy="228600"/>
          </a:xfrm>
          <a:prstGeom prst="roundRect">
            <a:avLst>
              <a:gd name="adj" fmla="val 22222"/>
            </a:avLst>
          </a:prstGeom>
          <a:solidFill>
            <a:srgbClr val="05966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9"/>
          <p:cNvSpPr/>
          <p:nvPr/>
        </p:nvSpPr>
        <p:spPr>
          <a:xfrm>
            <a:off x="4974392" y="1588522"/>
            <a:ext cx="43522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GOOD</a:t>
            </a:r>
            <a:endParaRPr lang="en-US" sz="1100" dirty="0"/>
          </a:p>
        </p:txBody>
      </p:sp>
      <p:sp>
        <p:nvSpPr>
          <p:cNvPr id="45" name="Text 10"/>
          <p:cNvSpPr/>
          <p:nvPr/>
        </p:nvSpPr>
        <p:spPr>
          <a:xfrm>
            <a:off x="4847441" y="1905972"/>
            <a:ext cx="3606998" cy="1066205"/>
          </a:xfrm>
          <a:prstGeom prst="roundRect">
            <a:avLst>
              <a:gd name="adj" fmla="val 9529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11"/>
          <p:cNvSpPr/>
          <p:nvPr/>
        </p:nvSpPr>
        <p:spPr>
          <a:xfrm>
            <a:off x="4999841" y="2058372"/>
            <a:ext cx="3368242" cy="761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你是一位小红书美食博主，文风活泼有趣。请写一篇300字探店笔记，主题是一家隐藏在胡同里的面馆，要求：开头用悬念吸引人，中间写3个菜品亮点，结尾给出推荐星级。</a:t>
            </a:r>
            <a:endParaRPr lang="en-US" sz="1000" dirty="0"/>
          </a:p>
        </p:txBody>
      </p:sp>
      <p:sp>
        <p:nvSpPr>
          <p:cNvPr id="47" name="Text 12"/>
          <p:cNvSpPr/>
          <p:nvPr/>
        </p:nvSpPr>
        <p:spPr>
          <a:xfrm>
            <a:off x="4847441" y="3099127"/>
            <a:ext cx="367913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有角色、有上下文、有格式</a:t>
            </a:r>
            <a:endParaRPr lang="en-US" sz="1100"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" name="Shape 2"/>
          <p:cNvSpPr/>
          <p:nvPr/>
        </p:nvSpPr>
        <p:spPr>
          <a:xfrm>
            <a:off x="343535" y="757555"/>
            <a:ext cx="5205730" cy="410083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35" name="Text 0"/>
          <p:cNvSpPr txBox="1"/>
          <p:nvPr/>
        </p:nvSpPr>
        <p:spPr>
          <a:xfrm>
            <a:off x="285750" y="285750"/>
            <a:ext cx="2891790" cy="30734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marL="0" indent="0" algn="l">
              <a:spcAft>
                <a:spcPts val="2000"/>
              </a:spcAft>
              <a:buNone/>
            </a:pPr>
            <a:r>
              <a:rPr lang="en-US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Prompt五要素：RTCFE</a:t>
            </a:r>
            <a:endParaRPr lang="en-US" dirty="0"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sp>
        <p:nvSpPr>
          <p:cNvPr id="2" name="Text 1"/>
          <p:cNvSpPr/>
          <p:nvPr/>
        </p:nvSpPr>
        <p:spPr>
          <a:xfrm>
            <a:off x="457200" y="1088827"/>
            <a:ext cx="1544241" cy="1438126"/>
          </a:xfrm>
          <a:prstGeom prst="roundRect">
            <a:avLst>
              <a:gd name="adj" fmla="val 10597"/>
            </a:avLst>
          </a:prstGeom>
          <a:solidFill>
            <a:srgbClr val="DC262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48971" y="1291977"/>
            <a:ext cx="1160699" cy="523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8971" y="1892052"/>
            <a:ext cx="116069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8971" y="2142827"/>
            <a:ext cx="116069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角色设定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128391" y="1088827"/>
            <a:ext cx="1544389" cy="1438126"/>
          </a:xfrm>
          <a:prstGeom prst="roundRect">
            <a:avLst>
              <a:gd name="adj" fmla="val 10597"/>
            </a:avLst>
          </a:prstGeom>
          <a:solidFill>
            <a:srgbClr val="FF6B3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320161" y="1291977"/>
            <a:ext cx="1160850" cy="523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320161" y="1892052"/>
            <a:ext cx="116085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Task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320161" y="2142827"/>
            <a:ext cx="116085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具体任务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99731" y="1088827"/>
            <a:ext cx="1544389" cy="1438126"/>
          </a:xfrm>
          <a:prstGeom prst="roundRect">
            <a:avLst>
              <a:gd name="adj" fmla="val 10597"/>
            </a:avLst>
          </a:prstGeom>
          <a:solidFill>
            <a:srgbClr val="F59E0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005470" y="1065282"/>
            <a:ext cx="1160850" cy="523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005470" y="1665357"/>
            <a:ext cx="116085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Context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005470" y="1916132"/>
            <a:ext cx="116085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背景信息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87361" y="3148132"/>
            <a:ext cx="1544389" cy="1438126"/>
          </a:xfrm>
          <a:prstGeom prst="roundRect">
            <a:avLst>
              <a:gd name="adj" fmla="val 10597"/>
            </a:avLst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379130" y="3351282"/>
            <a:ext cx="1160850" cy="523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1379130" y="3951357"/>
            <a:ext cx="116085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Format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79130" y="4202132"/>
            <a:ext cx="116085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输出格式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858701" y="3148132"/>
            <a:ext cx="1544389" cy="1438126"/>
          </a:xfrm>
          <a:prstGeom prst="roundRect">
            <a:avLst>
              <a:gd name="adj" fmla="val 10597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050470" y="3351282"/>
            <a:ext cx="1160850" cy="523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3050470" y="3951357"/>
            <a:ext cx="116085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Examples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050470" y="4202132"/>
            <a:ext cx="116085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示例参考</a:t>
            </a:r>
            <a:endParaRPr lang="en-US" sz="1000" dirty="0"/>
          </a:p>
        </p:txBody>
      </p:sp>
      <p:sp>
        <p:nvSpPr>
          <p:cNvPr id="136" name="Shape 3"/>
          <p:cNvSpPr/>
          <p:nvPr/>
        </p:nvSpPr>
        <p:spPr>
          <a:xfrm>
            <a:off x="5755005" y="-164465"/>
            <a:ext cx="3451860" cy="544449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 flipV="1">
            <a:off x="5755005" y="-226695"/>
            <a:ext cx="3451860" cy="40640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 flipV="1">
            <a:off x="5749925" y="-134620"/>
            <a:ext cx="3429635" cy="97155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6" name="文本框 25"/>
          <p:cNvSpPr txBox="1"/>
          <p:nvPr/>
        </p:nvSpPr>
        <p:spPr>
          <a:xfrm>
            <a:off x="6011545" y="-55880"/>
            <a:ext cx="3256280" cy="517715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提示词案例：小红书文案生成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endParaRPr lang="en-US" altLang="zh-CN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【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R - Role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】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你是一位资深的小红书内容运营专家，擅长写爆款笔记，熟悉年轻人喜欢的表达方式。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endParaRPr lang="en-US" altLang="zh-CN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【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T - Task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】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请为一款新上市的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"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降噪蓝牙耳机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"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写一篇种草文案。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endParaRPr lang="en-US" altLang="zh-CN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【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C - Context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】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-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目标用户：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25-35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岁上班族，经常通勤、需要专注工作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-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产品卖点：主动降噪、续航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30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小时、佩戴舒适、音质清晰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-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调性要求：真实分享感，不硬广，多用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emoji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，语气亲切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endParaRPr lang="en-US" altLang="zh-CN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【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F - Format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】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1.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标题（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15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字以内，带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emoji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2.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正文（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150-200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字，分段落）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3.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标签（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5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个相关话题标签）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endParaRPr lang="en-US" altLang="zh-CN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【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E - Example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】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参考风格：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"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绝了！这个耳机让我地铁上也能专心听歌🎵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通勤党真的太难了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...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直到我遇到它！</a:t>
            </a:r>
            <a:endParaRPr lang="zh-CN" altLang="en-US" sz="700" i="1" u="sng" dirty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  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降噪效果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yyds</a:t>
            </a:r>
            <a:r>
              <a:rPr lang="zh-CN" altLang="en-US" sz="700" i="1" u="sng" dirty="0">
                <a:solidFill>
                  <a:schemeClr val="bg1"/>
                </a:solidFill>
                <a:sym typeface="+mn-ea"/>
              </a:rPr>
              <a:t>，地铁轰鸣声直接消失</a:t>
            </a:r>
            <a:r>
              <a:rPr lang="en-US" altLang="en-US" sz="700" i="1" u="sng" dirty="0">
                <a:solidFill>
                  <a:schemeClr val="bg1"/>
                </a:solidFill>
                <a:sym typeface="+mn-ea"/>
              </a:rPr>
              <a:t>✨</a:t>
            </a:r>
            <a:r>
              <a:rPr lang="en-US" altLang="zh-CN" sz="700" i="1" u="sng" dirty="0">
                <a:solidFill>
                  <a:schemeClr val="bg1"/>
                </a:solidFill>
                <a:sym typeface="+mn-ea"/>
              </a:rPr>
              <a:t>"</a:t>
            </a:r>
            <a:endParaRPr lang="en-US" altLang="zh-CN" sz="700" i="1" u="sng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7" name="Text 9"/>
          <p:cNvSpPr/>
          <p:nvPr/>
        </p:nvSpPr>
        <p:spPr>
          <a:xfrm>
            <a:off x="467360" y="2816860"/>
            <a:ext cx="4775835" cy="30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buNone/>
            </a:pPr>
            <a:r>
              <a:rPr lang="zh-CN" altLang="en-US" sz="1300" b="1" dirty="0">
                <a:solidFill>
                  <a:srgbClr val="FF6B3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框架的本质就是帮你把话说清楚</a:t>
            </a:r>
            <a:r>
              <a:rPr lang="en-US" altLang="zh-CN" sz="1300" b="1" dirty="0">
                <a:solidFill>
                  <a:srgbClr val="FF6B3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！</a:t>
            </a:r>
            <a:endParaRPr lang="en-US" altLang="zh-CN" sz="1300" b="1" dirty="0">
              <a:solidFill>
                <a:srgbClr val="FF6B35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" name="Shape 2"/>
          <p:cNvSpPr/>
          <p:nvPr/>
        </p:nvSpPr>
        <p:spPr>
          <a:xfrm>
            <a:off x="285750" y="757238"/>
            <a:ext cx="8572500" cy="41005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35" name="Text 0"/>
          <p:cNvSpPr txBox="1"/>
          <p:nvPr/>
        </p:nvSpPr>
        <p:spPr>
          <a:xfrm>
            <a:off x="285750" y="285750"/>
            <a:ext cx="4881880" cy="30734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"Prompt让AI说得好，Agent让AI做得到"</a:t>
            </a:r>
            <a:endParaRPr lang="en-US" dirty="0"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sp>
        <p:nvSpPr>
          <p:cNvPr id="2" name="Text 1"/>
          <p:cNvSpPr/>
          <p:nvPr/>
        </p:nvSpPr>
        <p:spPr>
          <a:xfrm>
            <a:off x="401955" y="1261745"/>
            <a:ext cx="3987800" cy="3048000"/>
          </a:xfrm>
          <a:prstGeom prst="roundRect">
            <a:avLst>
              <a:gd name="adj" fmla="val 3822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014805" y="1515447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E5E7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216069" y="1663085"/>
            <a:ext cx="359474" cy="466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💬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21055" y="2429847"/>
            <a:ext cx="3549649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聊天AI = 嘴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1055" y="2820372"/>
            <a:ext cx="3549649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能说、能写、能分析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055" y="3080673"/>
            <a:ext cx="3549649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但不能动手操作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43755" y="1261745"/>
            <a:ext cx="3987800" cy="3048000"/>
          </a:xfrm>
          <a:prstGeom prst="roundRect">
            <a:avLst>
              <a:gd name="adj" fmla="val 3822"/>
            </a:avLst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256556" y="1515447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BBF7D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457819" y="1663085"/>
            <a:ext cx="359474" cy="466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✋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862806" y="2429847"/>
            <a:ext cx="3549649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Agent = 手脚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862806" y="2820372"/>
            <a:ext cx="3549649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能操作工具、执行任务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62806" y="3080673"/>
            <a:ext cx="3549649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200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感知 → 思考 → 行动 → 记忆</a:t>
            </a:r>
            <a:endParaRPr lang="en-US" sz="1200" dirty="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" name="Shape 2"/>
          <p:cNvSpPr/>
          <p:nvPr/>
        </p:nvSpPr>
        <p:spPr>
          <a:xfrm>
            <a:off x="285750" y="757238"/>
            <a:ext cx="8572500" cy="41005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35" name="Text 0"/>
          <p:cNvSpPr txBox="1"/>
          <p:nvPr/>
        </p:nvSpPr>
        <p:spPr>
          <a:xfrm>
            <a:off x="285750" y="285750"/>
            <a:ext cx="4907280" cy="30734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marL="0" indent="0" algn="l">
              <a:spcAft>
                <a:spcPts val="1200"/>
              </a:spcAft>
              <a:buNone/>
            </a:pPr>
            <a:r>
              <a:rPr lang="en-US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Agent能做什么？用"订高铁+开发票"看懂</a:t>
            </a:r>
            <a:endParaRPr lang="en-US" dirty="0"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347470"/>
            <a:ext cx="4013200" cy="2834640"/>
          </a:xfrm>
          <a:prstGeom prst="roundRect">
            <a:avLst>
              <a:gd name="adj" fmla="val 3798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525072"/>
            <a:ext cx="3730904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传统聊天AI</a:t>
            </a:r>
            <a:endParaRPr lang="en-US" sz="1400" dirty="0"/>
          </a:p>
        </p:txBody>
      </p:sp>
      <p:sp>
        <p:nvSpPr>
          <p:cNvPr id="16" name="Text 3"/>
          <p:cNvSpPr/>
          <p:nvPr/>
        </p:nvSpPr>
        <p:spPr>
          <a:xfrm>
            <a:off x="634901" y="1899672"/>
            <a:ext cx="3657749" cy="453926"/>
          </a:xfrm>
          <a:prstGeom prst="roundRect">
            <a:avLst>
              <a:gd name="adj" fmla="val 22383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4"/>
          <p:cNvSpPr/>
          <p:nvPr/>
        </p:nvSpPr>
        <p:spPr>
          <a:xfrm>
            <a:off x="761851" y="2026622"/>
            <a:ext cx="347192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"帮我订一张明早去上海的高铁"</a:t>
            </a:r>
            <a:endParaRPr lang="en-US" sz="1100" dirty="0"/>
          </a:p>
        </p:txBody>
      </p:sp>
      <p:sp>
        <p:nvSpPr>
          <p:cNvPr id="18" name="Text 5"/>
          <p:cNvSpPr/>
          <p:nvPr/>
        </p:nvSpPr>
        <p:spPr>
          <a:xfrm>
            <a:off x="634901" y="2429798"/>
            <a:ext cx="3657749" cy="685651"/>
          </a:xfrm>
          <a:prstGeom prst="roundRect">
            <a:avLst>
              <a:gd name="adj" fmla="val 14818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6"/>
          <p:cNvSpPr/>
          <p:nvPr/>
        </p:nvSpPr>
        <p:spPr>
          <a:xfrm>
            <a:off x="761851" y="2556748"/>
            <a:ext cx="347192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"你可以去12306查询并下单..."</a:t>
            </a:r>
            <a:endParaRPr lang="en-US" sz="1100" dirty="0"/>
          </a:p>
        </p:txBody>
      </p:sp>
      <p:sp>
        <p:nvSpPr>
          <p:cNvPr id="20" name="Text 7"/>
          <p:cNvSpPr/>
          <p:nvPr/>
        </p:nvSpPr>
        <p:spPr>
          <a:xfrm>
            <a:off x="761851" y="2807524"/>
            <a:ext cx="347192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000" dirty="0">
                <a:solidFill>
                  <a:srgbClr val="DC26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（只能告诉你怎么做）</a:t>
            </a:r>
            <a:endParaRPr lang="en-US" sz="1000" dirty="0"/>
          </a:p>
        </p:txBody>
      </p:sp>
      <p:sp>
        <p:nvSpPr>
          <p:cNvPr id="21" name="Text 8"/>
          <p:cNvSpPr/>
          <p:nvPr/>
        </p:nvSpPr>
        <p:spPr>
          <a:xfrm>
            <a:off x="4673600" y="1347470"/>
            <a:ext cx="4013200" cy="2835275"/>
          </a:xfrm>
          <a:prstGeom prst="roundRect">
            <a:avLst>
              <a:gd name="adj" fmla="val 3797"/>
            </a:avLst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9"/>
          <p:cNvSpPr/>
          <p:nvPr/>
        </p:nvSpPr>
        <p:spPr>
          <a:xfrm>
            <a:off x="4851202" y="1525072"/>
            <a:ext cx="3731056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Agent</a:t>
            </a:r>
            <a:endParaRPr lang="en-US" sz="1400" dirty="0"/>
          </a:p>
        </p:txBody>
      </p:sp>
      <p:sp>
        <p:nvSpPr>
          <p:cNvPr id="23" name="Text 10"/>
          <p:cNvSpPr/>
          <p:nvPr/>
        </p:nvSpPr>
        <p:spPr>
          <a:xfrm>
            <a:off x="4851202" y="1861572"/>
            <a:ext cx="3657898" cy="406301"/>
          </a:xfrm>
          <a:prstGeom prst="roundRect">
            <a:avLst>
              <a:gd name="adj" fmla="val 18755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1"/>
          <p:cNvSpPr/>
          <p:nvPr/>
        </p:nvSpPr>
        <p:spPr>
          <a:xfrm>
            <a:off x="4978152" y="193777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2"/>
          <p:cNvSpPr/>
          <p:nvPr/>
        </p:nvSpPr>
        <p:spPr>
          <a:xfrm>
            <a:off x="5069681" y="1993285"/>
            <a:ext cx="7210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13"/>
          <p:cNvSpPr/>
          <p:nvPr/>
        </p:nvSpPr>
        <p:spPr>
          <a:xfrm>
            <a:off x="5308253" y="1974235"/>
            <a:ext cx="1188934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搜索所有车次和价格</a:t>
            </a:r>
            <a:endParaRPr lang="en-US" sz="1000" dirty="0"/>
          </a:p>
        </p:txBody>
      </p:sp>
      <p:sp>
        <p:nvSpPr>
          <p:cNvPr id="27" name="Text 14"/>
          <p:cNvSpPr/>
          <p:nvPr/>
        </p:nvSpPr>
        <p:spPr>
          <a:xfrm>
            <a:off x="4851202" y="2331274"/>
            <a:ext cx="3657898" cy="406301"/>
          </a:xfrm>
          <a:prstGeom prst="roundRect">
            <a:avLst>
              <a:gd name="adj" fmla="val 18755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15"/>
          <p:cNvSpPr/>
          <p:nvPr/>
        </p:nvSpPr>
        <p:spPr>
          <a:xfrm>
            <a:off x="4978152" y="240747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16"/>
          <p:cNvSpPr/>
          <p:nvPr/>
        </p:nvSpPr>
        <p:spPr>
          <a:xfrm>
            <a:off x="5069681" y="2462986"/>
            <a:ext cx="7210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17"/>
          <p:cNvSpPr/>
          <p:nvPr/>
        </p:nvSpPr>
        <p:spPr>
          <a:xfrm>
            <a:off x="5308253" y="2443936"/>
            <a:ext cx="1188934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按你的时间偏好筛选排序</a:t>
            </a:r>
            <a:endParaRPr lang="en-US" sz="1000" dirty="0"/>
          </a:p>
        </p:txBody>
      </p:sp>
      <p:sp>
        <p:nvSpPr>
          <p:cNvPr id="31" name="Text 18"/>
          <p:cNvSpPr/>
          <p:nvPr/>
        </p:nvSpPr>
        <p:spPr>
          <a:xfrm>
            <a:off x="4851202" y="2800975"/>
            <a:ext cx="3657898" cy="406301"/>
          </a:xfrm>
          <a:prstGeom prst="roundRect">
            <a:avLst>
              <a:gd name="adj" fmla="val 18755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19"/>
          <p:cNvSpPr/>
          <p:nvPr/>
        </p:nvSpPr>
        <p:spPr>
          <a:xfrm>
            <a:off x="4978152" y="287717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0"/>
          <p:cNvSpPr/>
          <p:nvPr/>
        </p:nvSpPr>
        <p:spPr>
          <a:xfrm>
            <a:off x="5069681" y="2932688"/>
            <a:ext cx="7210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21"/>
          <p:cNvSpPr/>
          <p:nvPr/>
        </p:nvSpPr>
        <p:spPr>
          <a:xfrm>
            <a:off x="5308253" y="2913638"/>
            <a:ext cx="1188934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完成下单并同步行程</a:t>
            </a:r>
            <a:endParaRPr lang="en-US" sz="1000" dirty="0"/>
          </a:p>
        </p:txBody>
      </p:sp>
      <p:sp>
        <p:nvSpPr>
          <p:cNvPr id="35" name="Text 22"/>
          <p:cNvSpPr/>
          <p:nvPr/>
        </p:nvSpPr>
        <p:spPr>
          <a:xfrm>
            <a:off x="4851202" y="3270677"/>
            <a:ext cx="3657898" cy="406301"/>
          </a:xfrm>
          <a:prstGeom prst="roundRect">
            <a:avLst>
              <a:gd name="adj" fmla="val 18755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3"/>
          <p:cNvSpPr/>
          <p:nvPr/>
        </p:nvSpPr>
        <p:spPr>
          <a:xfrm>
            <a:off x="4978152" y="334687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4"/>
          <p:cNvSpPr/>
          <p:nvPr/>
        </p:nvSpPr>
        <p:spPr>
          <a:xfrm>
            <a:off x="5069681" y="3402390"/>
            <a:ext cx="7210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25"/>
          <p:cNvSpPr/>
          <p:nvPr/>
        </p:nvSpPr>
        <p:spPr>
          <a:xfrm>
            <a:off x="5308253" y="3383340"/>
            <a:ext cx="1321004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提醒你及时开发票</a:t>
            </a:r>
            <a:endParaRPr lang="en-US" sz="1000" dirty="0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5" name="Shape 12"/>
          <p:cNvSpPr/>
          <p:nvPr/>
        </p:nvSpPr>
        <p:spPr>
          <a:xfrm>
            <a:off x="395605" y="843915"/>
            <a:ext cx="8321675" cy="3673475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77" name="Text 13"/>
          <p:cNvSpPr txBox="1"/>
          <p:nvPr/>
        </p:nvSpPr>
        <p:spPr>
          <a:xfrm>
            <a:off x="1547495" y="2169160"/>
            <a:ext cx="6163310" cy="102362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noAutofit/>
          </a:bodyPr>
          <a:lstStyle>
            <a:lvl1pPr>
              <a:lnSpc>
                <a:spcPts val="1400"/>
              </a:lnSpc>
              <a:defRPr sz="9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marL="0" indent="0" algn="ctr">
              <a:lnSpc>
                <a:spcPts val="5440"/>
              </a:lnSpc>
              <a:buNone/>
            </a:pPr>
            <a:r>
              <a:rPr lang="zh-CN" altLang="en-US" sz="2000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变成</a:t>
            </a:r>
            <a:r>
              <a:rPr lang="en-US" altLang="zh-CN" sz="2000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AI Agent，</a:t>
            </a:r>
            <a:r>
              <a:rPr lang="zh-CN" altLang="en-US" sz="2000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需要点什么</a:t>
            </a:r>
            <a:r>
              <a:rPr lang="en-US" altLang="zh-CN" sz="2000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？</a:t>
            </a:r>
            <a:endParaRPr lang="en-US" altLang="zh-CN" sz="2000" dirty="0"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" name="Shape 2"/>
          <p:cNvSpPr/>
          <p:nvPr/>
        </p:nvSpPr>
        <p:spPr>
          <a:xfrm>
            <a:off x="285750" y="757238"/>
            <a:ext cx="8572500" cy="41005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35" name="Text 0"/>
          <p:cNvSpPr txBox="1"/>
          <p:nvPr/>
        </p:nvSpPr>
        <p:spPr>
          <a:xfrm>
            <a:off x="285750" y="285750"/>
            <a:ext cx="4104005" cy="30734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marL="0" indent="0" algn="l">
              <a:spcAft>
                <a:spcPts val="1200"/>
              </a:spcAft>
              <a:buNone/>
            </a:pPr>
            <a:r>
              <a:rPr lang="en-US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RAG = 给AI配一个会检索的图书馆</a:t>
            </a:r>
            <a:endParaRPr lang="en-US" dirty="0"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488950" y="1038860"/>
            <a:ext cx="8394192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434340" y="1598196"/>
            <a:ext cx="2438400" cy="1336328"/>
          </a:xfrm>
          <a:prstGeom prst="roundRect">
            <a:avLst>
              <a:gd name="adj" fmla="val 9504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tmp/pptx_workspace/images/icon_search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390" y="1775897"/>
            <a:ext cx="406301" cy="40630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91211" y="2296497"/>
            <a:ext cx="2124658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检索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591211" y="2613948"/>
            <a:ext cx="212465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2974241" y="2118648"/>
            <a:ext cx="25913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3329791" y="1598196"/>
            <a:ext cx="2438549" cy="1336328"/>
          </a:xfrm>
          <a:prstGeom prst="roundRect">
            <a:avLst>
              <a:gd name="adj" fmla="val 9504"/>
            </a:avLst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/tmp/pptx_workspace/images/icon_layer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841" y="1775897"/>
            <a:ext cx="406301" cy="4063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486660" y="2296497"/>
            <a:ext cx="212481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A580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增强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3486660" y="2613948"/>
            <a:ext cx="212481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Augmentation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5869841" y="2118648"/>
            <a:ext cx="25913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6225391" y="1598196"/>
            <a:ext cx="2438549" cy="1336328"/>
          </a:xfrm>
          <a:prstGeom prst="roundRect">
            <a:avLst>
              <a:gd name="adj" fmla="val 9504"/>
            </a:avLst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2" descr="/tmp/pptx_workspace/images/icon_brai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441" y="1775897"/>
            <a:ext cx="406301" cy="406301"/>
          </a:xfrm>
          <a:prstGeom prst="rect">
            <a:avLst/>
          </a:prstGeom>
        </p:spPr>
      </p:pic>
      <p:sp>
        <p:nvSpPr>
          <p:cNvPr id="41" name="Text 10"/>
          <p:cNvSpPr/>
          <p:nvPr/>
        </p:nvSpPr>
        <p:spPr>
          <a:xfrm>
            <a:off x="6382260" y="2296497"/>
            <a:ext cx="212481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生成</a:t>
            </a:r>
            <a:endParaRPr lang="en-US" sz="1500" dirty="0"/>
          </a:p>
        </p:txBody>
      </p:sp>
      <p:sp>
        <p:nvSpPr>
          <p:cNvPr id="42" name="Text 11"/>
          <p:cNvSpPr/>
          <p:nvPr/>
        </p:nvSpPr>
        <p:spPr>
          <a:xfrm>
            <a:off x="6382260" y="2613948"/>
            <a:ext cx="212481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43" name="Text 12"/>
          <p:cNvSpPr/>
          <p:nvPr/>
        </p:nvSpPr>
        <p:spPr>
          <a:xfrm>
            <a:off x="434340" y="3086924"/>
            <a:ext cx="8394192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类比：开卷考试。模型本身是学霸，RAG让它带着参考书答题。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434340" y="3423424"/>
            <a:ext cx="2658517" cy="660202"/>
          </a:xfrm>
          <a:prstGeom prst="roundRect">
            <a:avLst>
              <a:gd name="adj" fmla="val 15389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14"/>
          <p:cNvSpPr/>
          <p:nvPr/>
        </p:nvSpPr>
        <p:spPr>
          <a:xfrm>
            <a:off x="561290" y="3550374"/>
            <a:ext cx="245270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解决幻觉</a:t>
            </a:r>
            <a:endParaRPr lang="en-US" sz="1100" dirty="0"/>
          </a:p>
        </p:txBody>
      </p:sp>
      <p:sp>
        <p:nvSpPr>
          <p:cNvPr id="46" name="Text 15"/>
          <p:cNvSpPr/>
          <p:nvPr/>
        </p:nvSpPr>
        <p:spPr>
          <a:xfrm>
            <a:off x="561290" y="3775700"/>
            <a:ext cx="245270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答案有据可查</a:t>
            </a:r>
            <a:endParaRPr lang="en-US" sz="1000" dirty="0"/>
          </a:p>
        </p:txBody>
      </p:sp>
      <p:sp>
        <p:nvSpPr>
          <p:cNvPr id="47" name="Text 16"/>
          <p:cNvSpPr/>
          <p:nvPr/>
        </p:nvSpPr>
        <p:spPr>
          <a:xfrm>
            <a:off x="3219807" y="3423424"/>
            <a:ext cx="2658666" cy="660202"/>
          </a:xfrm>
          <a:prstGeom prst="roundRect">
            <a:avLst>
              <a:gd name="adj" fmla="val 15389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17"/>
          <p:cNvSpPr/>
          <p:nvPr/>
        </p:nvSpPr>
        <p:spPr>
          <a:xfrm>
            <a:off x="3346758" y="3550374"/>
            <a:ext cx="245286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解决过时</a:t>
            </a:r>
            <a:endParaRPr lang="en-US" sz="1100" dirty="0"/>
          </a:p>
        </p:txBody>
      </p:sp>
      <p:sp>
        <p:nvSpPr>
          <p:cNvPr id="49" name="Text 18"/>
          <p:cNvSpPr/>
          <p:nvPr/>
        </p:nvSpPr>
        <p:spPr>
          <a:xfrm>
            <a:off x="3346758" y="3775700"/>
            <a:ext cx="245286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实时检索最新数据</a:t>
            </a:r>
            <a:endParaRPr lang="en-US" sz="1000" dirty="0"/>
          </a:p>
        </p:txBody>
      </p:sp>
      <p:sp>
        <p:nvSpPr>
          <p:cNvPr id="50" name="Text 19"/>
          <p:cNvSpPr/>
          <p:nvPr/>
        </p:nvSpPr>
        <p:spPr>
          <a:xfrm>
            <a:off x="6005423" y="3423424"/>
            <a:ext cx="2658517" cy="660202"/>
          </a:xfrm>
          <a:prstGeom prst="roundRect">
            <a:avLst>
              <a:gd name="adj" fmla="val 15389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20"/>
          <p:cNvSpPr/>
          <p:nvPr/>
        </p:nvSpPr>
        <p:spPr>
          <a:xfrm>
            <a:off x="6132374" y="3550374"/>
            <a:ext cx="245270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解决专业</a:t>
            </a:r>
            <a:endParaRPr lang="en-US" sz="1100" dirty="0"/>
          </a:p>
        </p:txBody>
      </p:sp>
      <p:sp>
        <p:nvSpPr>
          <p:cNvPr id="52" name="Text 21"/>
          <p:cNvSpPr/>
          <p:nvPr/>
        </p:nvSpPr>
        <p:spPr>
          <a:xfrm>
            <a:off x="6132374" y="3775700"/>
            <a:ext cx="245270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接入企业私有知识</a:t>
            </a:r>
            <a:endParaRPr lang="en-US" sz="1000"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" name="Shape 2"/>
          <p:cNvSpPr/>
          <p:nvPr/>
        </p:nvSpPr>
        <p:spPr>
          <a:xfrm>
            <a:off x="285750" y="757238"/>
            <a:ext cx="8572500" cy="41005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35" name="Text 0"/>
          <p:cNvSpPr txBox="1"/>
          <p:nvPr/>
        </p:nvSpPr>
        <p:spPr>
          <a:xfrm>
            <a:off x="285750" y="285750"/>
            <a:ext cx="2977515" cy="30734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marL="0" indent="0" algn="l">
              <a:spcAft>
                <a:spcPts val="1600"/>
              </a:spcAft>
              <a:buNone/>
            </a:pPr>
            <a:r>
              <a:rPr lang="en-US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微调 = 把通才训练成专才</a:t>
            </a:r>
            <a:endParaRPr lang="en-US" dirty="0"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sp>
        <p:nvSpPr>
          <p:cNvPr id="3" name="Text 0"/>
          <p:cNvSpPr/>
          <p:nvPr/>
        </p:nvSpPr>
        <p:spPr>
          <a:xfrm>
            <a:off x="424815" y="657860"/>
            <a:ext cx="8394192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24815" y="1391136"/>
            <a:ext cx="3593902" cy="1812578"/>
          </a:xfrm>
          <a:prstGeom prst="roundRect">
            <a:avLst>
              <a:gd name="adj" fmla="val 8408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2"/>
          <p:cNvSpPr/>
          <p:nvPr/>
        </p:nvSpPr>
        <p:spPr>
          <a:xfrm>
            <a:off x="647855" y="1645037"/>
            <a:ext cx="3147822" cy="666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4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🎓</a:t>
            </a:r>
            <a:endParaRPr lang="en-US" sz="4000" dirty="0"/>
          </a:p>
        </p:txBody>
      </p:sp>
      <p:sp>
        <p:nvSpPr>
          <p:cNvPr id="17" name="Text 3"/>
          <p:cNvSpPr/>
          <p:nvPr/>
        </p:nvSpPr>
        <p:spPr>
          <a:xfrm>
            <a:off x="647855" y="2413288"/>
            <a:ext cx="3147822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通才</a:t>
            </a:r>
            <a:endParaRPr lang="en-US" sz="1600" dirty="0"/>
          </a:p>
        </p:txBody>
      </p:sp>
      <p:sp>
        <p:nvSpPr>
          <p:cNvPr id="18" name="Text 4"/>
          <p:cNvSpPr/>
          <p:nvPr/>
        </p:nvSpPr>
        <p:spPr>
          <a:xfrm>
            <a:off x="647855" y="2749788"/>
            <a:ext cx="314782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什么都知道一点</a:t>
            </a:r>
            <a:endParaRPr lang="en-US" sz="1100" dirty="0"/>
          </a:p>
        </p:txBody>
      </p:sp>
      <p:sp>
        <p:nvSpPr>
          <p:cNvPr id="19" name="Text 5"/>
          <p:cNvSpPr/>
          <p:nvPr/>
        </p:nvSpPr>
        <p:spPr>
          <a:xfrm>
            <a:off x="4215513" y="1933912"/>
            <a:ext cx="648054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3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6"/>
          <p:cNvSpPr/>
          <p:nvPr/>
        </p:nvSpPr>
        <p:spPr>
          <a:xfrm>
            <a:off x="4215513" y="2337088"/>
            <a:ext cx="648054" cy="323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FF6B3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你的数据</a:t>
            </a:r>
            <a:endParaRPr lang="en-US" sz="10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FF6B3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Fine-tuning</a:t>
            </a:r>
            <a:endParaRPr lang="en-US" sz="1000" dirty="0"/>
          </a:p>
        </p:txBody>
      </p:sp>
      <p:sp>
        <p:nvSpPr>
          <p:cNvPr id="21" name="Text 7"/>
          <p:cNvSpPr/>
          <p:nvPr/>
        </p:nvSpPr>
        <p:spPr>
          <a:xfrm>
            <a:off x="5060365" y="1391136"/>
            <a:ext cx="3594050" cy="1812578"/>
          </a:xfrm>
          <a:prstGeom prst="roundRect">
            <a:avLst>
              <a:gd name="adj" fmla="val 8408"/>
            </a:avLst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8"/>
          <p:cNvSpPr/>
          <p:nvPr/>
        </p:nvSpPr>
        <p:spPr>
          <a:xfrm>
            <a:off x="5283403" y="1645037"/>
            <a:ext cx="3147974" cy="666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4000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💼</a:t>
            </a:r>
            <a:endParaRPr lang="en-US" sz="4000" dirty="0"/>
          </a:p>
        </p:txBody>
      </p:sp>
      <p:sp>
        <p:nvSpPr>
          <p:cNvPr id="23" name="Text 9"/>
          <p:cNvSpPr/>
          <p:nvPr/>
        </p:nvSpPr>
        <p:spPr>
          <a:xfrm>
            <a:off x="5283403" y="2413288"/>
            <a:ext cx="3147974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专才</a:t>
            </a:r>
            <a:endParaRPr lang="en-US" sz="1600" dirty="0"/>
          </a:p>
        </p:txBody>
      </p:sp>
      <p:sp>
        <p:nvSpPr>
          <p:cNvPr id="24" name="Text 10"/>
          <p:cNvSpPr/>
          <p:nvPr/>
        </p:nvSpPr>
        <p:spPr>
          <a:xfrm>
            <a:off x="5283403" y="2749788"/>
            <a:ext cx="314797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100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你的领域它最懂</a:t>
            </a:r>
            <a:endParaRPr lang="en-US" sz="1100" dirty="0"/>
          </a:p>
        </p:txBody>
      </p:sp>
      <p:sp>
        <p:nvSpPr>
          <p:cNvPr id="25" name="Text 11"/>
          <p:cNvSpPr/>
          <p:nvPr/>
        </p:nvSpPr>
        <p:spPr>
          <a:xfrm>
            <a:off x="424815" y="3406864"/>
            <a:ext cx="2641550" cy="888950"/>
          </a:xfrm>
          <a:prstGeom prst="roundRect">
            <a:avLst>
              <a:gd name="adj" fmla="val 11429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2"/>
          <p:cNvSpPr/>
          <p:nvPr/>
        </p:nvSpPr>
        <p:spPr>
          <a:xfrm>
            <a:off x="553847" y="3559264"/>
            <a:ext cx="2383485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+40%</a:t>
            </a:r>
            <a:endParaRPr lang="en-US" sz="2400" dirty="0"/>
          </a:p>
        </p:txBody>
      </p:sp>
      <p:sp>
        <p:nvSpPr>
          <p:cNvPr id="27" name="Text 13"/>
          <p:cNvSpPr/>
          <p:nvPr/>
        </p:nvSpPr>
        <p:spPr>
          <a:xfrm>
            <a:off x="553847" y="3962440"/>
            <a:ext cx="238348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专业术语准确率</a:t>
            </a:r>
            <a:endParaRPr lang="en-US" sz="1000" dirty="0"/>
          </a:p>
        </p:txBody>
      </p:sp>
      <p:sp>
        <p:nvSpPr>
          <p:cNvPr id="28" name="Text 14"/>
          <p:cNvSpPr/>
          <p:nvPr/>
        </p:nvSpPr>
        <p:spPr>
          <a:xfrm>
            <a:off x="3218765" y="3406864"/>
            <a:ext cx="2641699" cy="888950"/>
          </a:xfrm>
          <a:prstGeom prst="roundRect">
            <a:avLst>
              <a:gd name="adj" fmla="val 11429"/>
            </a:avLst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15"/>
          <p:cNvSpPr/>
          <p:nvPr/>
        </p:nvSpPr>
        <p:spPr>
          <a:xfrm>
            <a:off x="3347796" y="3559264"/>
            <a:ext cx="2383637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-60%</a:t>
            </a:r>
            <a:endParaRPr lang="en-US" sz="2400" dirty="0"/>
          </a:p>
        </p:txBody>
      </p:sp>
      <p:sp>
        <p:nvSpPr>
          <p:cNvPr id="30" name="Text 16"/>
          <p:cNvSpPr/>
          <p:nvPr/>
        </p:nvSpPr>
        <p:spPr>
          <a:xfrm>
            <a:off x="3347796" y="3962440"/>
            <a:ext cx="238363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格式错误率</a:t>
            </a:r>
            <a:endParaRPr lang="en-US" sz="1000" dirty="0"/>
          </a:p>
        </p:txBody>
      </p:sp>
      <p:sp>
        <p:nvSpPr>
          <p:cNvPr id="31" name="Text 17"/>
          <p:cNvSpPr/>
          <p:nvPr/>
        </p:nvSpPr>
        <p:spPr>
          <a:xfrm>
            <a:off x="6012865" y="3406864"/>
            <a:ext cx="2641550" cy="888950"/>
          </a:xfrm>
          <a:prstGeom prst="roundRect">
            <a:avLst>
              <a:gd name="adj" fmla="val 11429"/>
            </a:avLst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18"/>
          <p:cNvSpPr/>
          <p:nvPr/>
        </p:nvSpPr>
        <p:spPr>
          <a:xfrm>
            <a:off x="6141897" y="3559264"/>
            <a:ext cx="2383485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3x</a:t>
            </a:r>
            <a:endParaRPr lang="en-US" sz="2400" dirty="0"/>
          </a:p>
        </p:txBody>
      </p:sp>
      <p:sp>
        <p:nvSpPr>
          <p:cNvPr id="33" name="Text 19"/>
          <p:cNvSpPr/>
          <p:nvPr/>
        </p:nvSpPr>
        <p:spPr>
          <a:xfrm>
            <a:off x="6141897" y="3962440"/>
            <a:ext cx="238348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用户满意度</a:t>
            </a:r>
            <a:endParaRPr lang="en-US" sz="1000"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8" name="Shape 2"/>
          <p:cNvSpPr/>
          <p:nvPr/>
        </p:nvSpPr>
        <p:spPr>
          <a:xfrm>
            <a:off x="-32385" y="3823335"/>
            <a:ext cx="9177020" cy="13049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37" name="Shape 2"/>
          <p:cNvSpPr/>
          <p:nvPr/>
        </p:nvSpPr>
        <p:spPr>
          <a:xfrm>
            <a:off x="93345" y="771525"/>
            <a:ext cx="4885055" cy="26631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35" name="Text 0"/>
          <p:cNvSpPr txBox="1"/>
          <p:nvPr/>
        </p:nvSpPr>
        <p:spPr>
          <a:xfrm>
            <a:off x="285750" y="285750"/>
            <a:ext cx="2809240" cy="30734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marL="0" indent="0" algn="l">
              <a:spcAft>
                <a:spcPts val="1600"/>
              </a:spcAft>
              <a:buNone/>
            </a:pPr>
            <a:r>
              <a:rPr lang="en-US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MCP = AI的USB-C接口</a:t>
            </a:r>
            <a:endParaRPr lang="en-US" dirty="0"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sp>
        <p:nvSpPr>
          <p:cNvPr id="3" name="Text 0"/>
          <p:cNvSpPr/>
          <p:nvPr/>
        </p:nvSpPr>
        <p:spPr>
          <a:xfrm>
            <a:off x="424815" y="657860"/>
            <a:ext cx="8394192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endParaRPr lang="en-US" sz="2400" dirty="0"/>
          </a:p>
        </p:txBody>
      </p:sp>
      <p:sp>
        <p:nvSpPr>
          <p:cNvPr id="2" name="Text 1"/>
          <p:cNvSpPr/>
          <p:nvPr/>
        </p:nvSpPr>
        <p:spPr>
          <a:xfrm>
            <a:off x="1843405" y="977265"/>
            <a:ext cx="1401445" cy="775335"/>
          </a:xfrm>
          <a:prstGeom prst="roundRect">
            <a:avLst>
              <a:gd name="adj" fmla="val 30193"/>
            </a:avLst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244725" y="1242060"/>
            <a:ext cx="549910" cy="30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MCP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25319" y="1905972"/>
            <a:ext cx="794445" cy="453926"/>
          </a:xfrm>
          <a:prstGeom prst="roundRect">
            <a:avLst>
              <a:gd name="adj" fmla="val 22383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24588" y="2032923"/>
            <a:ext cx="39590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企业微信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72163" y="1905972"/>
            <a:ext cx="848469" cy="453926"/>
          </a:xfrm>
          <a:prstGeom prst="roundRect">
            <a:avLst>
              <a:gd name="adj" fmla="val 22383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870892" y="2032923"/>
            <a:ext cx="45101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钉钉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673033" y="1905972"/>
            <a:ext cx="691307" cy="453926"/>
          </a:xfrm>
          <a:prstGeom prst="roundRect">
            <a:avLst>
              <a:gd name="adj" fmla="val 22383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873333" y="2032923"/>
            <a:ext cx="29070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飞书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16739" y="1905972"/>
            <a:ext cx="771227" cy="453926"/>
          </a:xfrm>
          <a:prstGeom prst="roundRect">
            <a:avLst>
              <a:gd name="adj" fmla="val 22383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716240" y="2032923"/>
            <a:ext cx="3722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WPS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435546" y="2512397"/>
            <a:ext cx="1027361" cy="453926"/>
          </a:xfrm>
          <a:prstGeom prst="roundRect">
            <a:avLst>
              <a:gd name="adj" fmla="val 22383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632486" y="2639348"/>
            <a:ext cx="63348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4" name="Text 13"/>
          <p:cNvSpPr/>
          <p:nvPr/>
        </p:nvSpPr>
        <p:spPr>
          <a:xfrm>
            <a:off x="2615307" y="2512397"/>
            <a:ext cx="724644" cy="453926"/>
          </a:xfrm>
          <a:prstGeom prst="roundRect">
            <a:avLst>
              <a:gd name="adj" fmla="val 22383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14"/>
          <p:cNvSpPr/>
          <p:nvPr/>
        </p:nvSpPr>
        <p:spPr>
          <a:xfrm>
            <a:off x="2815274" y="2639348"/>
            <a:ext cx="32471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Files</a:t>
            </a:r>
            <a:endParaRPr lang="en-US" sz="1100" dirty="0"/>
          </a:p>
        </p:txBody>
      </p:sp>
      <p:sp>
        <p:nvSpPr>
          <p:cNvPr id="40" name="Text 18"/>
          <p:cNvSpPr/>
          <p:nvPr/>
        </p:nvSpPr>
        <p:spPr>
          <a:xfrm>
            <a:off x="395605" y="4083685"/>
            <a:ext cx="8301355" cy="660400"/>
          </a:xfrm>
          <a:prstGeom prst="roundRect">
            <a:avLst>
              <a:gd name="adj" fmla="val 15389"/>
            </a:avLst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1" name="Text 19"/>
          <p:cNvSpPr/>
          <p:nvPr/>
        </p:nvSpPr>
        <p:spPr>
          <a:xfrm>
            <a:off x="713740" y="4210685"/>
            <a:ext cx="793178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AI </a:t>
            </a:r>
            <a:r>
              <a:rPr lang="zh-CN" altLang="en-US" sz="14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与外部世界的交流口</a:t>
            </a:r>
            <a:endParaRPr lang="zh-CN" altLang="en-US" sz="1400" b="1" dirty="0">
              <a:solidFill>
                <a:srgbClr val="059669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42" name="Text 20"/>
          <p:cNvSpPr/>
          <p:nvPr/>
        </p:nvSpPr>
        <p:spPr>
          <a:xfrm>
            <a:off x="713740" y="4436110"/>
            <a:ext cx="793178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14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统一接口，即插即用</a:t>
            </a:r>
            <a:endParaRPr lang="en-US" sz="1400" dirty="0">
              <a:solidFill>
                <a:srgbClr val="6B7280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pic>
        <p:nvPicPr>
          <p:cNvPr id="47" name="图片 46" descr="0_e2mjWIjmJwo2Neh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190" y="843280"/>
            <a:ext cx="4013835" cy="258064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" name="Shape 2"/>
          <p:cNvSpPr/>
          <p:nvPr/>
        </p:nvSpPr>
        <p:spPr>
          <a:xfrm>
            <a:off x="3060065" y="1059815"/>
            <a:ext cx="5958205" cy="31343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35" name="Text 0"/>
          <p:cNvSpPr txBox="1"/>
          <p:nvPr/>
        </p:nvSpPr>
        <p:spPr>
          <a:xfrm>
            <a:off x="285750" y="285750"/>
            <a:ext cx="2821940" cy="30734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7个概念，一张图串起来</a:t>
            </a:r>
            <a:endParaRPr lang="en-US" dirty="0"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sp>
        <p:nvSpPr>
          <p:cNvPr id="3" name="Text 0"/>
          <p:cNvSpPr/>
          <p:nvPr/>
        </p:nvSpPr>
        <p:spPr>
          <a:xfrm>
            <a:off x="2959100" y="729615"/>
            <a:ext cx="8394192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5535295" y="1720652"/>
            <a:ext cx="914400" cy="914400"/>
          </a:xfrm>
          <a:prstGeom prst="roundRect">
            <a:avLst>
              <a:gd name="adj" fmla="val 100000"/>
            </a:avLst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5715301" y="1949252"/>
            <a:ext cx="554239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大模型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LLM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373269" y="2787452"/>
            <a:ext cx="822275" cy="650677"/>
          </a:xfrm>
          <a:prstGeom prst="roundRect">
            <a:avLst>
              <a:gd name="adj" fmla="val 19518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546301" y="2914402"/>
            <a:ext cx="47621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Token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546301" y="3111153"/>
            <a:ext cx="47621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语言单位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322495" y="2787452"/>
            <a:ext cx="888802" cy="650677"/>
          </a:xfrm>
          <a:prstGeom prst="roundRect">
            <a:avLst>
              <a:gd name="adj" fmla="val 19518"/>
            </a:avLst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494861" y="2914402"/>
            <a:ext cx="544068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Prompt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494861" y="3111153"/>
            <a:ext cx="54406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指令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338247" y="2787452"/>
            <a:ext cx="787152" cy="650677"/>
          </a:xfrm>
          <a:prstGeom prst="roundRect">
            <a:avLst>
              <a:gd name="adj" fmla="val 19518"/>
            </a:avLst>
          </a:prstGeom>
          <a:solidFill>
            <a:srgbClr val="F5F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511630" y="2914402"/>
            <a:ext cx="44038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Agent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511630" y="3111153"/>
            <a:ext cx="44038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手脚</a:t>
            </a:r>
            <a:endParaRPr lang="en-US" sz="900" dirty="0"/>
          </a:p>
        </p:txBody>
      </p:sp>
      <p:sp>
        <p:nvSpPr>
          <p:cNvPr id="34" name="Text 12"/>
          <p:cNvSpPr/>
          <p:nvPr/>
        </p:nvSpPr>
        <p:spPr>
          <a:xfrm>
            <a:off x="6252349" y="2787452"/>
            <a:ext cx="705594" cy="650677"/>
          </a:xfrm>
          <a:prstGeom prst="roundRect">
            <a:avLst>
              <a:gd name="adj" fmla="val 19518"/>
            </a:avLst>
          </a:prstGeom>
          <a:solidFill>
            <a:srgbClr val="ECFD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13"/>
          <p:cNvSpPr/>
          <p:nvPr/>
        </p:nvSpPr>
        <p:spPr>
          <a:xfrm>
            <a:off x="6426548" y="2914402"/>
            <a:ext cx="35719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RAG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6426548" y="3111153"/>
            <a:ext cx="35719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图书馆</a:t>
            </a:r>
            <a:endParaRPr lang="en-US" sz="900" dirty="0"/>
          </a:p>
        </p:txBody>
      </p:sp>
      <p:sp>
        <p:nvSpPr>
          <p:cNvPr id="38" name="Text 15"/>
          <p:cNvSpPr/>
          <p:nvPr/>
        </p:nvSpPr>
        <p:spPr>
          <a:xfrm>
            <a:off x="7084893" y="2787452"/>
            <a:ext cx="705594" cy="650677"/>
          </a:xfrm>
          <a:prstGeom prst="roundRect">
            <a:avLst>
              <a:gd name="adj" fmla="val 19518"/>
            </a:avLst>
          </a:prstGeom>
          <a:solidFill>
            <a:srgbClr val="FEF2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16"/>
          <p:cNvSpPr/>
          <p:nvPr/>
        </p:nvSpPr>
        <p:spPr>
          <a:xfrm>
            <a:off x="7259092" y="2914402"/>
            <a:ext cx="357196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微调</a:t>
            </a:r>
            <a:endParaRPr lang="en-US" sz="1200" dirty="0"/>
          </a:p>
        </p:txBody>
      </p:sp>
      <p:sp>
        <p:nvSpPr>
          <p:cNvPr id="40" name="Text 17"/>
          <p:cNvSpPr/>
          <p:nvPr/>
        </p:nvSpPr>
        <p:spPr>
          <a:xfrm>
            <a:off x="7259092" y="3149253"/>
            <a:ext cx="35719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培训班</a:t>
            </a:r>
            <a:endParaRPr lang="en-US" sz="900" dirty="0"/>
          </a:p>
        </p:txBody>
      </p:sp>
      <p:sp>
        <p:nvSpPr>
          <p:cNvPr id="41" name="Text 18"/>
          <p:cNvSpPr/>
          <p:nvPr/>
        </p:nvSpPr>
        <p:spPr>
          <a:xfrm>
            <a:off x="7917438" y="2787452"/>
            <a:ext cx="694134" cy="650677"/>
          </a:xfrm>
          <a:prstGeom prst="roundRect">
            <a:avLst>
              <a:gd name="adj" fmla="val 19518"/>
            </a:avLst>
          </a:prstGeom>
          <a:solidFill>
            <a:srgbClr val="F9FA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19"/>
          <p:cNvSpPr/>
          <p:nvPr/>
        </p:nvSpPr>
        <p:spPr>
          <a:xfrm>
            <a:off x="8091751" y="2914402"/>
            <a:ext cx="345507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MCP</a:t>
            </a:r>
            <a:endParaRPr lang="en-US" sz="1200" dirty="0"/>
          </a:p>
        </p:txBody>
      </p:sp>
      <p:sp>
        <p:nvSpPr>
          <p:cNvPr id="43" name="Text 20"/>
          <p:cNvSpPr/>
          <p:nvPr/>
        </p:nvSpPr>
        <p:spPr>
          <a:xfrm>
            <a:off x="8091751" y="3111153"/>
            <a:ext cx="345507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接口</a:t>
            </a:r>
            <a:endParaRPr lang="en-US" sz="900" dirty="0"/>
          </a:p>
        </p:txBody>
      </p:sp>
      <p:pic>
        <p:nvPicPr>
          <p:cNvPr id="47" name="图片 46" descr="f6531518-de0d-4283-ac44-2b8495c1073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851660"/>
            <a:ext cx="2303780" cy="17284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"概念讲清楚了——下节课看看谁更适合上场"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08305" y="1476375"/>
            <a:ext cx="4032250" cy="2756535"/>
          </a:xfrm>
          <a:prstGeom prst="roundRect">
            <a:avLst>
              <a:gd name="adj" fmla="val 3780"/>
            </a:avLst>
          </a:prstGeom>
          <a:solidFill>
            <a:srgbClr val="FFF7ED"/>
          </a:solidFill>
          <a:ln w="19050">
            <a:solidFill>
              <a:srgbClr val="FF6B3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0505" y="1698377"/>
            <a:ext cx="3659556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6B3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课后作业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0505" y="2111077"/>
            <a:ext cx="3659556" cy="548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用自己的话，给朋友/同事解释今天学的7个概念中的任意3个。写成文字发到课程群。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505" y="2786608"/>
            <a:ext cx="36595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要求：用类比，不用术语</a:t>
            </a:r>
            <a:endParaRPr lang="en-US" sz="1100" dirty="0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5" name="Shape 12"/>
          <p:cNvSpPr/>
          <p:nvPr/>
        </p:nvSpPr>
        <p:spPr>
          <a:xfrm>
            <a:off x="395605" y="843915"/>
            <a:ext cx="8321675" cy="3673475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77" name="Text 13"/>
          <p:cNvSpPr txBox="1"/>
          <p:nvPr/>
        </p:nvSpPr>
        <p:spPr>
          <a:xfrm>
            <a:off x="1548130" y="987425"/>
            <a:ext cx="6163310" cy="23558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noAutofit/>
          </a:bodyPr>
          <a:lstStyle>
            <a:lvl1pPr>
              <a:lnSpc>
                <a:spcPts val="1400"/>
              </a:lnSpc>
              <a:defRPr sz="9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marL="0" indent="0" algn="ctr">
              <a:lnSpc>
                <a:spcPts val="3900"/>
              </a:lnSpc>
              <a:spcAft>
                <a:spcPts val="3200"/>
              </a:spcAft>
              <a:buNone/>
            </a:pPr>
            <a:r>
              <a:rPr lang="zh-CN" altLang="en-US" sz="2000" dirty="0">
                <a:latin typeface="Arial" panose="020B0704020202020204" pitchFamily="34" charset="0"/>
                <a:ea typeface="宋体" charset="0"/>
                <a:cs typeface="Arial" panose="020B0704020202020204" pitchFamily="34" charset="-120"/>
                <a:sym typeface="+mn-ea"/>
              </a:rPr>
              <a:t>“有人说</a:t>
            </a:r>
            <a:r>
              <a:rPr lang="en-US" altLang="zh-CN" sz="2000" dirty="0">
                <a:latin typeface="Arial" panose="020B0704020202020204" pitchFamily="34" charset="0"/>
                <a:ea typeface="宋体" charset="0"/>
                <a:cs typeface="Arial" panose="020B0704020202020204" pitchFamily="34" charset="-120"/>
                <a:sym typeface="+mn-ea"/>
              </a:rPr>
              <a:t>，</a:t>
            </a:r>
            <a:r>
              <a:rPr lang="zh-CN" altLang="en-US" sz="2000" dirty="0">
                <a:latin typeface="Arial" panose="020B0704020202020204" pitchFamily="34" charset="0"/>
                <a:ea typeface="宋体" charset="0"/>
                <a:cs typeface="Arial" panose="020B0704020202020204" pitchFamily="34" charset="-120"/>
                <a:sym typeface="+mn-ea"/>
              </a:rPr>
              <a:t>当模型做到足够强大的时候</a:t>
            </a:r>
            <a:r>
              <a:rPr lang="en-US" altLang="zh-CN" sz="2000" dirty="0">
                <a:latin typeface="Arial" panose="020B0704020202020204" pitchFamily="34" charset="0"/>
                <a:ea typeface="宋体" charset="0"/>
                <a:cs typeface="Arial" panose="020B0704020202020204" pitchFamily="34" charset="-120"/>
                <a:sym typeface="+mn-ea"/>
              </a:rPr>
              <a:t>；</a:t>
            </a:r>
            <a:endParaRPr lang="en-US" altLang="zh-CN" sz="2000" dirty="0">
              <a:latin typeface="Arial" panose="020B0704020202020204" pitchFamily="34" charset="0"/>
              <a:ea typeface="宋体" charset="0"/>
              <a:cs typeface="Arial" panose="020B0704020202020204" pitchFamily="34" charset="-120"/>
              <a:sym typeface="+mn-ea"/>
            </a:endParaRPr>
          </a:p>
          <a:p>
            <a:pPr marL="0" indent="0" algn="ctr">
              <a:lnSpc>
                <a:spcPts val="3900"/>
              </a:lnSpc>
              <a:spcAft>
                <a:spcPts val="3200"/>
              </a:spcAft>
              <a:buNone/>
            </a:pPr>
            <a:r>
              <a:rPr lang="zh-CN" altLang="en-US" sz="2000" dirty="0">
                <a:latin typeface="Arial" panose="020B0704020202020204" pitchFamily="34" charset="0"/>
                <a:ea typeface="宋体" charset="0"/>
                <a:cs typeface="Arial" panose="020B0704020202020204" pitchFamily="34" charset="-120"/>
                <a:sym typeface="+mn-ea"/>
              </a:rPr>
              <a:t>所有的</a:t>
            </a:r>
            <a:r>
              <a:rPr lang="en-US" altLang="zh-CN" sz="2000" dirty="0">
                <a:latin typeface="Arial" panose="020B0704020202020204" pitchFamily="34" charset="0"/>
                <a:ea typeface="宋体" charset="0"/>
                <a:cs typeface="Arial" panose="020B0704020202020204" pitchFamily="34" charset="-120"/>
                <a:sym typeface="+mn-ea"/>
              </a:rPr>
              <a:t>AI Agent</a:t>
            </a:r>
            <a:r>
              <a:rPr lang="zh-CN" altLang="en-US" sz="2000" dirty="0">
                <a:latin typeface="Arial" panose="020B0704020202020204" pitchFamily="34" charset="0"/>
                <a:ea typeface="宋体" charset="0"/>
                <a:cs typeface="Arial" panose="020B0704020202020204" pitchFamily="34" charset="-120"/>
                <a:sym typeface="+mn-ea"/>
              </a:rPr>
              <a:t>都会变得</a:t>
            </a:r>
            <a:r>
              <a:rPr lang="zh-CN" altLang="en-US" sz="2000" dirty="0">
                <a:latin typeface="Arial" panose="020B0704020202020204" pitchFamily="34" charset="0"/>
                <a:ea typeface="宋体" charset="0"/>
                <a:cs typeface="Arial" panose="020B0704020202020204" pitchFamily="34" charset="-120"/>
                <a:sym typeface="+mn-ea"/>
              </a:rPr>
              <a:t>多余”</a:t>
            </a:r>
            <a:endParaRPr lang="zh-CN" altLang="en-US" sz="2000">
              <a:ea typeface="宋体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484388" y="3368040"/>
            <a:ext cx="4156174" cy="774502"/>
          </a:xfrm>
          <a:prstGeom prst="roundRect">
            <a:avLst>
              <a:gd name="adj" fmla="val 16398"/>
            </a:avLst>
          </a:prstGeom>
          <a:solidFill>
            <a:srgbClr val="FFFFFF">
              <a:alpha val="1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62612" y="3583841"/>
            <a:ext cx="3617506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下节预告：2026大模型擂台赛。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Kimi 2.5 / MiniMax 2.7 / Claude 4.7 / GPT 5.4 / 豆包AI / DeepSeek</a:t>
            </a:r>
            <a:endParaRPr lang="en-US" sz="1200" dirty="0">
              <a:solidFill>
                <a:srgbClr val="FFFFFF">
                  <a:alpha val="90000"/>
                </a:srgbClr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  <a:p>
            <a:pPr marL="0" indent="0" algn="ctr">
              <a:buNone/>
            </a:pPr>
            <a:endParaRPr lang="en-US" sz="1200" dirty="0">
              <a:solidFill>
                <a:srgbClr val="FFFFFF">
                  <a:alpha val="90000"/>
                </a:srgbClr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  <a:p>
            <a:pPr marL="0" indent="0" algn="ctr">
              <a:buNone/>
            </a:pPr>
            <a:endParaRPr lang="zh-CN" altLang="en-US" sz="1200" dirty="0"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d94be285099de42c573f65d6aab04a88979779be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802" b="80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556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90000"/>
                </a:srgbClr>
              </a:gs>
              <a:gs pos="100000">
                <a:srgbClr val="FAFAFA">
                  <a:alpha val="7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285750" y="1775222"/>
            <a:ext cx="8829675" cy="1285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zh-CN" sz="40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The </a:t>
            </a:r>
            <a:r>
              <a:rPr lang="en-US" altLang="zh-CN" sz="40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End</a:t>
            </a:r>
            <a:endParaRPr lang="en-US" altLang="zh-CN" sz="4050" b="1" dirty="0">
              <a:solidFill>
                <a:srgbClr val="1D1D1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627630" y="3219450"/>
            <a:ext cx="4128135" cy="762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0071E3"/>
          </a:solidFill>
        </p:spPr>
        <p:txBody>
          <a:bodyPr/>
          <a:p/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2097</Words>
  <Application>WPS 演示</Application>
  <PresentationFormat/>
  <Paragraphs>417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58" baseType="lpstr">
      <vt:lpstr>Arial</vt:lpstr>
      <vt:lpstr>宋体</vt:lpstr>
      <vt:lpstr>Wingdings</vt:lpstr>
      <vt:lpstr>Calibri</vt:lpstr>
      <vt:lpstr>Helvetica Neue</vt:lpstr>
      <vt:lpstr>Calibri Light</vt:lpstr>
      <vt:lpstr>Arial</vt:lpstr>
      <vt:lpstr>Space Grotesk</vt:lpstr>
      <vt:lpstr>Thonburi</vt:lpstr>
      <vt:lpstr>Inter</vt:lpstr>
      <vt:lpstr>黑体</vt:lpstr>
      <vt:lpstr>汉仪中黑KW</vt:lpstr>
      <vt:lpstr>MiSans</vt:lpstr>
      <vt:lpstr>宋体-简</vt:lpstr>
      <vt:lpstr>MiSans</vt:lpstr>
      <vt:lpstr>Arial</vt:lpstr>
      <vt:lpstr>Arial</vt:lpstr>
      <vt:lpstr>Plus Jakarta Sans</vt:lpstr>
      <vt:lpstr>Courier New</vt:lpstr>
      <vt:lpstr>Courier New</vt:lpstr>
      <vt:lpstr>Courier New</vt:lpstr>
      <vt:lpstr>宋体</vt:lpstr>
      <vt:lpstr>汉仪书宋二KW</vt:lpstr>
      <vt:lpstr>微软雅黑</vt:lpstr>
      <vt:lpstr>汉仪旗黑</vt:lpstr>
      <vt:lpstr>Arial Unicode MS</vt:lpstr>
      <vt:lpstr>Inter</vt:lpstr>
      <vt:lpstr>MiSans</vt:lpstr>
      <vt:lpstr>Plus Jakarta Sans</vt:lpstr>
      <vt:lpstr>Space Grotesk</vt:lpstr>
      <vt:lpstr>黑体</vt:lpstr>
      <vt:lpstr>苹方-简</vt:lpstr>
      <vt:lpstr>Apple Color Emoji</vt:lpstr>
      <vt:lpstr>Calibri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Frank</cp:lastModifiedBy>
  <cp:revision>219</cp:revision>
  <dcterms:created xsi:type="dcterms:W3CDTF">2026-03-26T10:35:09Z</dcterms:created>
  <dcterms:modified xsi:type="dcterms:W3CDTF">2026-03-26T10:35:09Z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B92EA23D39C5AF4C3FD9C3694FF3D4D1_42</vt:lpwstr>
  </property>
</Properties>
</file>