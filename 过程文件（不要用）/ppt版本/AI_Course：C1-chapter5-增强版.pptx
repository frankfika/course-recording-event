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9" r:id="rId18"/>
    <p:sldId id="272" r:id="rId19"/>
    <p:sldId id="273" r:id="rId20"/>
    <p:sldId id="276" r:id="rId21"/>
    <p:sldId id="278" r:id="rId2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07950"/>
            <a:ext cx="1073646" cy="301526"/>
          </a:xfrm>
          <a:prstGeom prst="roundRect">
            <a:avLst>
              <a:gd name="adj" fmla="val 16848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301" y="558701"/>
            <a:ext cx="784223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C1-5 最终章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32313" y="2155775"/>
            <a:ext cx="4279374" cy="638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全栈架构 + 学习地图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934333" y="2920901"/>
            <a:ext cx="3275186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buNone/>
            </a:pPr>
            <a:r>
              <a:rPr lang="en-US" sz="1600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从 GTC 2026 看 AI 落地最后一公里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6159" y="4552950"/>
            <a:ext cx="8031682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陈放 · OpenCSG 战略负责人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0A5F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GTC 2026 核心洞察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2128838"/>
            <a:ext cx="4064198" cy="1225451"/>
          </a:xfrm>
          <a:prstGeom prst="rect">
            <a:avLst/>
          </a:prstGeom>
          <a:solidFill>
            <a:srgbClr val="3B82F6">
              <a:alpha val="1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4813" y="2128838"/>
            <a:ext cx="0" cy="1225451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2526" y="2319338"/>
            <a:ext cx="3578947" cy="600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2E8F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"Every company in the world should have an agentic system strategy. This is the new computer now."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2526" y="3020913"/>
            <a:ext cx="357894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— Jensen Huang, NVIDIA CEO · GTC 2026 Keynote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1000" y="3671739"/>
            <a:ext cx="414548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500"/>
              </a:spcBef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San Jose · March 16, 2026</a:t>
            </a:r>
            <a:endParaRPr lang="en-US" sz="1100" dirty="0"/>
          </a:p>
        </p:txBody>
      </p:sp>
      <p:pic>
        <p:nvPicPr>
          <p:cNvPr id="8" name="Image 0" descr="/private/tmp/c1ch5-workspace/slides/nvidia-gtc-keyn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99" y="1671638"/>
            <a:ext cx="4063901" cy="2286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58460" y="4021038"/>
            <a:ext cx="414517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GTC 2026 Keynote - Jensen Huang on Stage (nvidia.com/gtc)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GTC 2026 揭示的三大趋势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1000" y="758726"/>
            <a:ext cx="854964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从训练时代迈入推理时代，Agent 成为 AI 新范式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1000" y="1149251"/>
            <a:ext cx="2667000" cy="3134023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0800" dist="2540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9125" y="1387376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2143" y="1479352"/>
            <a:ext cx="172906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9125" y="1869877"/>
            <a:ext cx="223456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Agent 元年到来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9125" y="2193727"/>
            <a:ext cx="2234565" cy="542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Huang 宣布未来 NVIDIA 7.5万员工将协同750万个 AI Agent 工作 — 100:1 的人机比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38500" y="1149251"/>
            <a:ext cx="2667000" cy="3134023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0800" dist="2540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76625" y="1387376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69643" y="1479352"/>
            <a:ext cx="172906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6625" y="1869877"/>
            <a:ext cx="223456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推理 &gt; 训练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6625" y="2193727"/>
            <a:ext cx="2234565" cy="542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AI 第一个十年是训练，下一个十年是推理。Vera Rubin 平台推理成本降低 10 倍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96000" y="1149251"/>
            <a:ext cx="2667000" cy="3134023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0800" dist="2540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34125" y="1387376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27143" y="1479352"/>
            <a:ext cx="172906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4125" y="1869877"/>
            <a:ext cx="223456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开源 Agent 爆发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34125" y="2193727"/>
            <a:ext cx="2234565" cy="542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OpenClaw 60天斩获 250K+ GitHub Stars，超越 React 成为史上增长最快的开源项目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1000" y="4473773"/>
            <a:ext cx="8382000" cy="415826"/>
          </a:xfrm>
          <a:prstGeom prst="roundRect">
            <a:avLst>
              <a:gd name="adj" fmla="val 18325"/>
            </a:avLst>
          </a:prstGeom>
          <a:solidFill>
            <a:srgbClr val="1E293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6159" y="4600724"/>
            <a:ext cx="803168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McKinsey: 62% 企业已在试验 AI Agent · AI 芯片需求预计 2027 年突破 1 万亿美元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OpenClaw 是什么？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1000" y="695176"/>
            <a:ext cx="854964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让 AI 真正"操作"你的工具，而不只是"回答"你的问题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1000" y="1682948"/>
            <a:ext cx="4404461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OpenClaw 是开源 AI Agent 运行框架，将复杂系统简化为 AI 可调用的"技能"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1000" y="2235398"/>
            <a:ext cx="4318099" cy="453926"/>
          </a:xfrm>
          <a:prstGeom prst="roundRect">
            <a:avLst>
              <a:gd name="adj" fmla="val 1678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2235398"/>
            <a:ext cx="0" cy="453926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6801" y="2362349"/>
            <a:ext cx="400309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Skills 技能层</a:t>
            </a:r>
            <a:r>
              <a:rPr lang="en-US" sz="1100" dirty="0">
                <a:solidFill>
                  <a:srgbClr val="1E293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— 500+ 可扩展技能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1000" y="2790825"/>
            <a:ext cx="4318099" cy="453926"/>
          </a:xfrm>
          <a:prstGeom prst="roundRect">
            <a:avLst>
              <a:gd name="adj" fmla="val 1678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790825"/>
            <a:ext cx="0" cy="45392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6801" y="2917775"/>
            <a:ext cx="400309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Pi Agent 协调层</a:t>
            </a:r>
            <a:r>
              <a:rPr lang="en-US" sz="1100" dirty="0">
                <a:solidFill>
                  <a:srgbClr val="1E293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— 任务规划 · 多步推理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1000" y="3346252"/>
            <a:ext cx="4318099" cy="453926"/>
          </a:xfrm>
          <a:prstGeom prst="roundRect">
            <a:avLst>
              <a:gd name="adj" fmla="val 1678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3346252"/>
            <a:ext cx="0" cy="45392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801" y="3473202"/>
            <a:ext cx="400309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Gateway 网关层</a:t>
            </a:r>
            <a:r>
              <a:rPr lang="en-US" sz="1100" dirty="0">
                <a:solidFill>
                  <a:srgbClr val="1E293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— 20+ 渠道接入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1000" y="3901678"/>
            <a:ext cx="4318099" cy="453926"/>
          </a:xfrm>
          <a:prstGeom prst="roundRect">
            <a:avLst>
              <a:gd name="adj" fmla="val 16787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3901678"/>
            <a:ext cx="0" cy="453926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801" y="4028629"/>
            <a:ext cx="400309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LLM 模型层</a:t>
            </a:r>
            <a:r>
              <a:rPr lang="en-US" sz="1100" dirty="0">
                <a:solidFill>
                  <a:srgbClr val="1E293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— 模型无关 · 支持一切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53000" y="2171849"/>
            <a:ext cx="1841450" cy="812602"/>
          </a:xfrm>
          <a:prstGeom prst="roundRect">
            <a:avLst>
              <a:gd name="adj" fmla="val 93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73790" y="2308324"/>
            <a:ext cx="1599870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250K+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73790" y="2628900"/>
            <a:ext cx="159987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GitHub Stars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21401" y="2171849"/>
            <a:ext cx="1841599" cy="812602"/>
          </a:xfrm>
          <a:prstGeom prst="roundRect">
            <a:avLst>
              <a:gd name="adj" fmla="val 93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042190" y="2308324"/>
            <a:ext cx="1600021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60天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2190" y="2686050"/>
            <a:ext cx="160002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达成时间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53000" y="3111401"/>
            <a:ext cx="1841450" cy="755452"/>
          </a:xfrm>
          <a:prstGeom prst="roundRect">
            <a:avLst>
              <a:gd name="adj" fmla="val 100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73790" y="3247876"/>
            <a:ext cx="1599870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500+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073790" y="3568452"/>
            <a:ext cx="159987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内置技能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21401" y="3111401"/>
            <a:ext cx="1841599" cy="755452"/>
          </a:xfrm>
          <a:prstGeom prst="roundRect">
            <a:avLst>
              <a:gd name="adj" fmla="val 100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042190" y="3247876"/>
            <a:ext cx="160002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20+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042190" y="3568452"/>
            <a:ext cx="160002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接入渠道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框架普及带来的机会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81000" y="644426"/>
            <a:ext cx="854964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当构建 Agent 的门槛降到"一行命令"，会发生什么？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1000" y="170839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6285" y="1800374"/>
            <a:ext cx="86529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8051" y="1786086"/>
            <a:ext cx="252436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框架简化</a:t>
            </a:r>
            <a:r>
              <a:rPr lang="en-US" sz="1100" dirty="0">
                <a:solidFill>
                  <a:srgbClr val="33415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— OpenClaw 让构建极度简单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1000" y="2165449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6285" y="2257425"/>
            <a:ext cx="86529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8051" y="2243138"/>
            <a:ext cx="245286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用户涌入</a:t>
            </a:r>
            <a:r>
              <a:rPr lang="en-US" sz="1100" dirty="0">
                <a:solidFill>
                  <a:srgbClr val="33415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— $150B 风投涌入 AI Native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1000" y="262250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6285" y="2714476"/>
            <a:ext cx="86529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8051" y="2700189"/>
            <a:ext cx="2265685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企业跟进</a:t>
            </a:r>
            <a:r>
              <a:rPr lang="en-US" sz="1100" dirty="0">
                <a:solidFill>
                  <a:srgbClr val="33415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— 62% 企业已试验 Agent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1000" y="30795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6285" y="3171527"/>
            <a:ext cx="86529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8051" y="3157240"/>
            <a:ext cx="235676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落地成关键</a:t>
            </a:r>
            <a:r>
              <a:rPr lang="en-US" sz="1100" dirty="0">
                <a:solidFill>
                  <a:srgbClr val="33415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— "最后一公里"决定成败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1000" y="3663553"/>
            <a:ext cx="4381500" cy="615851"/>
          </a:xfrm>
          <a:prstGeom prst="roundRect">
            <a:avLst>
              <a:gd name="adj" fmla="val 12373"/>
            </a:avLst>
          </a:prstGeom>
          <a:solidFill>
            <a:srgbClr val="3B82F6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7950" y="3790504"/>
            <a:ext cx="4210151" cy="361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40A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核心洞察：技术不再是瓶颈 — 真正的挑战是"如何让 Agent 在真实业务中跑起来"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53000" y="1146125"/>
            <a:ext cx="2019300" cy="828675"/>
          </a:xfrm>
          <a:prstGeom prst="roundRect">
            <a:avLst>
              <a:gd name="adj" fmla="val 12261"/>
            </a:avLst>
          </a:prstGeom>
          <a:solidFill>
            <a:srgbClr val="1E293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88255" y="1298525"/>
            <a:ext cx="1748790" cy="323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$1T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88255" y="1660475"/>
            <a:ext cx="174879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AI芯片需求(2027预估)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53000" y="2101751"/>
            <a:ext cx="2019300" cy="828675"/>
          </a:xfrm>
          <a:prstGeom prst="roundRect">
            <a:avLst>
              <a:gd name="adj" fmla="val 12261"/>
            </a:avLst>
          </a:prstGeom>
          <a:solidFill>
            <a:srgbClr val="1E293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88255" y="2254151"/>
            <a:ext cx="1748790" cy="323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$150B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88255" y="2616101"/>
            <a:ext cx="174879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AI创业风投(2025)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53000" y="3057376"/>
            <a:ext cx="2019300" cy="828675"/>
          </a:xfrm>
          <a:prstGeom prst="roundRect">
            <a:avLst>
              <a:gd name="adj" fmla="val 12261"/>
            </a:avLst>
          </a:prstGeom>
          <a:solidFill>
            <a:srgbClr val="1E293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88255" y="3209776"/>
            <a:ext cx="1748790" cy="323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62%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88255" y="3571726"/>
            <a:ext cx="174879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企业已试验Agent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53000" y="4013002"/>
            <a:ext cx="2019300" cy="828675"/>
          </a:xfrm>
          <a:prstGeom prst="roundRect">
            <a:avLst>
              <a:gd name="adj" fmla="val 12261"/>
            </a:avLst>
          </a:prstGeom>
          <a:solidFill>
            <a:srgbClr val="1E293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88255" y="4165402"/>
            <a:ext cx="1748790" cy="323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100:1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088255" y="4527352"/>
            <a:ext cx="174879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NVIDIA人机比目标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但是... 谁来帮普通人落地？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81000" y="644426"/>
            <a:ext cx="854964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框架有了，模型有了，可从"能用"到"好用"还有一道鸿沟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1000" y="1034951"/>
            <a:ext cx="4064050" cy="1606302"/>
          </a:xfrm>
          <a:prstGeom prst="roundRect">
            <a:avLst>
              <a:gd name="adj" fmla="val 6325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1025" y="1234976"/>
            <a:ext cx="373728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6653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技术侧 已就绪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1025" y="1565077"/>
            <a:ext cx="3664000" cy="876151"/>
          </a:xfrm>
          <a:prstGeom prst="rect">
            <a:avLst/>
          </a:prstGeom>
          <a:noFill/>
        </p:spPr>
        <p:txBody>
          <a:bodyPr wrap="square" lIns="101600" tIns="0" rIns="0" bIns="0" rtlCol="0" anchor="t"/>
          <a:lstStyle/>
          <a:p>
            <a:pPr marL="101600" indent="-1016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OpenClaw 框架成熟</a:t>
            </a:r>
            <a:endParaRPr lang="en-US" sz="1000" dirty="0"/>
          </a:p>
          <a:p>
            <a:pPr marL="101600" indent="-1016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大模型能力足够强</a:t>
            </a:r>
            <a:endParaRPr lang="en-US" sz="1000" dirty="0"/>
          </a:p>
          <a:p>
            <a:pPr marL="101600" indent="-1016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开源生态活跃</a:t>
            </a:r>
            <a:endParaRPr lang="en-US" sz="1000" dirty="0"/>
          </a:p>
          <a:p>
            <a:pPr marL="101600" indent="-1016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硬件性能过剩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98950" y="1034951"/>
            <a:ext cx="4064050" cy="1606302"/>
          </a:xfrm>
          <a:prstGeom prst="roundRect">
            <a:avLst>
              <a:gd name="adj" fmla="val 6325"/>
            </a:avLst>
          </a:prstGeom>
          <a:solidFill>
            <a:srgbClr val="FEE2E2"/>
          </a:solidFill>
          <a:ln w="9525">
            <a:solidFill>
              <a:srgbClr val="FCA5A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98975" y="1234976"/>
            <a:ext cx="373728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991B1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落地侧 缺失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8975" y="1565077"/>
            <a:ext cx="3664000" cy="876151"/>
          </a:xfrm>
          <a:prstGeom prst="rect">
            <a:avLst/>
          </a:prstGeom>
          <a:noFill/>
        </p:spPr>
        <p:txBody>
          <a:bodyPr wrap="square" lIns="101600" tIns="0" rIns="0" bIns="0" rtlCol="0" anchor="t"/>
          <a:lstStyle/>
          <a:p>
            <a:pPr marL="101600" indent="-1016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不知道选哪个模型</a:t>
            </a:r>
            <a:endParaRPr lang="en-US" sz="1000" dirty="0"/>
          </a:p>
          <a:p>
            <a:pPr marL="101600" indent="-1016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不会配置 Agent 技能</a:t>
            </a:r>
            <a:endParaRPr lang="en-US" sz="1000" dirty="0"/>
          </a:p>
          <a:p>
            <a:pPr marL="101600" indent="-1016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无法接入现有业务</a:t>
            </a:r>
            <a:endParaRPr lang="en-US" sz="1000" dirty="0"/>
          </a:p>
          <a:p>
            <a:pPr marL="101600" indent="-1016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缺少可复用的方案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1000" y="4092922"/>
            <a:ext cx="8382000" cy="796677"/>
          </a:xfrm>
          <a:prstGeom prst="roundRect">
            <a:avLst>
              <a:gd name="adj" fmla="val 12753"/>
            </a:avLst>
          </a:prstGeom>
          <a:solidFill>
            <a:srgbClr val="1E293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4901" y="4270623"/>
            <a:ext cx="8031682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OpenCSG 的回答：三层架构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4901" y="4530923"/>
            <a:ext cx="803168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CSGHub + AgenticHub + OpenClaw 集成 — 让普通人完成"选模型 → 装能力 → 接业务"闭环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1000" y="695176"/>
            <a:ext cx="854964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100" dirty="0">
                <a:solidFill>
                  <a:srgbClr val="A7F3D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为什么我们要做这件事？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1000" y="1505545"/>
            <a:ext cx="4404461" cy="600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zh-CN" altLang="en-US" sz="1100" b="1" dirty="0">
                <a:solidFill>
                  <a:srgbClr val="D1FAE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从</a:t>
            </a:r>
            <a:r>
              <a:rPr lang="en-US" altLang="zh-CN" sz="1100" b="1" dirty="0">
                <a:solidFill>
                  <a:srgbClr val="D1FAE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OpenCSG</a:t>
            </a:r>
            <a:r>
              <a:rPr lang="zh-CN" altLang="en-US" sz="1100" b="1" dirty="0">
                <a:solidFill>
                  <a:srgbClr val="D1FAE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的产品架构说起</a:t>
            </a:r>
            <a:r>
              <a:rPr lang="en-US" altLang="zh-CN" sz="1100" b="1" dirty="0">
                <a:solidFill>
                  <a:srgbClr val="D1FAE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：</a:t>
            </a:r>
            <a:r>
              <a:rPr lang="zh-CN" altLang="en-US" sz="1100" b="1" dirty="0">
                <a:solidFill>
                  <a:srgbClr val="D1FAE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每个人都需要一个</a:t>
            </a:r>
            <a:r>
              <a:rPr lang="en-US" altLang="zh-CN" sz="1100" b="1" dirty="0">
                <a:solidFill>
                  <a:srgbClr val="D1FAE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opc</a:t>
            </a:r>
            <a:r>
              <a:rPr lang="zh-CN" altLang="en-US" sz="1100" b="1" dirty="0">
                <a:solidFill>
                  <a:srgbClr val="D1FAE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的基座</a:t>
            </a:r>
            <a:r>
              <a:rPr lang="en-US" altLang="zh-CN" sz="1100" b="1" dirty="0">
                <a:solidFill>
                  <a:srgbClr val="D1FAE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，</a:t>
            </a:r>
            <a:r>
              <a:rPr lang="zh-CN" altLang="en-US" sz="1100" b="1" dirty="0">
                <a:solidFill>
                  <a:srgbClr val="D1FAE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但是他不应该仅仅是</a:t>
            </a:r>
            <a:r>
              <a:rPr lang="en-US" altLang="zh-CN" sz="1100" b="1" dirty="0">
                <a:solidFill>
                  <a:srgbClr val="D1FAE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openclaw。</a:t>
            </a:r>
            <a:endParaRPr lang="en-US" altLang="zh-CN" sz="1100" b="1" dirty="0">
              <a:solidFill>
                <a:srgbClr val="D1FAE5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三层架构全景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1000" y="682526"/>
            <a:ext cx="854964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选模型 → 装能力 → 接业务，三步完成 AI 落地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1000" y="1073051"/>
            <a:ext cx="8382000" cy="1067842"/>
          </a:xfrm>
          <a:prstGeom prst="roundRect">
            <a:avLst>
              <a:gd name="adj" fmla="val 9515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077813"/>
            <a:ext cx="8382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58237" y="1073051"/>
            <a:ext cx="0" cy="106784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1000" y="2136130"/>
            <a:ext cx="8382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4813" y="1073051"/>
            <a:ext cx="0" cy="1067842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7225" y="1403747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8548" y="1506885"/>
            <a:ext cx="187327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54026" y="1367284"/>
            <a:ext cx="7416266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40A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CSGHub — AI 的 GitHub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54026" y="1665684"/>
            <a:ext cx="741626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模型层 · 开源模型托管 · 数据集管理 · 一键选型对比 · opencsg.com/csghub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1000" y="2293293"/>
            <a:ext cx="8382000" cy="1067991"/>
          </a:xfrm>
          <a:prstGeom prst="roundRect">
            <a:avLst>
              <a:gd name="adj" fmla="val 9513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81000" y="2298055"/>
            <a:ext cx="8382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58237" y="2293293"/>
            <a:ext cx="0" cy="1067991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1000" y="3356521"/>
            <a:ext cx="8382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4813" y="2293293"/>
            <a:ext cx="0" cy="1067991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7225" y="2624138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10B98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68548" y="2727275"/>
            <a:ext cx="187327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54026" y="2587526"/>
            <a:ext cx="7416266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5F4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AgenticHub — AI 的 App Store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54026" y="2885926"/>
            <a:ext cx="741626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能力层 · Agent 市场 · 即装即用 · 自定义组合 · 一键部署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1000" y="3513683"/>
            <a:ext cx="8382000" cy="1067842"/>
          </a:xfrm>
          <a:prstGeom prst="roundRect">
            <a:avLst>
              <a:gd name="adj" fmla="val 9515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81000" y="3518446"/>
            <a:ext cx="8382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58237" y="3513683"/>
            <a:ext cx="0" cy="106784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1000" y="4576763"/>
            <a:ext cx="8382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4813" y="3513683"/>
            <a:ext cx="0" cy="1067842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225" y="3844379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F59E0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68548" y="3947517"/>
            <a:ext cx="187327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54026" y="3807916"/>
            <a:ext cx="7416266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2400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OpenClaw 集成 — 最后一公里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54026" y="4106317"/>
            <a:ext cx="741626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部署层 · Gateway 多渠道接入 · Pi Agent 协调 · 500+ Skill 连接一切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7180" y="4772025"/>
            <a:ext cx="854964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从上到下：选 → 装 → 接 ，普通人也能完成 AI 落地全流程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B82F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第一层 · 模型层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81000" y="485626"/>
            <a:ext cx="8549640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CSGHub — AI 的 GitHub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1935212"/>
            <a:ext cx="4064198" cy="673001"/>
          </a:xfrm>
          <a:prstGeom prst="roundRect">
            <a:avLst>
              <a:gd name="adj" fmla="val 113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8226" y="2071688"/>
            <a:ext cx="3763542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模型托管</a:t>
            </a:r>
            <a:r>
              <a:rPr lang="en-US" sz="1100" dirty="0">
                <a:solidFill>
                  <a:srgbClr val="1E293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— 一站式托管开源模型，支持 HuggingFace 兼容格式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1000" y="2684413"/>
            <a:ext cx="4064198" cy="472976"/>
          </a:xfrm>
          <a:prstGeom prst="roundRect">
            <a:avLst>
              <a:gd name="adj" fmla="val 161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8226" y="2820888"/>
            <a:ext cx="376354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数据集管理</a:t>
            </a:r>
            <a:r>
              <a:rPr lang="en-US" sz="1100" dirty="0">
                <a:solidFill>
                  <a:srgbClr val="1E293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— 训练数据版本控制、标注管理、数据集分享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1000" y="3233589"/>
            <a:ext cx="4064198" cy="472976"/>
          </a:xfrm>
          <a:prstGeom prst="roundRect">
            <a:avLst>
              <a:gd name="adj" fmla="val 161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3370064"/>
            <a:ext cx="376354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模型选型</a:t>
            </a:r>
            <a:r>
              <a:rPr lang="en-US" sz="1100" dirty="0">
                <a:solidFill>
                  <a:srgbClr val="1E293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— 多维度评测对比，找到最适合的模型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1000" y="3884265"/>
            <a:ext cx="414548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buNone/>
            </a:pPr>
            <a:r>
              <a:rPr lang="en-US" sz="900" dirty="0">
                <a:solidFill>
                  <a:srgbClr val="3B82F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GitHub 5.5K Stars · 192K+ 模型 · opencsg.com/csghub</a:t>
            </a:r>
            <a:endParaRPr lang="en-US" sz="900" dirty="0"/>
          </a:p>
        </p:txBody>
      </p:sp>
      <p:pic>
        <p:nvPicPr>
          <p:cNvPr id="11" name="Image 0" descr="/private/tmp/c1ch5-workspace/slides/csghub-git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99" y="1289000"/>
            <a:ext cx="4063901" cy="1777901"/>
          </a:xfrm>
          <a:prstGeom prst="rect">
            <a:avLst/>
          </a:prstGeom>
        </p:spPr>
      </p:pic>
      <p:pic>
        <p:nvPicPr>
          <p:cNvPr id="12" name="Image 1" descr="/private/tmp/c1ch5-workspace/slides/opencsg-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99" y="3168402"/>
            <a:ext cx="4063901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0B98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第二层 · 能力层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81000" y="485626"/>
            <a:ext cx="8549640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AgenticHub — AI 的 App Store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1857524"/>
            <a:ext cx="4064198" cy="472976"/>
          </a:xfrm>
          <a:prstGeom prst="roundRect">
            <a:avLst>
              <a:gd name="adj" fmla="val 161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8226" y="1993999"/>
            <a:ext cx="376354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发现 Agent</a:t>
            </a:r>
            <a:r>
              <a:rPr lang="en-US" sz="1100" dirty="0">
                <a:solidFill>
                  <a:srgbClr val="1E293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— 按行业、场景浏览已验证的方案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1000" y="2406700"/>
            <a:ext cx="4064198" cy="472976"/>
          </a:xfrm>
          <a:prstGeom prst="roundRect">
            <a:avLst>
              <a:gd name="adj" fmla="val 161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8226" y="2543175"/>
            <a:ext cx="376354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即装即用</a:t>
            </a:r>
            <a:r>
              <a:rPr lang="en-US" sz="1100" dirty="0">
                <a:solidFill>
                  <a:srgbClr val="1E293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— 一键安装预配置的 Agent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1000" y="2955875"/>
            <a:ext cx="4064198" cy="472976"/>
          </a:xfrm>
          <a:prstGeom prst="roundRect">
            <a:avLst>
              <a:gd name="adj" fmla="val 161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3092351"/>
            <a:ext cx="376354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自定义组合</a:t>
            </a:r>
            <a:r>
              <a:rPr lang="en-US" sz="1100" dirty="0">
                <a:solidFill>
                  <a:srgbClr val="1E293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— 像搭积木一样构建专属方案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1000" y="3606552"/>
            <a:ext cx="4064198" cy="517327"/>
          </a:xfrm>
          <a:prstGeom prst="roundRect">
            <a:avLst>
              <a:gd name="adj" fmla="val 1473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8226" y="3717578"/>
            <a:ext cx="3763542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6653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典型场景：客服Agent · 数据分析Agent · 内容创作Agent · 代码审查Agent</a:t>
            </a:r>
            <a:endParaRPr lang="en-US" sz="900" dirty="0"/>
          </a:p>
        </p:txBody>
      </p:sp>
      <p:pic>
        <p:nvPicPr>
          <p:cNvPr id="12" name="Image 0" descr="/private/tmp/c1ch5-workspace/slides/agentichub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99" y="1454051"/>
            <a:ext cx="4063901" cy="292090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658460" y="4413052"/>
            <a:ext cx="4145179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opencsg.com/products/agentichub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第三层 · 部署层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81000" y="485626"/>
            <a:ext cx="8549640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OpenClaw 集成 — 最后一公里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1028551"/>
            <a:ext cx="2692301" cy="1432024"/>
          </a:xfrm>
          <a:prstGeom prst="roundRect">
            <a:avLst>
              <a:gd name="adj" fmla="val 70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8226" y="1215777"/>
            <a:ext cx="2364206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40A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Gateway 网关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8226" y="1501527"/>
            <a:ext cx="236420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微信/钉钉/飞书/Slack 20+ 渠道统一接入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25701" y="1028551"/>
            <a:ext cx="2692450" cy="1432024"/>
          </a:xfrm>
          <a:prstGeom prst="roundRect">
            <a:avLst>
              <a:gd name="adj" fmla="val 70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12927" y="1215777"/>
            <a:ext cx="2364358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65F4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Pi Agent 协调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2927" y="1501527"/>
            <a:ext cx="236435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多 Agent 协作 任务分发与编排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70550" y="1028551"/>
            <a:ext cx="2692450" cy="1432024"/>
          </a:xfrm>
          <a:prstGeom prst="roundRect">
            <a:avLst>
              <a:gd name="adj" fmla="val 70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57776" y="1215777"/>
            <a:ext cx="2364358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92400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Skill 技能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57776" y="1501527"/>
            <a:ext cx="236435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500+ 内置技能 连接 API/DB/文件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1000" y="2612975"/>
            <a:ext cx="8382000" cy="1432024"/>
          </a:xfrm>
          <a:prstGeom prst="roundRect">
            <a:avLst>
              <a:gd name="adj" fmla="val 70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8226" y="2800201"/>
            <a:ext cx="8167699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6B21A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Docker 沙箱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8226" y="3085951"/>
            <a:ext cx="8167699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安全隔离执行 防止代码逃逸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1000" y="4235500"/>
            <a:ext cx="4114800" cy="717500"/>
          </a:xfrm>
          <a:prstGeom prst="roundRect">
            <a:avLst>
              <a:gd name="adj" fmla="val 14160"/>
            </a:avLst>
          </a:prstGeom>
          <a:solidFill>
            <a:srgbClr val="1E293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3400" y="4387900"/>
            <a:ext cx="38862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企业级安全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3400" y="4638675"/>
            <a:ext cx="388620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OpenShell 运行时沙箱 · 隐私路由器 · 网络护栏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48200" y="4235500"/>
            <a:ext cx="4114800" cy="717500"/>
          </a:xfrm>
          <a:prstGeom prst="roundRect">
            <a:avLst>
              <a:gd name="adj" fmla="val 14160"/>
            </a:avLst>
          </a:prstGeom>
          <a:solidFill>
            <a:srgbClr val="1E293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00600" y="4387900"/>
            <a:ext cx="38862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D39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NVIDIA NemoClaw 加持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4638675"/>
            <a:ext cx="388620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企业版 OpenClaw · 三层安全架构 · GTC 2026 发布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选 → 装 → 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1000" y="682526"/>
            <a:ext cx="854964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三步完成 AI Agent 落地，无需从零开发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1000" y="1073051"/>
            <a:ext cx="2667000" cy="314652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9125" y="1311176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1170" y="1420713"/>
            <a:ext cx="115372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9125" y="1895326"/>
            <a:ext cx="223456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40A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选 · CSGHub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9125" y="2219176"/>
            <a:ext cx="2234565" cy="14988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浏览、评测、对比开源模型，找到最适合业务的基座模型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9125" y="3819525"/>
            <a:ext cx="223456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例：电商客服选 Qwen-72B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38500" y="1073051"/>
            <a:ext cx="2667000" cy="314652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76625" y="1311176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10B98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48670" y="1420713"/>
            <a:ext cx="115372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6625" y="1895326"/>
            <a:ext cx="223456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65F4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装 · AgenticHub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6625" y="2219176"/>
            <a:ext cx="2234565" cy="14988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一键安装预配置 Agent，自带 Prompt 模板和最佳实践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6625" y="3819525"/>
            <a:ext cx="223456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例：安装"智能客服Agent"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96000" y="1073051"/>
            <a:ext cx="2667000" cy="314652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34125" y="1311176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59E0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506170" y="1420713"/>
            <a:ext cx="115372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34125" y="1895326"/>
            <a:ext cx="223456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92400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接 · OpenClaw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34125" y="2219176"/>
            <a:ext cx="2234565" cy="14988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通过 Gateway 接入微信/钉钉/网站，Skill 连接内部系统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34125" y="3819525"/>
            <a:ext cx="223456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例：微信公众号 → 自动回复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1000" y="4410075"/>
            <a:ext cx="8382000" cy="504825"/>
          </a:xfrm>
          <a:prstGeom prst="roundRect">
            <a:avLst>
              <a:gd name="adj" fmla="val 20126"/>
            </a:avLst>
          </a:prstGeom>
          <a:solidFill>
            <a:srgbClr val="0F172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56159" y="4562475"/>
            <a:ext cx="803168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最终效果：不写一行代码，从"有想法"到"Agent 上线"只需要一个下午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OPC：一人 + AI = 一个团队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81000" y="644426"/>
            <a:ext cx="854964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One Person Company — AI 时代的新工作范式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1000" y="996851"/>
            <a:ext cx="2667000" cy="3010198"/>
          </a:xfrm>
          <a:prstGeom prst="roundRect">
            <a:avLst>
              <a:gd name="adj" fmla="val 3810"/>
            </a:avLst>
          </a:prstGeom>
          <a:solidFill>
            <a:srgbClr val="3B82F6">
              <a:alpha val="10000"/>
            </a:srgbClr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8226" y="1184077"/>
            <a:ext cx="233839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0A5F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上午 · 规划+决策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8226" y="1460302"/>
            <a:ext cx="233839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你定方向、做判断、分配任务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38500" y="996851"/>
            <a:ext cx="2667000" cy="3010198"/>
          </a:xfrm>
          <a:prstGeom prst="roundRect">
            <a:avLst>
              <a:gd name="adj" fmla="val 3810"/>
            </a:avLst>
          </a:prstGeom>
          <a:solidFill>
            <a:srgbClr val="3B82F6">
              <a:alpha val="10000"/>
            </a:srgbClr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25726" y="1184077"/>
            <a:ext cx="233839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4D39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下午 · AI执行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5726" y="1460302"/>
            <a:ext cx="233839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Agent 自动处理客服、生成报告、分析数据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96000" y="996851"/>
            <a:ext cx="2667000" cy="3010198"/>
          </a:xfrm>
          <a:prstGeom prst="roundRect">
            <a:avLst>
              <a:gd name="adj" fmla="val 3810"/>
            </a:avLst>
          </a:prstGeom>
          <a:solidFill>
            <a:srgbClr val="3B82F6">
              <a:alpha val="10000"/>
            </a:srgbClr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83226" y="1184077"/>
            <a:ext cx="233839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BBF2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傍晚 · 复盘+归档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83226" y="1460302"/>
            <a:ext cx="233839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检查输出、优化Prompt、归档成果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4286399"/>
            <a:ext cx="4095750" cy="666601"/>
          </a:xfrm>
          <a:prstGeom prst="roundRect">
            <a:avLst>
              <a:gd name="adj" fmla="val 1524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7475" y="4422874"/>
            <a:ext cx="389925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CA5A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旧模式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7475" y="4654600"/>
            <a:ext cx="389925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900" dirty="0">
                <a:solidFill>
                  <a:srgbClr val="CBD5E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招5人客服 + 3人内容 + 2人数据分析 管理成本高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7250" y="4286399"/>
            <a:ext cx="4095750" cy="666601"/>
          </a:xfrm>
          <a:prstGeom prst="roundRect">
            <a:avLst>
              <a:gd name="adj" fmla="val 15242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03725" y="4422874"/>
            <a:ext cx="389925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EE7B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OPC 模式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3725" y="4654600"/>
            <a:ext cx="389925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900" dirty="0">
                <a:solidFill>
                  <a:srgbClr val="CBD5E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1个客服Agent + 1个内容Agent + 1个数据Agent 你只负责决策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新时代的三个认知转变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81000" y="644426"/>
            <a:ext cx="854964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AI 时代不是"学会用工具"那么简单 — 你需要升级底层认知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1000" y="996851"/>
            <a:ext cx="2692301" cy="3368873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3675" y="1209526"/>
            <a:ext cx="2266950" cy="238125"/>
          </a:xfrm>
          <a:prstGeom prst="roundRect">
            <a:avLst>
              <a:gd name="adj" fmla="val 21333"/>
            </a:avLst>
          </a:prstGeom>
          <a:solidFill>
            <a:srgbClr val="FEE2E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5176" y="1247626"/>
            <a:ext cx="2105227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91B1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AI 是工具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3675" y="1549152"/>
            <a:ext cx="2312289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B82F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3675" y="1888778"/>
            <a:ext cx="2266950" cy="238125"/>
          </a:xfrm>
          <a:prstGeom prst="roundRect">
            <a:avLst>
              <a:gd name="adj" fmla="val 21333"/>
            </a:avLst>
          </a:prstGeom>
          <a:solidFill>
            <a:srgbClr val="DCFCE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5176" y="1926878"/>
            <a:ext cx="2105227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6653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AI 是同事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3675" y="2228404"/>
            <a:ext cx="2312289" cy="19246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不再是"用 AI 帮我干活"，而是"我和 AI 组成一个团队"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25701" y="996851"/>
            <a:ext cx="2692450" cy="3368873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38376" y="1209526"/>
            <a:ext cx="2267099" cy="238125"/>
          </a:xfrm>
          <a:prstGeom prst="roundRect">
            <a:avLst>
              <a:gd name="adj" fmla="val 21333"/>
            </a:avLst>
          </a:prstGeom>
          <a:solidFill>
            <a:srgbClr val="FEE2E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39877" y="1247626"/>
            <a:ext cx="210537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91B1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编程力最重要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38376" y="1549152"/>
            <a:ext cx="2312441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B82F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38376" y="1888778"/>
            <a:ext cx="2267099" cy="238125"/>
          </a:xfrm>
          <a:prstGeom prst="roundRect">
            <a:avLst>
              <a:gd name="adj" fmla="val 21333"/>
            </a:avLst>
          </a:prstGeom>
          <a:solidFill>
            <a:srgbClr val="DCFCE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39877" y="1926878"/>
            <a:ext cx="210537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6653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提问力 &gt; 编程力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38376" y="2228404"/>
            <a:ext cx="2312441" cy="19246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会精准描述问题的人，比会写代码的人更有价值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70550" y="996851"/>
            <a:ext cx="2692450" cy="3368873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83226" y="1209526"/>
            <a:ext cx="2267099" cy="238125"/>
          </a:xfrm>
          <a:prstGeom prst="roundRect">
            <a:avLst>
              <a:gd name="adj" fmla="val 21333"/>
            </a:avLst>
          </a:prstGeom>
          <a:solidFill>
            <a:srgbClr val="FEE2E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84727" y="1247626"/>
            <a:ext cx="210537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91B1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规模化=招更多人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83226" y="1549152"/>
            <a:ext cx="2312441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B82F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83226" y="1888778"/>
            <a:ext cx="2267099" cy="238125"/>
          </a:xfrm>
          <a:prstGeom prst="roundRect">
            <a:avLst>
              <a:gd name="adj" fmla="val 21333"/>
            </a:avLst>
          </a:prstGeom>
          <a:solidFill>
            <a:srgbClr val="DCFCE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84727" y="1926878"/>
            <a:ext cx="210537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6653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一人公司时代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83226" y="2228404"/>
            <a:ext cx="2312441" cy="19246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竞争力不是你有多少人，而是你有多少Agent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1000" y="4518124"/>
            <a:ext cx="2709267" cy="434876"/>
          </a:xfrm>
          <a:prstGeom prst="roundRect">
            <a:avLst>
              <a:gd name="adj" fmla="val 17522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7475" y="4654600"/>
            <a:ext cx="248504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对个人</a:t>
            </a:r>
            <a:r>
              <a:rPr lang="en-US" sz="900" dirty="0">
                <a:solidFill>
                  <a:srgbClr val="1E40A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：学了AI的人会替代没学的你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17218" y="4518124"/>
            <a:ext cx="2709416" cy="434876"/>
          </a:xfrm>
          <a:prstGeom prst="roundRect">
            <a:avLst>
              <a:gd name="adj" fmla="val 17522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53693" y="4654600"/>
            <a:ext cx="248519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对企业</a:t>
            </a:r>
            <a:r>
              <a:rPr lang="en-US" sz="900" dirty="0">
                <a:solidFill>
                  <a:srgbClr val="1E40A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：不是要不要用，是多快能用起来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53584" y="4518124"/>
            <a:ext cx="2709416" cy="434876"/>
          </a:xfrm>
          <a:prstGeom prst="roundRect">
            <a:avLst>
              <a:gd name="adj" fmla="val 17522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90059" y="4654600"/>
            <a:ext cx="248519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对行业</a:t>
            </a:r>
            <a:r>
              <a:rPr lang="en-US" sz="900" dirty="0">
                <a:solidFill>
                  <a:srgbClr val="1E40A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：$1T市场2027年到来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全栈架构 × 学习地图 — 看完技术体系，对照学习路径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81000" y="644426"/>
            <a:ext cx="854964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CSGHub → 学会选模型；AgenticHub → 学会搭Agent；OpenClaw → 学会部署；OPC → 学会变现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学习地图 — AI 时代能力地图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81000" y="644426"/>
            <a:ext cx="854964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四个能力层级，从"会用"到"会变现"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1000" y="977801"/>
            <a:ext cx="2000250" cy="3660874"/>
          </a:xfrm>
          <a:prstGeom prst="roundRect">
            <a:avLst>
              <a:gd name="adj" fmla="val 5079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8226" y="1165027"/>
            <a:ext cx="1658314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40A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LEVEL 1 · 基础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8226" y="1441252"/>
            <a:ext cx="165831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Prompt 工程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8226" y="1746052"/>
            <a:ext cx="1625798" cy="2464296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结构化提问</a:t>
            </a:r>
            <a:endParaRPr lang="en-US" sz="800" dirty="0"/>
          </a:p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角色设定与约束</a:t>
            </a:r>
            <a:endParaRPr lang="en-US" sz="800" dirty="0"/>
          </a:p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Chain-of-Thought</a:t>
            </a:r>
            <a:endParaRPr lang="en-US" sz="800" dirty="0"/>
          </a:p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输出格式控制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8226" y="4286548"/>
            <a:ext cx="1625798" cy="164902"/>
          </a:xfrm>
          <a:prstGeom prst="roundRect">
            <a:avLst>
              <a:gd name="adj" fmla="val 30806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4426" y="4311848"/>
            <a:ext cx="1502866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E40A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Course 1-2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508200" y="977801"/>
            <a:ext cx="2000399" cy="3660874"/>
          </a:xfrm>
          <a:prstGeom prst="roundRect">
            <a:avLst>
              <a:gd name="adj" fmla="val 5079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95426" y="1165027"/>
            <a:ext cx="165846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5F4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LEVEL 2 · 进阶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5426" y="1441252"/>
            <a:ext cx="165846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Agent 构建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5426" y="1746052"/>
            <a:ext cx="1625947" cy="2464296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Agent 架构设计</a:t>
            </a:r>
            <a:endParaRPr lang="en-US" sz="800" dirty="0"/>
          </a:p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Skill 开发调试</a:t>
            </a:r>
            <a:endParaRPr lang="en-US" sz="800" dirty="0"/>
          </a:p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多 Agent 协作</a:t>
            </a:r>
            <a:endParaRPr lang="en-US" sz="800" dirty="0"/>
          </a:p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安全与权限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95426" y="4286548"/>
            <a:ext cx="1625947" cy="164902"/>
          </a:xfrm>
          <a:prstGeom prst="roundRect">
            <a:avLst>
              <a:gd name="adj" fmla="val 30806"/>
            </a:avLst>
          </a:prstGeom>
          <a:solidFill>
            <a:srgbClr val="DCFCE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771626" y="4311848"/>
            <a:ext cx="1503018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65F4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Course 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35550" y="977801"/>
            <a:ext cx="2000250" cy="3660874"/>
          </a:xfrm>
          <a:prstGeom prst="roundRect">
            <a:avLst>
              <a:gd name="adj" fmla="val 5079"/>
            </a:avLst>
          </a:prstGeom>
          <a:solidFill>
            <a:srgbClr val="FFF7ED"/>
          </a:solidFill>
          <a:ln w="9525">
            <a:solidFill>
              <a:srgbClr val="FDBA7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22775" y="1165027"/>
            <a:ext cx="1658314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2400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LEVEL 3 · 应用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22775" y="1441252"/>
            <a:ext cx="165831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场景落地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22775" y="1746052"/>
            <a:ext cx="1625798" cy="2464296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业务需求分析</a:t>
            </a:r>
            <a:endParaRPr lang="en-US" sz="800" dirty="0"/>
          </a:p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模型选型评估</a:t>
            </a:r>
            <a:endParaRPr lang="en-US" sz="800" dirty="0"/>
          </a:p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部署与运维</a:t>
            </a:r>
            <a:endParaRPr lang="en-US" sz="800" dirty="0"/>
          </a:p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效果度量迭代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22775" y="4286548"/>
            <a:ext cx="1625798" cy="164902"/>
          </a:xfrm>
          <a:prstGeom prst="roundRect">
            <a:avLst>
              <a:gd name="adj" fmla="val 30806"/>
            </a:avLst>
          </a:prstGeom>
          <a:solidFill>
            <a:srgbClr val="FFEDD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98975" y="4311848"/>
            <a:ext cx="1502866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2400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Course 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2750" y="977801"/>
            <a:ext cx="2000250" cy="3660874"/>
          </a:xfrm>
          <a:prstGeom prst="roundRect">
            <a:avLst>
              <a:gd name="adj" fmla="val 5079"/>
            </a:avLst>
          </a:prstGeom>
          <a:solidFill>
            <a:srgbClr val="FAF5FF"/>
          </a:solidFill>
          <a:ln w="9525">
            <a:solidFill>
              <a:srgbClr val="D8B4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949976" y="1165027"/>
            <a:ext cx="1658314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21A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LEVEL 4 · 商业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976" y="1441252"/>
            <a:ext cx="165831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AI 创业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976" y="1746052"/>
            <a:ext cx="1625798" cy="2464296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AI 产品设计</a:t>
            </a:r>
            <a:endParaRPr lang="en-US" sz="800" dirty="0"/>
          </a:p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商业模式构建</a:t>
            </a:r>
            <a:endParaRPr lang="en-US" sz="800" dirty="0"/>
          </a:p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OPC 运营体系</a:t>
            </a:r>
            <a:endParaRPr lang="en-US" sz="800" dirty="0"/>
          </a:p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规模化增长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49976" y="4286548"/>
            <a:ext cx="1625798" cy="164902"/>
          </a:xfrm>
          <a:prstGeom prst="roundRect">
            <a:avLst>
              <a:gd name="adj" fmla="val 30806"/>
            </a:avLst>
          </a:prstGeom>
          <a:solidFill>
            <a:srgbClr val="F3E8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026176" y="4311848"/>
            <a:ext cx="1502866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21A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Course 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97180" y="4791075"/>
            <a:ext cx="854964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核心原则：先把 Level 1 做到 80 分，再向上攀爬。每一层都需要实战项目来巩固。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30 天行动计划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81000" y="644426"/>
            <a:ext cx="854964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四周从零到能独立落地一个 AI Agent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1000" y="977801"/>
            <a:ext cx="2000250" cy="3698974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0525" y="987326"/>
            <a:ext cx="1981200" cy="403027"/>
          </a:xfrm>
          <a:prstGeom prst="roundRect">
            <a:avLst>
              <a:gd name="adj" fmla="val 18907"/>
            </a:avLst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4244" y="1088827"/>
            <a:ext cx="181376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WEEK 1 · 认知+Prompt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8226" y="1517303"/>
            <a:ext cx="1625798" cy="2651671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了解 AI/LLM/Agent 核心概念</a:t>
            </a:r>
            <a:endParaRPr lang="en-US" sz="900" dirty="0"/>
          </a:p>
          <a:p>
            <a:pPr marL="88900" indent="-889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掌握 Prompt 基础技巧</a:t>
            </a:r>
            <a:endParaRPr lang="en-US" sz="900" dirty="0"/>
          </a:p>
          <a:p>
            <a:pPr marL="88900" indent="-889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用 AI 完成3个实际任务</a:t>
            </a:r>
            <a:endParaRPr lang="en-US" sz="900" dirty="0"/>
          </a:p>
          <a:p>
            <a:pPr marL="88900" indent="-889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对比3个主流模型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8226" y="4245173"/>
            <a:ext cx="1625798" cy="244376"/>
          </a:xfrm>
          <a:prstGeom prst="roundRect">
            <a:avLst>
              <a:gd name="adj" fmla="val 20788"/>
            </a:avLst>
          </a:prstGeom>
          <a:solidFill>
            <a:srgbClr val="EFF6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9727" y="4295924"/>
            <a:ext cx="145125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E40A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产出：AI概念小词典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508200" y="977801"/>
            <a:ext cx="2000399" cy="3698974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17725" y="987326"/>
            <a:ext cx="1981349" cy="403027"/>
          </a:xfrm>
          <a:prstGeom prst="roundRect">
            <a:avLst>
              <a:gd name="adj" fmla="val 18907"/>
            </a:avLst>
          </a:prstGeom>
          <a:solidFill>
            <a:srgbClr val="DCFCE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01443" y="1088827"/>
            <a:ext cx="1813914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WEEK 2 · Agent+接业务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5426" y="1517303"/>
            <a:ext cx="1625947" cy="2651671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安装并配置 OpenClaw</a:t>
            </a:r>
            <a:endParaRPr lang="en-US" sz="900" dirty="0"/>
          </a:p>
          <a:p>
            <a:pPr marL="88900" indent="-889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在 CSGHub 选一个模型</a:t>
            </a:r>
            <a:endParaRPr lang="en-US" sz="900" dirty="0"/>
          </a:p>
          <a:p>
            <a:pPr marL="88900" indent="-889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安装 Agent 方案</a:t>
            </a:r>
            <a:endParaRPr lang="en-US" sz="900" dirty="0"/>
          </a:p>
          <a:p>
            <a:pPr marL="88900" indent="-889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接入真实业务渠道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95426" y="4245173"/>
            <a:ext cx="1625947" cy="244376"/>
          </a:xfrm>
          <a:prstGeom prst="roundRect">
            <a:avLst>
              <a:gd name="adj" fmla="val 20788"/>
            </a:avLst>
          </a:prstGeom>
          <a:solidFill>
            <a:srgbClr val="F0FDF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796927" y="4295924"/>
            <a:ext cx="14514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65F4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产出：一个可运行的Agent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35550" y="977801"/>
            <a:ext cx="2000250" cy="3698974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45075" y="987326"/>
            <a:ext cx="1981200" cy="403027"/>
          </a:xfrm>
          <a:prstGeom prst="roundRect">
            <a:avLst>
              <a:gd name="adj" fmla="val 18907"/>
            </a:avLst>
          </a:prstGeom>
          <a:solidFill>
            <a:srgbClr val="FFEDD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28793" y="1088827"/>
            <a:ext cx="181376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WEEK 3 · 选修深化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22775" y="1517303"/>
            <a:ext cx="1625798" cy="2651671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自定义 Skill 开发</a:t>
            </a:r>
            <a:endParaRPr lang="en-US" sz="900" dirty="0"/>
          </a:p>
          <a:p>
            <a:pPr marL="88900" indent="-889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多 Agent 协作配置</a:t>
            </a:r>
            <a:endParaRPr lang="en-US" sz="900" dirty="0"/>
          </a:p>
          <a:p>
            <a:pPr marL="88900" indent="-889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数据接入与知识库</a:t>
            </a:r>
            <a:endParaRPr lang="en-US" sz="900" dirty="0"/>
          </a:p>
          <a:p>
            <a:pPr marL="88900" indent="-889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安全与权限设置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22775" y="4245173"/>
            <a:ext cx="1625798" cy="244376"/>
          </a:xfrm>
          <a:prstGeom prst="roundRect">
            <a:avLst>
              <a:gd name="adj" fmla="val 20788"/>
            </a:avLst>
          </a:prstGeom>
          <a:solidFill>
            <a:srgbClr val="FFF7E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24276" y="4295924"/>
            <a:ext cx="145125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2400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产出：模型横评表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2750" y="977801"/>
            <a:ext cx="2000250" cy="3698974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772275" y="987326"/>
            <a:ext cx="1981200" cy="403027"/>
          </a:xfrm>
          <a:prstGeom prst="roundRect">
            <a:avLst>
              <a:gd name="adj" fmla="val 18907"/>
            </a:avLst>
          </a:prstGeom>
          <a:solidFill>
            <a:srgbClr val="F3E8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855994" y="1088827"/>
            <a:ext cx="181376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21A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WEEK 4 · 毕业项目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976" y="1517303"/>
            <a:ext cx="1625798" cy="2651671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选定业务场景</a:t>
            </a:r>
            <a:endParaRPr lang="en-US" sz="900" dirty="0"/>
          </a:p>
          <a:p>
            <a:pPr marL="88900" indent="-889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完成选→装→接全流程</a:t>
            </a:r>
            <a:endParaRPr lang="en-US" sz="900" dirty="0"/>
          </a:p>
          <a:p>
            <a:pPr marL="88900" indent="-889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编写效果评估报告</a:t>
            </a:r>
            <a:endParaRPr lang="en-US" sz="900" dirty="0"/>
          </a:p>
          <a:p>
            <a:pPr marL="88900" indent="-889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制作展示 Demo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49976" y="4245173"/>
            <a:ext cx="1625798" cy="244376"/>
          </a:xfrm>
          <a:prstGeom prst="roundRect">
            <a:avLst>
              <a:gd name="adj" fmla="val 20788"/>
            </a:avLst>
          </a:prstGeom>
          <a:solidFill>
            <a:srgbClr val="FAF5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051477" y="4295924"/>
            <a:ext cx="145125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21A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产出：AI机会画布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97180" y="4829175"/>
            <a:ext cx="854964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学习心法：不要追求"学完再做" — 每周都要有实际产出。边用边学，在真实场景中碰壁、解决、迭代。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3575"/>
            <a:ext cx="740420" cy="282476"/>
          </a:xfrm>
          <a:prstGeom prst="roundRect">
            <a:avLst>
              <a:gd name="adj" fmla="val 26976"/>
            </a:avLst>
          </a:prstGeom>
          <a:solidFill>
            <a:srgbClr val="10B98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14325"/>
            <a:ext cx="44433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作业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48370" y="228600"/>
            <a:ext cx="3095449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AI 机会画布 — 一起来做！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1000" y="1708398"/>
            <a:ext cx="414533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A7F3D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任务：分析你所在行业，找3个AI Agent落地场景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1000" y="2035373"/>
            <a:ext cx="4064050" cy="584002"/>
          </a:xfrm>
          <a:prstGeom prst="roundRect">
            <a:avLst>
              <a:gd name="adj" fmla="val 13048"/>
            </a:avLst>
          </a:prstGeom>
          <a:solidFill>
            <a:srgbClr val="FFFFFF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2136874"/>
            <a:ext cx="383443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7F3D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Step 1</a:t>
            </a:r>
            <a:r>
              <a:rPr lang="en-US" sz="1000" dirty="0">
                <a:solidFill>
                  <a:srgbClr val="A7F3D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列出你的行业日常痛点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3400" y="2355949"/>
            <a:ext cx="383443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D6D3D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什么事重复做？什么事耗时长？什么事容易出错？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2695575"/>
            <a:ext cx="4064050" cy="584002"/>
          </a:xfrm>
          <a:prstGeom prst="roundRect">
            <a:avLst>
              <a:gd name="adj" fmla="val 13048"/>
            </a:avLst>
          </a:prstGeom>
          <a:solidFill>
            <a:srgbClr val="FFFFFF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3400" y="2797076"/>
            <a:ext cx="383443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7F3D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Step 2</a:t>
            </a:r>
            <a:r>
              <a:rPr lang="en-US" sz="1000" dirty="0">
                <a:solidFill>
                  <a:srgbClr val="A7F3D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筛选3个最适合AI的场景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3400" y="3016151"/>
            <a:ext cx="383443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D6D3D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判断标准：数据可获取 + 规则可定义 + ROI够高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3355777"/>
            <a:ext cx="4064050" cy="584002"/>
          </a:xfrm>
          <a:prstGeom prst="roundRect">
            <a:avLst>
              <a:gd name="adj" fmla="val 13048"/>
            </a:avLst>
          </a:prstGeom>
          <a:solidFill>
            <a:srgbClr val="FFFFFF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3400" y="3457277"/>
            <a:ext cx="383443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7F3D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Step 3</a:t>
            </a:r>
            <a:r>
              <a:rPr lang="en-US" sz="1000" dirty="0">
                <a:solidFill>
                  <a:srgbClr val="A7F3D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填写机会画布（右侧模板）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3400" y="3676352"/>
            <a:ext cx="383443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D6D3D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每个场景填：场景 x 痛点 x Agent方案 x 预期效果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98950" y="1916311"/>
            <a:ext cx="4064050" cy="1653778"/>
          </a:xfrm>
          <a:prstGeom prst="roundRect">
            <a:avLst>
              <a:gd name="adj" fmla="val 4608"/>
            </a:avLst>
          </a:prstGeom>
          <a:solidFill>
            <a:srgbClr val="FFFFFF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25901" y="2043261"/>
            <a:ext cx="388635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34D39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AI 机会画布模板（示范：教育行业）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25901" y="2325737"/>
            <a:ext cx="1854250" cy="482501"/>
          </a:xfrm>
          <a:prstGeom prst="roundRect">
            <a:avLst>
              <a:gd name="adj" fmla="val 10528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11626" y="2411462"/>
            <a:ext cx="171645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7F3D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场景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11626" y="2579638"/>
            <a:ext cx="171645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800" dirty="0">
                <a:solidFill>
                  <a:srgbClr val="D6D3D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课后答疑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81651" y="2325737"/>
            <a:ext cx="1854398" cy="482501"/>
          </a:xfrm>
          <a:prstGeom prst="roundRect">
            <a:avLst>
              <a:gd name="adj" fmla="val 10528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67376" y="2411462"/>
            <a:ext cx="171660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7F3D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痛点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67376" y="2579638"/>
            <a:ext cx="171660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800" dirty="0">
                <a:solidFill>
                  <a:srgbClr val="D6D3D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老师无法24h回复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25901" y="2884438"/>
            <a:ext cx="1854250" cy="482501"/>
          </a:xfrm>
          <a:prstGeom prst="roundRect">
            <a:avLst>
              <a:gd name="adj" fmla="val 10528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11626" y="2970163"/>
            <a:ext cx="171645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7F3D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Agent方案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11626" y="3138339"/>
            <a:ext cx="171645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800" dirty="0">
                <a:solidFill>
                  <a:srgbClr val="D6D3D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RAG+课件知识库 答疑Agent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81651" y="2884438"/>
            <a:ext cx="1854398" cy="482501"/>
          </a:xfrm>
          <a:prstGeom prst="roundRect">
            <a:avLst>
              <a:gd name="adj" fmla="val 10528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867376" y="2970163"/>
            <a:ext cx="171660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7F3D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预期效果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67376" y="3138339"/>
            <a:ext cx="171660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800" dirty="0">
                <a:solidFill>
                  <a:srgbClr val="D6D3D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7x24即时答疑 满意度+50%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98950" y="3747790"/>
            <a:ext cx="414533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900" dirty="0">
                <a:solidFill>
                  <a:srgbClr val="A8A29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锻炼：场景识别能力 — 知道哪些场景适合AI，是最稀缺的能力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740" y="790873"/>
            <a:ext cx="4022521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CONGRATULATIONS!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86371" y="1320998"/>
            <a:ext cx="1771257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0A5F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Course 1 完成！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24662" y="1736824"/>
            <a:ext cx="2294528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你已掌握 AI 落地的完整认知框架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76946" y="2200275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3B82F6">
              <a:alpha val="2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677811" y="2365325"/>
            <a:ext cx="23317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1F5F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470597" y="2885926"/>
            <a:ext cx="64759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行业趋势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65748" y="2200275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10B981">
              <a:alpha val="2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66612" y="2365325"/>
            <a:ext cx="23317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1F5F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59399" y="2885926"/>
            <a:ext cx="64759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全栈架构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54550" y="2200275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F59E0B">
              <a:alpha val="2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55414" y="2365325"/>
            <a:ext cx="23317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1F5F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48201" y="2885926"/>
            <a:ext cx="64759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认知升级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43351" y="2200275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8B5CF6">
              <a:alpha val="2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44216" y="2365325"/>
            <a:ext cx="23317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1F5F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🗺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37002" y="2885926"/>
            <a:ext cx="64759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学习地图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32153" y="2200275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EF4444">
              <a:alpha val="2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33017" y="2365325"/>
            <a:ext cx="23317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1F5F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🎯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25804" y="2885926"/>
            <a:ext cx="64759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实战作业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03520" y="3428702"/>
            <a:ext cx="2536960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工具已经就位，接下来是你的主场。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72903" y="3828752"/>
            <a:ext cx="4598045" cy="523875"/>
          </a:xfrm>
          <a:prstGeom prst="roundRect">
            <a:avLst>
              <a:gd name="adj" fmla="val 19394"/>
            </a:avLst>
          </a:prstGeom>
          <a:solidFill>
            <a:srgbClr val="3B82F6">
              <a:alpha val="15000"/>
            </a:srgbClr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25258" y="3990677"/>
            <a:ext cx="3893335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NEXT →</a:t>
            </a:r>
            <a:r>
              <a:rPr lang="en-US" sz="1100" dirty="0">
                <a:solidFill>
                  <a:srgbClr val="60A5F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Course 2 · Prompt Engineering 进阶 · 讲师：孙天崇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3992</Words>
  <Application>WPS 演示</Application>
  <PresentationFormat>On-screen Show (16:9)</PresentationFormat>
  <Paragraphs>466</Paragraphs>
  <Slides>19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宋体</vt:lpstr>
      <vt:lpstr>Wingdings</vt:lpstr>
      <vt:lpstr>Arial</vt:lpstr>
      <vt:lpstr>Arial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Course C1-5 全栈架构 + 学习地图</dc:title>
  <dc:creator>陈放 · OpenCSG</dc:creator>
  <dc:subject>PptxGenJS Presentation</dc:subject>
  <cp:lastModifiedBy>Frank</cp:lastModifiedBy>
  <cp:revision>10</cp:revision>
  <dcterms:created xsi:type="dcterms:W3CDTF">2026-03-28T15:55:31Z</dcterms:created>
  <dcterms:modified xsi:type="dcterms:W3CDTF">2026-03-28T15:55:31Z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641E34021A23DFDB66E0C669BF9A0CDF_42</vt:lpwstr>
  </property>
  <property fmtid="{D5CDD505-2E9C-101B-9397-08002B2CF9AE}" pid="3" name="KSOProductBuildVer">
    <vt:lpwstr>2052-12.1.24031.24031</vt:lpwstr>
  </property>
</Properties>
</file>