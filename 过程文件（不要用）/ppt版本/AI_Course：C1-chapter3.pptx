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72" r:id="rId4"/>
    <p:sldId id="306" r:id="rId6"/>
    <p:sldId id="325" r:id="rId7"/>
    <p:sldId id="326" r:id="rId8"/>
    <p:sldId id="308" r:id="rId9"/>
    <p:sldId id="309" r:id="rId10"/>
    <p:sldId id="349" r:id="rId11"/>
    <p:sldId id="350" r:id="rId12"/>
    <p:sldId id="351" r:id="rId13"/>
    <p:sldId id="352" r:id="rId14"/>
    <p:sldId id="353" r:id="rId15"/>
    <p:sldId id="354" r:id="rId16"/>
    <p:sldId id="311" r:id="rId17"/>
    <p:sldId id="355" r:id="rId18"/>
    <p:sldId id="356" r:id="rId19"/>
    <p:sldId id="357" r:id="rId20"/>
    <p:sldId id="358" r:id="rId21"/>
    <p:sldId id="360" r:id="rId22"/>
    <p:sldId id="359" r:id="rId23"/>
    <p:sldId id="313" r:id="rId24"/>
    <p:sldId id="361" r:id="rId25"/>
    <p:sldId id="315" r:id="rId26"/>
    <p:sldId id="368" r:id="rId27"/>
    <p:sldId id="363" r:id="rId28"/>
    <p:sldId id="369" r:id="rId29"/>
    <p:sldId id="370" r:id="rId30"/>
    <p:sldId id="371" r:id="rId31"/>
    <p:sldId id="372" r:id="rId32"/>
    <p:sldId id="379" r:id="rId33"/>
    <p:sldId id="373" r:id="rId34"/>
    <p:sldId id="374" r:id="rId35"/>
    <p:sldId id="375" r:id="rId36"/>
    <p:sldId id="376" r:id="rId37"/>
    <p:sldId id="377" r:id="rId38"/>
    <p:sldId id="378" r:id="rId39"/>
    <p:sldId id="316" r:id="rId40"/>
    <p:sldId id="318" r:id="rId41"/>
    <p:sldId id="322" r:id="rId43"/>
    <p:sldId id="317" r:id="rId42"/>
    <p:sldId id="321" r:id="rId4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521415D9-36F7-43E2-AB2F-B90AF26B5E84}">
      <p14:sectionLst xmlns:p14="http://schemas.microsoft.com/office/powerpoint/2010/main">
        <p14:section name="默认节" id="{81a48e9f-511a-49b1-b474-5b2113344617}">
          <p14:sldIdLst>
            <p14:sldId id="256"/>
            <p14:sldId id="272"/>
            <p14:sldId id="306"/>
            <p14:sldId id="325"/>
            <p14:sldId id="326"/>
            <p14:sldId id="308"/>
            <p14:sldId id="309"/>
            <p14:sldId id="349"/>
            <p14:sldId id="350"/>
            <p14:sldId id="351"/>
            <p14:sldId id="352"/>
            <p14:sldId id="353"/>
            <p14:sldId id="354"/>
            <p14:sldId id="311"/>
            <p14:sldId id="355"/>
            <p14:sldId id="356"/>
            <p14:sldId id="357"/>
            <p14:sldId id="358"/>
            <p14:sldId id="360"/>
            <p14:sldId id="359"/>
            <p14:sldId id="313"/>
            <p14:sldId id="361"/>
            <p14:sldId id="315"/>
            <p14:sldId id="368"/>
            <p14:sldId id="363"/>
            <p14:sldId id="369"/>
            <p14:sldId id="370"/>
            <p14:sldId id="371"/>
            <p14:sldId id="372"/>
            <p14:sldId id="379"/>
            <p14:sldId id="373"/>
            <p14:sldId id="374"/>
            <p14:sldId id="375"/>
            <p14:sldId id="376"/>
            <p14:sldId id="377"/>
            <p14:sldId id="378"/>
            <p14:sldId id="316"/>
            <p14:sldId id="322"/>
            <p14:sldId id="318"/>
            <p14:sldId id="321"/>
            <p14:sldId id="317"/>
          </p14:sldIdLst>
        </p14:section>
        <p14:section name="无标题节" id="{99c22c63-91e3-403b-8b64-a3f4419cb954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出题后暂停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【互动】让学员投票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确保排版清晰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"给你判断框架"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sldNum="0" hdr="0" ftr="0" dt="0"/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hf sldNum="0" hdr="0" ft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image" Target="../media/image1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1.png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image" Target="../media/image15.png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image" Target="../media/image14.png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13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1.xml.rels><?xml version="1.0" encoding="UTF-8"?>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7.png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22.xml.rels><?xml version="1.0" encoding="UTF-8"?>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23.xml.rels><?xml version="1.0" encoding="UTF-8"?>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4.png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frankfika.github.io/model-score-table/" TargetMode="Externa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1.xml.rels><?xml version="1.0" encoding="UTF-8"?>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hueOff val="198858"/>
                <a:satOff val="-2073"/>
                <a:lumOff val="20614"/>
              </a:schemeClr>
            </a:gs>
            <a:gs pos="50000">
              <a:srgbClr val="A1C1E5"/>
            </a:gs>
            <a:gs pos="100000">
              <a:schemeClr val="accent5">
                <a:hueOff val="173799"/>
                <a:satOff val="1446"/>
                <a:lumOff val="13545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26464" y="624840"/>
            <a:ext cx="7291071" cy="388874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1" name="Text 1"/>
          <p:cNvSpPr txBox="1"/>
          <p:nvPr/>
        </p:nvSpPr>
        <p:spPr>
          <a:xfrm>
            <a:off x="1785938" y="1285875"/>
            <a:ext cx="670560" cy="46164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600"/>
              </a:lnSpc>
              <a:defRPr sz="3200" b="1">
                <a:solidFill>
                  <a:srgbClr val="A5B4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r>
              <a:rPr sz="4000"/>
              <a:t>C1</a:t>
            </a:r>
            <a:endParaRPr sz="4000"/>
          </a:p>
        </p:txBody>
      </p:sp>
      <p:sp>
        <p:nvSpPr>
          <p:cNvPr id="22" name="Shape 2"/>
          <p:cNvSpPr/>
          <p:nvPr/>
        </p:nvSpPr>
        <p:spPr>
          <a:xfrm>
            <a:off x="2430660" y="1392137"/>
            <a:ext cx="737593" cy="244674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>
            <a:endParaRPr sz="2400"/>
          </a:p>
        </p:txBody>
      </p:sp>
      <p:sp>
        <p:nvSpPr>
          <p:cNvPr id="23" name="Text 3"/>
          <p:cNvSpPr txBox="1"/>
          <p:nvPr/>
        </p:nvSpPr>
        <p:spPr>
          <a:xfrm>
            <a:off x="2515870" y="1391920"/>
            <a:ext cx="1499870" cy="216535"/>
          </a:xfrm>
          <a:prstGeom prst="rect">
            <a:avLst/>
          </a:prstGeom>
          <a:ln w="12700">
            <a:miter lim="400000"/>
          </a:ln>
        </p:spPr>
        <p:txBody>
          <a:bodyPr wrap="square" lIns="51053" tIns="51053" rIns="51053" bIns="51053">
            <a:spAutoFit/>
          </a:bodyPr>
          <a:lstStyle>
            <a:lvl1pPr>
              <a:lnSpc>
                <a:spcPts val="900"/>
              </a:lnSpc>
              <a:defRPr sz="700" spc="1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900" b="1"/>
              <a:t>必修 · 5节</a:t>
            </a:r>
            <a:endParaRPr sz="900" b="1"/>
          </a:p>
        </p:txBody>
      </p:sp>
      <p:sp>
        <p:nvSpPr>
          <p:cNvPr id="24" name="Text 4"/>
          <p:cNvSpPr txBox="1"/>
          <p:nvPr/>
        </p:nvSpPr>
        <p:spPr>
          <a:xfrm>
            <a:off x="1785938" y="2329029"/>
            <a:ext cx="3242945" cy="48704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2800" b="1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 algn="l"/>
            <a:r>
              <a:rPr lang="en-US" altLang="zh-CN" sz="3200"/>
              <a:t>AI</a:t>
            </a:r>
            <a:r>
              <a:rPr lang="en-US" altLang="en-US" sz="3200"/>
              <a:t>⼯</a:t>
            </a:r>
            <a:r>
              <a:rPr lang="zh-CN" altLang="en-US" sz="3200"/>
              <a:t>具与核</a:t>
            </a:r>
            <a:r>
              <a:rPr lang="en-US" altLang="en-US" sz="3200"/>
              <a:t>⼼</a:t>
            </a:r>
            <a:r>
              <a:rPr lang="zh-CN" altLang="en-US" sz="3200"/>
              <a:t>概念</a:t>
            </a:r>
            <a:endParaRPr lang="zh-CN" altLang="en-US" sz="3200"/>
          </a:p>
        </p:txBody>
      </p:sp>
      <p:sp>
        <p:nvSpPr>
          <p:cNvPr id="25" name="Text 5"/>
          <p:cNvSpPr txBox="1"/>
          <p:nvPr/>
        </p:nvSpPr>
        <p:spPr>
          <a:xfrm>
            <a:off x="1785938" y="2923383"/>
            <a:ext cx="1950720" cy="2051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00"/>
              <a:t>从零建立对AI的完整认知</a:t>
            </a:r>
            <a:endParaRPr sz="1400"/>
          </a:p>
        </p:txBody>
      </p:sp>
      <p:pic>
        <p:nvPicPr>
          <p:cNvPr id="26" name="Image 1" descr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233" y="2393156"/>
            <a:ext cx="535782" cy="7143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" name="Text 6"/>
          <p:cNvSpPr txBox="1"/>
          <p:nvPr/>
        </p:nvSpPr>
        <p:spPr>
          <a:xfrm>
            <a:off x="1786254" y="3693159"/>
            <a:ext cx="1016000" cy="14097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1400"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r>
              <a:rPr sz="1600"/>
              <a:t>讲师：</a:t>
            </a:r>
            <a:r>
              <a:rPr lang="zh-CN" sz="1600"/>
              <a:t>陈放</a:t>
            </a:r>
            <a:endParaRPr lang="zh-CN" sz="1600"/>
          </a:p>
        </p:txBody>
      </p:sp>
      <p:pic>
        <p:nvPicPr>
          <p:cNvPr id="28" name="图片 13" descr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745" y="1708149"/>
            <a:ext cx="1666876" cy="166687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d94be285099de42c573f65d6aab04a88979779b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802" b="80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556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7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85750" y="1096010"/>
            <a:ext cx="2124710" cy="450850"/>
          </a:xfrm>
          <a:custGeom>
            <a:avLst/>
            <a:gdLst/>
            <a:ahLst/>
            <a:cxnLst/>
            <a:rect l="l" t="t" r="r" b="b"/>
            <a:pathLst>
              <a:path w="1371600" h="381000">
                <a:moveTo>
                  <a:pt x="190500" y="0"/>
                </a:moveTo>
                <a:lnTo>
                  <a:pt x="1181100" y="0"/>
                </a:lnTo>
                <a:cubicBezTo>
                  <a:pt x="1286240" y="0"/>
                  <a:pt x="1371600" y="85360"/>
                  <a:pt x="1371600" y="190500"/>
                </a:cubicBezTo>
                <a:lnTo>
                  <a:pt x="1371600" y="190500"/>
                </a:lnTo>
                <a:cubicBezTo>
                  <a:pt x="1371600" y="295640"/>
                  <a:pt x="1286240" y="381000"/>
                  <a:pt x="11811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30885" y="1247140"/>
            <a:ext cx="1234440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CHAPTER 3</a:t>
            </a:r>
            <a:endParaRPr lang="en-US" sz="1200" b="1" kern="0" spc="60" dirty="0">
              <a:solidFill>
                <a:srgbClr val="0071E3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5750" y="1775222"/>
            <a:ext cx="8829675" cy="1285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</a:t>
            </a:r>
            <a:r>
              <a:rPr lang="zh-CN" altLang="en-US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大模型擂台赛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85750" y="3232547"/>
            <a:ext cx="5572125" cy="2786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zh-CN" sz="13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350" dirty="0">
                <a:solidFill>
                  <a:srgbClr val="86868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已经开始替你上班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5750" y="3854054"/>
            <a:ext cx="914400" cy="28575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071E3"/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" name="Shape 12"/>
          <p:cNvSpPr/>
          <p:nvPr/>
        </p:nvSpPr>
        <p:spPr>
          <a:xfrm>
            <a:off x="395605" y="843915"/>
            <a:ext cx="8321675" cy="3673475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77" name="Text 13"/>
          <p:cNvSpPr txBox="1"/>
          <p:nvPr/>
        </p:nvSpPr>
        <p:spPr>
          <a:xfrm>
            <a:off x="1490345" y="1079500"/>
            <a:ext cx="6163310" cy="23558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no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ctr">
              <a:lnSpc>
                <a:spcPts val="3900"/>
              </a:lnSpc>
              <a:spcAft>
                <a:spcPts val="4000"/>
              </a:spcAft>
              <a:buNone/>
            </a:pPr>
            <a:r>
              <a:rPr lang="en-US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"别再问哪个AI更聪明了</a:t>
            </a:r>
            <a:endParaRPr lang="en-US" sz="2000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  <a:p>
            <a:pPr marL="0" indent="0" algn="ctr">
              <a:lnSpc>
                <a:spcPts val="3900"/>
              </a:lnSpc>
              <a:spcAft>
                <a:spcPts val="4000"/>
              </a:spcAft>
              <a:buNone/>
            </a:pPr>
            <a:r>
              <a:rPr lang="en-US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——先问谁更适合你的场景"</a:t>
            </a:r>
            <a:endParaRPr lang="en-US" altLang="zh-CN" sz="2000"/>
          </a:p>
        </p:txBody>
      </p:sp>
      <p:sp>
        <p:nvSpPr>
          <p:cNvPr id="4" name="Text 2"/>
          <p:cNvSpPr/>
          <p:nvPr/>
        </p:nvSpPr>
        <p:spPr>
          <a:xfrm>
            <a:off x="2484388" y="3435350"/>
            <a:ext cx="4156174" cy="774502"/>
          </a:xfrm>
          <a:prstGeom prst="roundRect">
            <a:avLst>
              <a:gd name="adj" fmla="val 16398"/>
            </a:avLst>
          </a:prstGeom>
          <a:solidFill>
            <a:srgbClr val="FFFFFF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11730" y="3613150"/>
            <a:ext cx="4283075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DeepSeek V3.1 ｜ MiniMax-M2.7 ｜ 豆包Doubao-Seed-2.0</a:t>
            </a:r>
            <a:endParaRPr lang="en-US" altLang="zh-CN" sz="1200" dirty="0">
              <a:solidFill>
                <a:srgbClr val="FFFFFF">
                  <a:alpha val="90000"/>
                </a:srgbClr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Kimi-k2 ｜ GPT 5.4 ｜ Claude 4.7</a:t>
            </a:r>
            <a:endParaRPr lang="en-US" altLang="zh-CN" sz="1200" dirty="0">
              <a:solidFill>
                <a:srgbClr val="FFFFFF">
                  <a:alpha val="90000"/>
                </a:srgbClr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4800" y="253901"/>
            <a:ext cx="85344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模型与公司介绍</a:t>
            </a:r>
            <a:endParaRPr lang="en-US" sz="2400" dirty="0"/>
          </a:p>
        </p:txBody>
      </p:sp>
      <p:sp>
        <p:nvSpPr>
          <p:cNvPr id="3" name="DomesticHeader"/>
          <p:cNvSpPr/>
          <p:nvPr/>
        </p:nvSpPr>
        <p:spPr>
          <a:xfrm>
            <a:off x="304800" y="850000"/>
            <a:ext cx="8534400" cy="320000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国产模型</a:t>
            </a:r>
            <a:endParaRPr lang="en-US" sz="1400" dirty="0"/>
          </a:p>
        </p:txBody>
      </p:sp>
      <p:sp>
        <p:nvSpPr>
          <p:cNvPr id="4" name="DomesticModels"/>
          <p:cNvSpPr/>
          <p:nvPr/>
        </p:nvSpPr>
        <p:spPr>
          <a:xfrm>
            <a:off x="304800" y="1200000"/>
            <a:ext cx="8534400" cy="1700000"/>
          </a:xfrm>
          <a:prstGeom prst="rect">
            <a:avLst/>
          </a:prstGeom>
          <a:solidFill>
            <a:srgbClr val="F0FDF9"/>
          </a:solidFill>
        </p:spPr>
        <p:txBody>
          <a:bodyPr wrap="square" lIns="180000" tIns="120000" rIns="180000" bIns="12000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MiniMax-M2.7</a:t>
            </a:r>
            <a:r>
              <a:rPr lang="zh-CN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系宇科技（轻量理想）</a:t>
            </a:r>
            <a:endParaRPr lang="en-US" sz="12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Kimi-k2</a:t>
            </a:r>
            <a:r>
              <a:rPr lang="zh-CN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月之暗面（长文处理强领）</a:t>
            </a:r>
            <a:endParaRPr lang="en-US" sz="12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DeepSeek V3.1</a:t>
            </a:r>
            <a:r>
              <a:rPr lang="zh-CN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幽方量化（推理强，开源企业落地友好）</a:t>
            </a:r>
            <a:endParaRPr lang="en-US" sz="12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豆包Doubao-Seed-2.0</a:t>
            </a:r>
            <a:r>
              <a:rPr lang="zh-CN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字节跳动（多模态体验顺手）</a:t>
            </a:r>
            <a:endParaRPr lang="en-US" sz="1200" dirty="0"/>
          </a:p>
        </p:txBody>
      </p:sp>
      <p:sp>
        <p:nvSpPr>
          <p:cNvPr id="5" name="InternationalHeader"/>
          <p:cNvSpPr/>
          <p:nvPr/>
        </p:nvSpPr>
        <p:spPr>
          <a:xfrm>
            <a:off x="304800" y="3000000"/>
            <a:ext cx="8534400" cy="320000"/>
          </a:xfrm>
          <a:prstGeom prst="rect">
            <a:avLst/>
          </a:prstGeom>
          <a:solidFill>
            <a:srgbClr val="6B728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非国产模型</a:t>
            </a:r>
            <a:endParaRPr lang="en-US" sz="1400" dirty="0"/>
          </a:p>
        </p:txBody>
      </p:sp>
      <p:sp>
        <p:nvSpPr>
          <p:cNvPr id="6" name="InternationalModels"/>
          <p:cNvSpPr/>
          <p:nvPr/>
        </p:nvSpPr>
        <p:spPr>
          <a:xfrm>
            <a:off x="304800" y="3350000"/>
            <a:ext cx="8534400" cy="1200000"/>
          </a:xfrm>
          <a:prstGeom prst="rect">
            <a:avLst/>
          </a:prstGeom>
          <a:solidFill>
            <a:srgbClr val="F9FAFB"/>
          </a:solidFill>
        </p:spPr>
        <p:txBody>
          <a:bodyPr wrap="square" lIns="180000" tIns="120000" rIns="180000" bIns="12000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GPT 5.4</a:t>
            </a:r>
            <a:r>
              <a:rPr lang="zh-CN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OpenAI（元级模型开创者）</a:t>
            </a:r>
            <a:endParaRPr lang="en-US" sz="12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Claude Sonnet 4.7</a:t>
            </a:r>
            <a:r>
              <a:rPr lang="zh-CN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- Anthropic（安全性强，代码与长任务依然强）</a:t>
            </a:r>
            <a:endParaRPr lang="en-US" sz="1200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4932045" y="1313180"/>
            <a:ext cx="826770" cy="71501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6372225" y="2038985"/>
            <a:ext cx="1490345" cy="55943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rcRect t="18492" b="18492"/>
          <a:stretch>
            <a:fillRect/>
          </a:stretch>
        </p:blipFill>
        <p:spPr>
          <a:xfrm>
            <a:off x="6660515" y="1323340"/>
            <a:ext cx="1490345" cy="520065"/>
          </a:xfrm>
          <a:prstGeom prst="rect">
            <a:avLst/>
          </a:prstGeom>
        </p:spPr>
      </p:pic>
      <p:pic>
        <p:nvPicPr>
          <p:cNvPr id="12" name="图片 11" descr="a2cd0c0c-9919-48fc-9ac9-c92965dbd647"/>
          <p:cNvPicPr>
            <a:picLocks noChangeAspect="1"/>
          </p:cNvPicPr>
          <p:nvPr/>
        </p:nvPicPr>
        <p:blipFill>
          <a:blip r:embed="rId4"/>
          <a:srcRect l="11737" t="25728" r="8930" b="27605"/>
          <a:stretch>
            <a:fillRect/>
          </a:stretch>
        </p:blipFill>
        <p:spPr>
          <a:xfrm>
            <a:off x="4641850" y="2209165"/>
            <a:ext cx="1333500" cy="52260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5"/>
          <a:srcRect l="10598" t="31005" r="10579" b="26624"/>
          <a:stretch>
            <a:fillRect/>
          </a:stretch>
        </p:blipFill>
        <p:spPr>
          <a:xfrm>
            <a:off x="5273675" y="3419475"/>
            <a:ext cx="1386840" cy="659765"/>
          </a:xfrm>
          <a:prstGeom prst="rect">
            <a:avLst/>
          </a:prstGeom>
        </p:spPr>
      </p:pic>
      <p:pic>
        <p:nvPicPr>
          <p:cNvPr id="15" name="图片 14" descr="3abbf33c-82b2-40f6-a154-17e804b9678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660" y="3467100"/>
            <a:ext cx="1565275" cy="8845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04800" y="140000"/>
            <a:ext cx="7200000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</a:rPr>
              <a:t>GPT 模型演进时间线：从 GPT-3 到 GPT-5.4</a:t>
            </a:r>
            <a:endParaRPr lang="en-US" sz="2000" dirty="0"/>
          </a:p>
        </p:txBody>
      </p:sp>
      <p:sp>
        <p:nvSpPr>
          <p:cNvPr id="3" name="Subtitle"/>
          <p:cNvSpPr/>
          <p:nvPr/>
        </p:nvSpPr>
        <p:spPr>
          <a:xfrm>
            <a:off x="304800" y="480000"/>
            <a:ext cx="8534400" cy="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</a:rPr>
              <a:t>基础语言模型 → 多模态原生 → 前沿智能体（2020.06 – 2026.03）</a:t>
            </a:r>
            <a:endParaRPr lang="en-US" sz="1000" dirty="0"/>
          </a:p>
        </p:txBody>
      </p:sp>
      <p:graphicFrame>
        <p:nvGraphicFramePr>
          <p:cNvPr id="4" name="GPTTable"/>
          <p:cNvGraphicFramePr>
            <a:graphicFrameLocks noGrp="1"/>
          </p:cNvGraphicFramePr>
          <p:nvPr/>
        </p:nvGraphicFramePr>
        <p:xfrm>
          <a:off x="304800" y="730000"/>
          <a:ext cx="8534400" cy="420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00000"/>
                <a:gridCol w="1100000"/>
                <a:gridCol w="1300000"/>
                <a:gridCol w="4734400"/>
              </a:tblGrid>
              <a:tr h="310000">
                <a:tc>
                  <a:txBody>
                    <a:bodyPr/>
                    <a:lstStyle/>
                    <a:p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Arial" panose="020B0704020202020204"/>
                          <a:ea typeface="Arial" panose="020B0704020202020204"/>
                        </a:rPr>
                        <a:t>模型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36000" marB="36000">
                    <a:solidFill>
                      <a:srgbClr val="238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Arial" panose="020B0704020202020204"/>
                          <a:ea typeface="Arial" panose="020B0704020202020204"/>
                        </a:rPr>
                        <a:t>发布时间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36000" marB="36000">
                    <a:solidFill>
                      <a:srgbClr val="238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Arial" panose="020B0704020202020204"/>
                          <a:ea typeface="Arial" panose="020B0704020202020204"/>
                        </a:rPr>
                        <a:t>规模/上下文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36000" marB="36000">
                    <a:solidFill>
                      <a:srgbClr val="2387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Arial" panose="020B0704020202020204"/>
                          <a:ea typeface="Arial" panose="020B0704020202020204"/>
                        </a:rPr>
                        <a:t>核心变化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36000" marB="36000">
                    <a:solidFill>
                      <a:srgbClr val="23877B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23877B"/>
                          </a:solidFill>
                          <a:latin typeface="Arial" panose="020B0704020202020204"/>
                          <a:ea typeface="Arial" panose="020B0704020202020204"/>
                        </a:rPr>
                        <a:t>GPT-3</a:t>
                      </a:r>
                      <a:endParaRPr lang="en-US" sz="900" b="1" dirty="0">
                        <a:solidFill>
                          <a:srgbClr val="23877B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2020.06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175B / 2K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首个大规模LLM，零样本/少样本学习突破，API开放开启LLM商业化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23877B"/>
                          </a:solidFill>
                          <a:latin typeface="Arial" panose="020B0704020202020204"/>
                          <a:ea typeface="Arial" panose="020B0704020202020204"/>
                        </a:rPr>
                        <a:t>GPT-3.5</a:t>
                      </a:r>
                      <a:endParaRPr lang="en-US" sz="900" b="1" dirty="0">
                        <a:solidFill>
                          <a:srgbClr val="23877B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2022.11.30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175B / 16K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ChatGPT横空出世，2个月破亿用户；引入指令微调+RLHF，引爆全球AI热潮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23877B"/>
                          </a:solidFill>
                          <a:latin typeface="Arial" panose="020B0704020202020204"/>
                          <a:ea typeface="Arial" panose="020B0704020202020204"/>
                        </a:rPr>
                        <a:t>GPT-4</a:t>
                      </a:r>
                      <a:endParaRPr lang="en-US" sz="900" b="1" dirty="0">
                        <a:solidFill>
                          <a:srgbClr val="23877B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2023.03.14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~1.8T MoE / 32K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首次支持图像输入（多模态），准确率比3.5高40%，通过多项专业考试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23877B"/>
                          </a:solidFill>
                          <a:latin typeface="Arial" panose="020B0704020202020204"/>
                          <a:ea typeface="Arial" panose="020B0704020202020204"/>
                        </a:rPr>
                        <a:t>GPT-4 Turbo</a:t>
                      </a:r>
                      <a:endParaRPr lang="en-US" sz="900" b="1" dirty="0">
                        <a:solidFill>
                          <a:srgbClr val="23877B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2023.11.06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128K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上下文窗口跃升至128K，输入降价3倍，支持JSON模式和可复现输出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23877B"/>
                          </a:solidFill>
                          <a:latin typeface="Arial" panose="020B0704020202020204"/>
                          <a:ea typeface="Arial" panose="020B0704020202020204"/>
                        </a:rPr>
                        <a:t>GPT-4o</a:t>
                      </a:r>
                      <a:endParaRPr lang="en-US" sz="900" b="1" dirty="0">
                        <a:solidFill>
                          <a:srgbClr val="23877B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2024.05.13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128K / Omni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原生语音/图像/文本统一模型，MMLU 88.7创新高，免费开放使用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23877B"/>
                          </a:solidFill>
                          <a:latin typeface="Arial" panose="020B0704020202020204"/>
                          <a:ea typeface="Arial" panose="020B0704020202020204"/>
                        </a:rPr>
                        <a:t>GPT-4.5</a:t>
                      </a:r>
                      <a:endParaRPr lang="en-US" sz="900" b="1" dirty="0">
                        <a:solidFill>
                          <a:srgbClr val="23877B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2025.02.27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128K / Orion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最后一个非CoT推理模型，无监督学习为主，幻觉率显著降低，15种语言超越4o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23877B"/>
                          </a:solidFill>
                          <a:latin typeface="Arial" panose="020B0704020202020204"/>
                          <a:ea typeface="Arial" panose="020B0704020202020204"/>
                        </a:rPr>
                        <a:t>GPT-4.1</a:t>
                      </a:r>
                      <a:endParaRPr lang="en-US" sz="900" b="1" dirty="0">
                        <a:solidFill>
                          <a:srgbClr val="23877B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2025.04.14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1M context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上下文突破100万tokens，SWE-bench 54.6%，Agent优化，三个变体(标准/mini/nano)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0FDF9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Arial" panose="020B0704020202020204"/>
                          <a:ea typeface="Arial" panose="020B0704020202020204"/>
                        </a:rPr>
                        <a:t>GPT-5</a:t>
                      </a:r>
                      <a:endParaRPr lang="en-US" sz="900" b="1" dirty="0">
                        <a:solidFill>
                          <a:srgbClr val="D97706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2025.08.07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统一路由架构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智能重大飞跃，统一快速响应与深度推理；幻觉率比4o低45%，推理比o3低80%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Arial" panose="020B0704020202020204"/>
                          <a:ea typeface="Arial" panose="020B0704020202020204"/>
                        </a:rPr>
                        <a:t>GPT-5.1~5.2</a:t>
                      </a:r>
                      <a:endParaRPr lang="en-US" sz="900" b="1" dirty="0">
                        <a:solidFill>
                          <a:srgbClr val="D97706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2025.11~12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Instant/Thinking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5.1优化速度与推理；5.2推出Codex编程专用模型，专业知识工作增强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BEB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Arial" panose="020B0704020202020204"/>
                          <a:ea typeface="Arial" panose="020B0704020202020204"/>
                        </a:rPr>
                        <a:t>GPT-5.3~5.4</a:t>
                      </a:r>
                      <a:endParaRPr lang="en-US" sz="900" b="1" dirty="0">
                        <a:solidFill>
                          <a:srgbClr val="D97706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2026.02~03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1M / Computer Use</a:t>
                      </a:r>
                      <a:endParaRPr lang="en-US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800" dirty="0">
                          <a:solidFill>
                            <a:srgbClr val="374151"/>
                          </a:solidFill>
                          <a:latin typeface="Arial" panose="020B0704020202020204"/>
                          <a:ea typeface="Arial" panose="020B0704020202020204"/>
                        </a:rPr>
                        <a:t>5.3深度融合Codex编程智能体；5.4首个原生Computer Use，1M上下文，当前旗舰</a:t>
                      </a:r>
                      <a:endParaRPr lang="zh-CN" sz="800" dirty="0">
                        <a:solidFill>
                          <a:srgbClr val="374151"/>
                        </a:solidFill>
                        <a:latin typeface="Arial" panose="020B0704020202020204"/>
                        <a:ea typeface="Arial" panose="020B0704020202020204"/>
                      </a:endParaRPr>
                    </a:p>
                  </a:txBody>
                  <a:tcPr marL="72000" marR="36000" marT="28000" marB="28000"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/>
          <p:nvPr/>
        </p:nvSpPr>
        <p:spPr>
          <a:xfrm>
            <a:off x="304800" y="4850000"/>
            <a:ext cx="8534400" cy="20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zh-CN" sz="700" dirty="0">
                <a:solidFill>
                  <a:srgbClr val="9CA3AF"/>
                </a:solidFill>
                <a:latin typeface="Arial" panose="020B0704020202020204" pitchFamily="34" charset="0"/>
                <a:ea typeface="Arial" panose="020B0704020202020204" pitchFamily="34" charset="-122"/>
              </a:rPr>
              <a:t>数据来源：OpenAI官方公告、Wikipedia、TechTarget 等 · GPT-4参数信息来自非官方泄露，仅供参考 · 更新：2026.03</a:t>
            </a:r>
            <a:endParaRPr lang="en-US" sz="7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8394192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比赛规则</a:t>
            </a:r>
            <a:endParaRPr lang="en-US" sz="220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530225" y="1635026"/>
            <a:ext cx="1503759" cy="1276052"/>
          </a:xfrm>
          <a:prstGeom prst="roundRect">
            <a:avLst>
              <a:gd name="adj" fmla="val 9953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pptx_workspace/images/icon_pen_tea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04255" y="1812727"/>
            <a:ext cx="355550" cy="355550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644677" y="2282577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300" dirty="0"/>
          </a:p>
        </p:txBody>
      </p:sp>
      <p:sp>
        <p:nvSpPr>
          <p:cNvPr id="6" name="Text 3"/>
          <p:cNvSpPr/>
          <p:nvPr>
            <p:custDataLst>
              <p:tags r:id="rId5"/>
            </p:custDataLst>
          </p:nvPr>
        </p:nvSpPr>
        <p:spPr>
          <a:xfrm>
            <a:off x="644677" y="2533352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写作</a:t>
            </a:r>
            <a:endParaRPr lang="en-US" sz="1100" dirty="0"/>
          </a:p>
        </p:txBody>
      </p:sp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2211685" y="1635026"/>
            <a:ext cx="1503759" cy="1276052"/>
          </a:xfrm>
          <a:prstGeom prst="roundRect">
            <a:avLst>
              <a:gd name="adj" fmla="val 9953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/tmp/pptx_workspace/images/icon_brain_teal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85715" y="1812727"/>
            <a:ext cx="355550" cy="355550"/>
          </a:xfrm>
          <a:prstGeom prst="rect">
            <a:avLst/>
          </a:prstGeom>
        </p:spPr>
      </p:pic>
      <p:sp>
        <p:nvSpPr>
          <p:cNvPr id="9" name="Text 5"/>
          <p:cNvSpPr/>
          <p:nvPr>
            <p:custDataLst>
              <p:tags r:id="rId9"/>
            </p:custDataLst>
          </p:nvPr>
        </p:nvSpPr>
        <p:spPr>
          <a:xfrm>
            <a:off x="2326137" y="2282577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300" dirty="0"/>
          </a:p>
        </p:txBody>
      </p:sp>
      <p:sp>
        <p:nvSpPr>
          <p:cNvPr id="10" name="Text 6"/>
          <p:cNvSpPr/>
          <p:nvPr>
            <p:custDataLst>
              <p:tags r:id="rId10"/>
            </p:custDataLst>
          </p:nvPr>
        </p:nvSpPr>
        <p:spPr>
          <a:xfrm>
            <a:off x="2326137" y="2533352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推理</a:t>
            </a:r>
            <a:endParaRPr lang="en-US" sz="1100" dirty="0"/>
          </a:p>
        </p:txBody>
      </p:sp>
      <p:sp>
        <p:nvSpPr>
          <p:cNvPr id="11" name="Text 7"/>
          <p:cNvSpPr/>
          <p:nvPr>
            <p:custDataLst>
              <p:tags r:id="rId11"/>
            </p:custDataLst>
          </p:nvPr>
        </p:nvSpPr>
        <p:spPr>
          <a:xfrm>
            <a:off x="3893145" y="1635026"/>
            <a:ext cx="1503759" cy="1276052"/>
          </a:xfrm>
          <a:prstGeom prst="roundRect">
            <a:avLst>
              <a:gd name="adj" fmla="val 9953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2" descr="/tmp/pptx_workspace/images/icon_monitor_teal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467175" y="1812727"/>
            <a:ext cx="355550" cy="355550"/>
          </a:xfrm>
          <a:prstGeom prst="rect">
            <a:avLst/>
          </a:prstGeom>
        </p:spPr>
      </p:pic>
      <p:sp>
        <p:nvSpPr>
          <p:cNvPr id="13" name="Text 8"/>
          <p:cNvSpPr/>
          <p:nvPr>
            <p:custDataLst>
              <p:tags r:id="rId14"/>
            </p:custDataLst>
          </p:nvPr>
        </p:nvSpPr>
        <p:spPr>
          <a:xfrm>
            <a:off x="4007597" y="2282577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3</a:t>
            </a:r>
            <a:endParaRPr lang="en-US" sz="1300" dirty="0"/>
          </a:p>
        </p:txBody>
      </p:sp>
      <p:sp>
        <p:nvSpPr>
          <p:cNvPr id="14" name="Text 9"/>
          <p:cNvSpPr/>
          <p:nvPr>
            <p:custDataLst>
              <p:tags r:id="rId15"/>
            </p:custDataLst>
          </p:nvPr>
        </p:nvSpPr>
        <p:spPr>
          <a:xfrm>
            <a:off x="4007597" y="2533352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15" name="Text 10"/>
          <p:cNvSpPr/>
          <p:nvPr>
            <p:custDataLst>
              <p:tags r:id="rId16"/>
            </p:custDataLst>
          </p:nvPr>
        </p:nvSpPr>
        <p:spPr>
          <a:xfrm>
            <a:off x="5574605" y="1635026"/>
            <a:ext cx="1503759" cy="1276052"/>
          </a:xfrm>
          <a:prstGeom prst="roundRect">
            <a:avLst>
              <a:gd name="adj" fmla="val 9953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/tmp/pptx_workspace/images/icon_eye_teal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148636" y="1812727"/>
            <a:ext cx="355550" cy="355550"/>
          </a:xfrm>
          <a:prstGeom prst="rect">
            <a:avLst/>
          </a:prstGeom>
        </p:spPr>
      </p:pic>
      <p:sp>
        <p:nvSpPr>
          <p:cNvPr id="17" name="Text 11"/>
          <p:cNvSpPr/>
          <p:nvPr>
            <p:custDataLst>
              <p:tags r:id="rId19"/>
            </p:custDataLst>
          </p:nvPr>
        </p:nvSpPr>
        <p:spPr>
          <a:xfrm>
            <a:off x="5689057" y="2282577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300" dirty="0"/>
          </a:p>
        </p:txBody>
      </p:sp>
      <p:sp>
        <p:nvSpPr>
          <p:cNvPr id="18" name="Text 12"/>
          <p:cNvSpPr/>
          <p:nvPr>
            <p:custDataLst>
              <p:tags r:id="rId20"/>
            </p:custDataLst>
          </p:nvPr>
        </p:nvSpPr>
        <p:spPr>
          <a:xfrm>
            <a:off x="5689057" y="2533352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数据分析</a:t>
            </a:r>
            <a:endParaRPr lang="zh-CN" altLang="en-US" sz="1100" dirty="0">
              <a:solidFill>
                <a:srgbClr val="6B7280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19" name="Text 13"/>
          <p:cNvSpPr/>
          <p:nvPr>
            <p:custDataLst>
              <p:tags r:id="rId21"/>
            </p:custDataLst>
          </p:nvPr>
        </p:nvSpPr>
        <p:spPr>
          <a:xfrm>
            <a:off x="7256066" y="1635026"/>
            <a:ext cx="1503759" cy="1276052"/>
          </a:xfrm>
          <a:prstGeom prst="roundRect">
            <a:avLst>
              <a:gd name="adj" fmla="val 9953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4" descr="/tmp/pptx_workspace/images/icon_list_checks_teal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7830096" y="1812727"/>
            <a:ext cx="355550" cy="355550"/>
          </a:xfrm>
          <a:prstGeom prst="rect">
            <a:avLst/>
          </a:prstGeom>
        </p:spPr>
      </p:pic>
      <p:sp>
        <p:nvSpPr>
          <p:cNvPr id="21" name="Text 14"/>
          <p:cNvSpPr/>
          <p:nvPr>
            <p:custDataLst>
              <p:tags r:id="rId24"/>
            </p:custDataLst>
          </p:nvPr>
        </p:nvSpPr>
        <p:spPr>
          <a:xfrm>
            <a:off x="7370517" y="2282577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300" dirty="0"/>
          </a:p>
        </p:txBody>
      </p:sp>
      <p:sp>
        <p:nvSpPr>
          <p:cNvPr id="22" name="Text 15"/>
          <p:cNvSpPr/>
          <p:nvPr>
            <p:custDataLst>
              <p:tags r:id="rId25"/>
            </p:custDataLst>
          </p:nvPr>
        </p:nvSpPr>
        <p:spPr>
          <a:xfrm>
            <a:off x="7370517" y="2533352"/>
            <a:ext cx="1274856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Agent规划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30225" y="3164979"/>
            <a:ext cx="8229600" cy="482501"/>
          </a:xfrm>
          <a:prstGeom prst="roundRect">
            <a:avLst>
              <a:gd name="adj" fmla="val 21057"/>
            </a:avLst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758825" y="3291929"/>
            <a:ext cx="792784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横评有效期只有30天——模型更新太快，排名随时会变</a:t>
            </a:r>
            <a:endParaRPr lang="en-US" sz="13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4537"/>
            <a:ext cx="914400" cy="272951"/>
          </a:xfrm>
          <a:prstGeom prst="roundRect">
            <a:avLst>
              <a:gd name="adj" fmla="val 27917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5288"/>
            <a:ext cx="62179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98550" y="304800"/>
            <a:ext cx="3148733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写一封能直接发的招生邮件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0375"/>
            <a:ext cx="8229600" cy="954881"/>
          </a:xfrm>
          <a:prstGeom prst="roundRect">
            <a:avLst>
              <a:gd name="adj" fmla="val 13300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063526"/>
            <a:ext cx="7876234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请写一封180字以内的招生邮件，目标用户是30-40岁的职场管理者，主题是"AI不是学一个工具，而是重构工作方式"。要求：不油腻、不喊口号，要有行动感。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8407"/>
            <a:ext cx="839419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评判标准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12057"/>
            <a:ext cx="8229600" cy="914400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语气得体，不油腻不喊口号</a:t>
            </a:r>
            <a:endParaRPr 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180字以内，能直接发</a:t>
            </a:r>
            <a:endParaRPr 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有行动感，读完想点链接</a:t>
            </a:r>
            <a:endParaRPr lang="en-US" sz="1200" dirty="0"/>
          </a:p>
        </p:txBody>
      </p:sp>
      <p:pic>
        <p:nvPicPr>
          <p:cNvPr id="9" name="Image 0" descr="/tmp/pptx_workspace/images/icon_mail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149" y="4495949"/>
            <a:ext cx="406301" cy="4063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38</a:t>
            </a:r>
            <a:endParaRPr lang="en-US" sz="8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71805" y="1114425"/>
            <a:ext cx="5414645" cy="397129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管理者，你的时间花在哪？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过去半年，我观察了</a:t>
            </a:r>
            <a:r>
              <a:rPr lang="en-US" altLang="zh-CN" sz="900">
                <a:solidFill>
                  <a:srgbClr val="D4D4D4"/>
                </a:solidFill>
              </a:rPr>
              <a:t>37</a:t>
            </a:r>
            <a:r>
              <a:rPr lang="zh-CN" altLang="en-US" sz="900">
                <a:solidFill>
                  <a:srgbClr val="D4D4D4"/>
                </a:solidFill>
              </a:rPr>
              <a:t>位中高层管理者如何使用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把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当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工具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的人，在学</a:t>
            </a:r>
            <a:r>
              <a:rPr lang="en-US" altLang="zh-CN" sz="900">
                <a:solidFill>
                  <a:srgbClr val="D4D4D4"/>
                </a:solidFill>
              </a:rPr>
              <a:t>Prompt</a:t>
            </a:r>
            <a:r>
              <a:rPr lang="zh-CN" altLang="en-US" sz="900">
                <a:solidFill>
                  <a:srgbClr val="D4D4D4"/>
                </a:solidFill>
              </a:rPr>
              <a:t>技巧。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把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当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能力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的人，在重构决策流程。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区别在哪？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前者问：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这个怎么做？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后者问：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这件事该不该我做？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我们正在打磨一个项目，不教你用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绘图或写文案</a:t>
            </a:r>
            <a:r>
              <a:rPr lang="en-US" altLang="zh-CN" sz="900">
                <a:solidFill>
                  <a:srgbClr val="D4D4D4"/>
                </a:solidFill>
              </a:rPr>
              <a:t>——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而是带你用</a:t>
            </a:r>
            <a:r>
              <a:rPr lang="en-US" altLang="zh-CN" sz="900">
                <a:solidFill>
                  <a:srgbClr val="D4D4D4"/>
                </a:solidFill>
              </a:rPr>
              <a:t>8</a:t>
            </a:r>
            <a:r>
              <a:rPr lang="zh-CN" altLang="en-US" sz="900">
                <a:solidFill>
                  <a:srgbClr val="D4D4D4"/>
                </a:solidFill>
              </a:rPr>
              <a:t>周，把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嵌进你的管理流：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开会、审批、战略复盘、团队沟通</a:t>
            </a:r>
            <a:r>
              <a:rPr lang="en-US" altLang="zh-CN" sz="900">
                <a:solidFill>
                  <a:srgbClr val="D4D4D4"/>
                </a:solidFill>
              </a:rPr>
              <a:t>……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第一期开放</a:t>
            </a:r>
            <a:r>
              <a:rPr lang="en-US" altLang="zh-CN" sz="900">
                <a:solidFill>
                  <a:srgbClr val="D4D4D4"/>
                </a:solidFill>
              </a:rPr>
              <a:t>40</a:t>
            </a:r>
            <a:r>
              <a:rPr lang="zh-CN" altLang="en-US" sz="900">
                <a:solidFill>
                  <a:srgbClr val="D4D4D4"/>
                </a:solidFill>
              </a:rPr>
              <a:t>个名额，已有</a:t>
            </a:r>
            <a:r>
              <a:rPr lang="en-US" altLang="zh-CN" sz="900">
                <a:solidFill>
                  <a:srgbClr val="D4D4D4"/>
                </a:solidFill>
              </a:rPr>
              <a:t>23</a:t>
            </a:r>
            <a:r>
              <a:rPr lang="zh-CN" altLang="en-US" sz="900">
                <a:solidFill>
                  <a:srgbClr val="D4D4D4"/>
                </a:solidFill>
              </a:rPr>
              <a:t>位管理者确认。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如果这对你有用，可以先看课纲。</a:t>
            </a:r>
            <a:endParaRPr lang="zh-CN" altLang="en-US" sz="9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结果对比：招生邮件  </a:t>
            </a:r>
            <a:endParaRPr lang="en-US" sz="1800" dirty="0"/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639560" y="3435985"/>
            <a:ext cx="168021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MiniMax-M2.7</a:t>
            </a:r>
            <a:endParaRPr lang="en-US" altLang="en-US" sz="20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804025" y="1779270"/>
            <a:ext cx="1163955" cy="9410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85750" y="1114425"/>
            <a:ext cx="5600700" cy="3971290"/>
          </a:xfrm>
          <a:prstGeom prst="rect">
            <a:avLst/>
          </a:prstGeom>
          <a:ln w="12700">
            <a:miter lim="400000"/>
          </a:ln>
        </p:spPr>
        <p:txBody>
          <a:bodyPr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主题：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不是学一个工具，而是重构工作方式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邮件正文：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王总，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上周您提到团队加班越来越多，但产出效率却在下降。这不是人的问题，是工作方式需要升级了。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我们刚结束的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管理实战营里，一位制造业总监用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重构了项目汇报流程，原来需要</a:t>
            </a:r>
            <a:r>
              <a:rPr lang="en-US" altLang="zh-CN" sz="900">
                <a:solidFill>
                  <a:srgbClr val="D4D4D4"/>
                </a:solidFill>
              </a:rPr>
              <a:t>3</a:t>
            </a:r>
            <a:r>
              <a:rPr lang="zh-CN" altLang="en-US" sz="900">
                <a:solidFill>
                  <a:srgbClr val="D4D4D4"/>
                </a:solidFill>
              </a:rPr>
              <a:t>个助理整理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天的周报，现在</a:t>
            </a:r>
            <a:r>
              <a:rPr lang="en-US" altLang="zh-CN" sz="900">
                <a:solidFill>
                  <a:srgbClr val="D4D4D4"/>
                </a:solidFill>
              </a:rPr>
              <a:t>30</a:t>
            </a:r>
            <a:r>
              <a:rPr lang="zh-CN" altLang="en-US" sz="900">
                <a:solidFill>
                  <a:srgbClr val="D4D4D4"/>
                </a:solidFill>
              </a:rPr>
              <a:t>分钟完成，准确率还提升了。更重要的是，他把节省下来的时间投入到战略思考上，季度业绩提升了</a:t>
            </a:r>
            <a:r>
              <a:rPr lang="en-US" altLang="zh-CN" sz="900">
                <a:solidFill>
                  <a:srgbClr val="D4D4D4"/>
                </a:solidFill>
              </a:rPr>
              <a:t>15%</a:t>
            </a:r>
            <a:r>
              <a:rPr lang="zh-CN" altLang="en-US" sz="900">
                <a:solidFill>
                  <a:srgbClr val="D4D4D4"/>
                </a:solidFill>
              </a:rPr>
              <a:t>。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不是要替代谁，而是让管理者从重复性工作中解脱出来，专注于真正重要的决策和团队建设。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本周六下午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点，我们有场小型体验课，限</a:t>
            </a:r>
            <a:r>
              <a:rPr lang="en-US" altLang="zh-CN" sz="900">
                <a:solidFill>
                  <a:srgbClr val="D4D4D4"/>
                </a:solidFill>
              </a:rPr>
              <a:t>8</a:t>
            </a:r>
            <a:r>
              <a:rPr lang="zh-CN" altLang="en-US" sz="900">
                <a:solidFill>
                  <a:srgbClr val="D4D4D4"/>
                </a:solidFill>
              </a:rPr>
              <a:t>个名额。您可以带着实际工作场景来，现场用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优化一个具体流程。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要不要给您留一个位置？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李华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AI</a:t>
            </a:r>
            <a:r>
              <a:rPr lang="zh-CN" altLang="en-US" sz="900">
                <a:solidFill>
                  <a:srgbClr val="D4D4D4"/>
                </a:solidFill>
              </a:rPr>
              <a:t>管理实战营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微信：</a:t>
            </a:r>
            <a:r>
              <a:rPr lang="en-US" altLang="zh-CN" sz="900">
                <a:solidFill>
                  <a:srgbClr val="D4D4D4"/>
                </a:solidFill>
              </a:rPr>
              <a:t>lihua_ai</a:t>
            </a:r>
            <a:endParaRPr lang="en-US" altLang="zh-CN" sz="9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结果对比：招生邮件  </a:t>
            </a:r>
            <a:endParaRPr lang="en-US" sz="1800" dirty="0"/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639560" y="3435985"/>
            <a:ext cx="168021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Kimi K2</a:t>
            </a:r>
            <a:endParaRPr lang="en-US" altLang="en-US" sz="20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6443980" y="2038985"/>
            <a:ext cx="1934845" cy="8337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85750" y="1114425"/>
            <a:ext cx="6058535" cy="397129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主题：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不是学一个工具，而是重构工作方式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尊敬的</a:t>
            </a:r>
            <a:r>
              <a:rPr lang="en-US" altLang="zh-CN" sz="900">
                <a:solidFill>
                  <a:srgbClr val="D4D4D4"/>
                </a:solidFill>
              </a:rPr>
              <a:t>[</a:t>
            </a:r>
            <a:r>
              <a:rPr lang="zh-CN" altLang="en-US" sz="900">
                <a:solidFill>
                  <a:srgbClr val="D4D4D4"/>
                </a:solidFill>
              </a:rPr>
              <a:t>姓名</a:t>
            </a:r>
            <a:r>
              <a:rPr lang="en-US" altLang="zh-CN" sz="900">
                <a:solidFill>
                  <a:srgbClr val="D4D4D4"/>
                </a:solidFill>
              </a:rPr>
              <a:t>]</a:t>
            </a:r>
            <a:r>
              <a:rPr lang="zh-CN" altLang="en-US" sz="900">
                <a:solidFill>
                  <a:srgbClr val="D4D4D4"/>
                </a:solidFill>
              </a:rPr>
              <a:t>，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作为忙碌的管理者，您是否发现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工具学了很多，但实际工作方式依然如旧？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我们理解您的痛点：碎片化的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知识无法转化为系统性优势，单点工具无法带来团队协同效率的真正提升。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这不是又一个工具培训课程。我们专注于帮助管理者：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重新设计团队工作流程，让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深度融入日常决策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建立可复用的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工作框架，而非零散技巧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从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会用工具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升级到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善用智能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的管理思维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3</a:t>
            </a:r>
            <a:r>
              <a:rPr lang="zh-CN" altLang="en-US" sz="900">
                <a:solidFill>
                  <a:srgbClr val="D4D4D4"/>
                </a:solidFill>
              </a:rPr>
              <a:t>周实践营，每周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小时深度工作坊</a:t>
            </a:r>
            <a:r>
              <a:rPr lang="en-US" altLang="zh-CN" sz="900">
                <a:solidFill>
                  <a:srgbClr val="D4D4D4"/>
                </a:solidFill>
              </a:rPr>
              <a:t>+</a:t>
            </a:r>
            <a:r>
              <a:rPr lang="zh-CN" altLang="en-US" sz="900">
                <a:solidFill>
                  <a:srgbClr val="D4D4D4"/>
                </a:solidFill>
              </a:rPr>
              <a:t>实战任务。不带口号，只带行动方案。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名额有限，</a:t>
            </a:r>
            <a:r>
              <a:rPr lang="en-US" altLang="zh-CN" sz="900">
                <a:solidFill>
                  <a:srgbClr val="D4D4D4"/>
                </a:solidFill>
              </a:rPr>
              <a:t>[</a:t>
            </a:r>
            <a:r>
              <a:rPr lang="zh-CN" altLang="en-US" sz="900">
                <a:solidFill>
                  <a:srgbClr val="D4D4D4"/>
                </a:solidFill>
              </a:rPr>
              <a:t>点击此处</a:t>
            </a:r>
            <a:r>
              <a:rPr lang="en-US" altLang="zh-CN" sz="900">
                <a:solidFill>
                  <a:srgbClr val="D4D4D4"/>
                </a:solidFill>
              </a:rPr>
              <a:t>]</a:t>
            </a:r>
            <a:r>
              <a:rPr lang="zh-CN" altLang="en-US" sz="900">
                <a:solidFill>
                  <a:srgbClr val="D4D4D4"/>
                </a:solidFill>
              </a:rPr>
              <a:t>了解如何用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重构您和团队的工作方式。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[</a:t>
            </a:r>
            <a:r>
              <a:rPr lang="zh-CN" altLang="en-US" sz="900">
                <a:solidFill>
                  <a:srgbClr val="D4D4D4"/>
                </a:solidFill>
              </a:rPr>
              <a:t>您的机构</a:t>
            </a:r>
            <a:r>
              <a:rPr lang="en-US" altLang="zh-CN" sz="900">
                <a:solidFill>
                  <a:srgbClr val="D4D4D4"/>
                </a:solidFill>
              </a:rPr>
              <a:t>/</a:t>
            </a:r>
            <a:r>
              <a:rPr lang="zh-CN" altLang="en-US" sz="900">
                <a:solidFill>
                  <a:srgbClr val="D4D4D4"/>
                </a:solidFill>
              </a:rPr>
              <a:t>姓名</a:t>
            </a:r>
            <a:r>
              <a:rPr lang="en-US" altLang="zh-CN" sz="900">
                <a:solidFill>
                  <a:srgbClr val="D4D4D4"/>
                </a:solidFill>
              </a:rPr>
              <a:t>]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[</a:t>
            </a:r>
            <a:r>
              <a:rPr lang="zh-CN" altLang="en-US" sz="900">
                <a:solidFill>
                  <a:srgbClr val="D4D4D4"/>
                </a:solidFill>
              </a:rPr>
              <a:t>联系方式</a:t>
            </a:r>
            <a:r>
              <a:rPr lang="en-US" altLang="zh-CN" sz="900">
                <a:solidFill>
                  <a:srgbClr val="D4D4D4"/>
                </a:solidFill>
              </a:rPr>
              <a:t>]</a:t>
            </a:r>
            <a:endParaRPr lang="en-US" altLang="zh-CN" sz="9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结果对比：招生邮件  </a:t>
            </a:r>
            <a:endParaRPr lang="en-US" sz="1800" dirty="0"/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5066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Deepseek V3.1</a:t>
            </a:r>
            <a:endParaRPr lang="en-US" altLang="en-US" sz="20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rcRect t="18492" b="18492"/>
          <a:stretch>
            <a:fillRect/>
          </a:stretch>
        </p:blipFill>
        <p:spPr>
          <a:xfrm>
            <a:off x="6478905" y="1995805"/>
            <a:ext cx="1978660" cy="8413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67360" y="1504950"/>
            <a:ext cx="5051425" cy="281749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 AI</a:t>
            </a:r>
            <a:r>
              <a:rPr lang="zh-CN" altLang="en-US" sz="900">
                <a:solidFill>
                  <a:srgbClr val="D4D4D4"/>
                </a:solidFill>
              </a:rPr>
              <a:t>不是学一个工具，而是重构工作方式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您好，很多管理者仍把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当工具，却忽略它能重构决策、协作与执行流程。我们面向</a:t>
            </a:r>
            <a:r>
              <a:rPr lang="en-US" altLang="zh-CN" sz="900">
                <a:solidFill>
                  <a:srgbClr val="D4D4D4"/>
                </a:solidFill>
              </a:rPr>
              <a:t>30-40</a:t>
            </a:r>
            <a:r>
              <a:rPr lang="zh-CN" altLang="en-US" sz="900">
                <a:solidFill>
                  <a:srgbClr val="D4D4D4"/>
                </a:solidFill>
              </a:rPr>
              <a:t>岁管理者，不讲花哨操作，只落地可复用的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工作流，帮你把会议、报告、数据分析等事务压缩时间，把精力放回战略与团队。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本期小班实战，学完即可带回团队落地。本周报名可领取管理者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提效模板包，席位有限，有意请回复或扫码锁定。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需要我帮你把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报名链接、时间价格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补进去，做成可直接发送的完整版吗？</a:t>
            </a:r>
            <a:endParaRPr lang="zh-CN" altLang="en-US" sz="9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结果对比：招生邮件  </a:t>
            </a:r>
            <a:endParaRPr lang="en-US" sz="1800" dirty="0"/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1637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豆包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Doubao-Seed-2.0</a:t>
            </a:r>
            <a:endParaRPr lang="en-US" altLang="zh-CN" sz="16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12" name="图片 11" descr="a2cd0c0c-9919-48fc-9ac9-c92965dbd647"/>
          <p:cNvPicPr>
            <a:picLocks noChangeAspect="1"/>
          </p:cNvPicPr>
          <p:nvPr/>
        </p:nvPicPr>
        <p:blipFill>
          <a:blip r:embed="rId1"/>
          <a:srcRect l="11737" t="25728" r="8930" b="27605"/>
          <a:stretch>
            <a:fillRect/>
          </a:stretch>
        </p:blipFill>
        <p:spPr>
          <a:xfrm>
            <a:off x="6443980" y="2139315"/>
            <a:ext cx="1968500" cy="7715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67360" y="1504950"/>
            <a:ext cx="5051425" cy="189420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主题：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不是学一个工具，而是重构工作方式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您好，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如果您正在带团队、赶进度、做决策，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真正该学的，不是多会一个软件，而是重做汇报、分析、协同与执行流程。这门课面向</a:t>
            </a:r>
            <a:r>
              <a:rPr lang="en-US" altLang="zh-CN" sz="900">
                <a:solidFill>
                  <a:srgbClr val="D4D4D4"/>
                </a:solidFill>
              </a:rPr>
              <a:t>30-40</a:t>
            </a:r>
            <a:r>
              <a:rPr lang="zh-CN" altLang="en-US" sz="900">
                <a:solidFill>
                  <a:srgbClr val="D4D4D4"/>
                </a:solidFill>
              </a:rPr>
              <a:t>岁管理者，用真实工作场景拆解可落地方法。回复</a:t>
            </a:r>
            <a:r>
              <a:rPr lang="en-US" altLang="zh-CN" sz="900">
                <a:solidFill>
                  <a:srgbClr val="D4D4D4"/>
                </a:solidFill>
              </a:rPr>
              <a:t>“</a:t>
            </a:r>
            <a:r>
              <a:rPr lang="zh-CN" altLang="en-US" sz="900">
                <a:solidFill>
                  <a:srgbClr val="D4D4D4"/>
                </a:solidFill>
              </a:rPr>
              <a:t>试听</a:t>
            </a:r>
            <a:r>
              <a:rPr lang="en-US" altLang="zh-CN" sz="900">
                <a:solidFill>
                  <a:srgbClr val="D4D4D4"/>
                </a:solidFill>
              </a:rPr>
              <a:t>”</a:t>
            </a:r>
            <a:r>
              <a:rPr lang="zh-CN" altLang="en-US" sz="900">
                <a:solidFill>
                  <a:srgbClr val="D4D4D4"/>
                </a:solidFill>
              </a:rPr>
              <a:t>，先看一节。</a:t>
            </a:r>
            <a:endParaRPr lang="zh-CN" altLang="en-US" sz="9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结果对比：招生邮件  </a:t>
            </a:r>
            <a:endParaRPr lang="en-US" sz="1800" dirty="0"/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1637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GPT 5.4</a:t>
            </a:r>
            <a:endParaRPr lang="en-US" altLang="zh-CN" sz="16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13" name="图片 12"/>
          <p:cNvPicPr/>
          <p:nvPr/>
        </p:nvPicPr>
        <p:blipFill>
          <a:blip r:embed="rId1"/>
          <a:srcRect l="10598" t="31005" r="10579" b="26624"/>
          <a:stretch>
            <a:fillRect/>
          </a:stretch>
        </p:blipFill>
        <p:spPr>
          <a:xfrm>
            <a:off x="6732270" y="2355850"/>
            <a:ext cx="1386840" cy="6597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67360" y="1179195"/>
            <a:ext cx="5051425" cy="374078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主题：你还在一个个学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工具吗？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你好，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过去一年，很多管理者的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学习路径是：试</a:t>
            </a:r>
            <a:r>
              <a:rPr lang="en-US" altLang="zh-CN" sz="900">
                <a:solidFill>
                  <a:srgbClr val="D4D4D4"/>
                </a:solidFill>
              </a:rPr>
              <a:t>ChatGPT</a:t>
            </a:r>
            <a:r>
              <a:rPr lang="zh-CN" altLang="en-US" sz="900">
                <a:solidFill>
                  <a:srgbClr val="D4D4D4"/>
                </a:solidFill>
              </a:rPr>
              <a:t>、装</a:t>
            </a:r>
            <a:r>
              <a:rPr lang="en-US" altLang="zh-CN" sz="900">
                <a:solidFill>
                  <a:srgbClr val="D4D4D4"/>
                </a:solidFill>
              </a:rPr>
              <a:t>Copilot</a:t>
            </a:r>
            <a:r>
              <a:rPr lang="zh-CN" altLang="en-US" sz="900">
                <a:solidFill>
                  <a:srgbClr val="D4D4D4"/>
                </a:solidFill>
              </a:rPr>
              <a:t>、看测评、换工具</a:t>
            </a:r>
            <a:r>
              <a:rPr lang="en-US" altLang="zh-CN" sz="900">
                <a:solidFill>
                  <a:srgbClr val="D4D4D4"/>
                </a:solidFill>
              </a:rPr>
              <a:t>——</a:t>
            </a:r>
            <a:r>
              <a:rPr lang="zh-CN" altLang="en-US" sz="900">
                <a:solidFill>
                  <a:srgbClr val="D4D4D4"/>
                </a:solidFill>
              </a:rPr>
              <a:t>然后发现团队效率没变。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问题不在工具，在工作方式没变。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我们做了一门课，不教</a:t>
            </a:r>
            <a:r>
              <a:rPr lang="en-US" altLang="zh-CN" sz="900">
                <a:solidFill>
                  <a:srgbClr val="D4D4D4"/>
                </a:solidFill>
              </a:rPr>
              <a:t>"AI</a:t>
            </a:r>
            <a:r>
              <a:rPr lang="zh-CN" altLang="en-US" sz="900">
                <a:solidFill>
                  <a:srgbClr val="D4D4D4"/>
                </a:solidFill>
              </a:rPr>
              <a:t>能做什么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，而是带你重新拆解你每天在做的事：周报、决策、招聘、项目推进</a:t>
            </a:r>
            <a:r>
              <a:rPr lang="en-US" altLang="zh-CN" sz="900">
                <a:solidFill>
                  <a:srgbClr val="D4D4D4"/>
                </a:solidFill>
              </a:rPr>
              <a:t>——</a:t>
            </a:r>
            <a:r>
              <a:rPr lang="zh-CN" altLang="en-US" sz="900">
                <a:solidFill>
                  <a:srgbClr val="D4D4D4"/>
                </a:solidFill>
              </a:rPr>
              <a:t>哪些环节可以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用</a:t>
            </a:r>
            <a:r>
              <a:rPr lang="en-US" altLang="zh-CN" sz="900">
                <a:solidFill>
                  <a:srgbClr val="D4D4D4"/>
                </a:solidFill>
              </a:rPr>
              <a:t>AI</a:t>
            </a:r>
            <a:r>
              <a:rPr lang="zh-CN" altLang="en-US" sz="900">
                <a:solidFill>
                  <a:srgbClr val="D4D4D4"/>
                </a:solidFill>
              </a:rPr>
              <a:t>重构流程，哪些该砍掉。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6</a:t>
            </a:r>
            <a:r>
              <a:rPr lang="zh-CN" altLang="en-US" sz="900">
                <a:solidFill>
                  <a:srgbClr val="D4D4D4"/>
                </a:solidFill>
              </a:rPr>
              <a:t>周，每周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小时，带真实业务场景上手。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不卖焦虑，只解决一个问题：你的时间花得值不值。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点击查看课程详情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endParaRPr lang="en-US" altLang="en-US" sz="9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结果对比：招生邮件  </a:t>
            </a:r>
            <a:endParaRPr lang="en-US" sz="1800" dirty="0"/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1637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Claude Opus 4.5</a:t>
            </a:r>
            <a:endParaRPr lang="en-US" altLang="zh-CN" sz="16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15" name="图片 14" descr="3abbf33c-82b2-40f6-a154-17e804b9678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880" y="2129155"/>
            <a:ext cx="1565275" cy="8845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4537"/>
            <a:ext cx="914400" cy="272951"/>
          </a:xfrm>
          <a:prstGeom prst="roundRect">
            <a:avLst>
              <a:gd name="adj" fmla="val 27917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5288"/>
            <a:ext cx="62179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35760"/>
            <a:ext cx="3544570" cy="1190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结果对比：</a:t>
            </a:r>
            <a:endParaRPr lang="en-US" sz="2000" b="1" dirty="0">
              <a:solidFill>
                <a:srgbClr val="111827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排一个满足所有约束的课表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-730885"/>
            <a:ext cx="4586605" cy="7673340"/>
          </a:xfrm>
          <a:prstGeom prst="roundRect">
            <a:avLst>
              <a:gd name="adj" fmla="val 1396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03800" y="123190"/>
            <a:ext cx="4124960" cy="532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altLang="en-US" sz="1100" dirty="0"/>
              <a:t>⏺</a:t>
            </a:r>
            <a:r>
              <a:rPr lang="en-US" altLang="zh-CN" sz="1100" dirty="0"/>
              <a:t> </a:t>
            </a:r>
            <a:r>
              <a:rPr lang="zh-CN" altLang="en-US" sz="1100" dirty="0"/>
              <a:t>排课逻辑题</a:t>
            </a:r>
            <a:r>
              <a:rPr lang="en-US" altLang="zh-CN" sz="1100" dirty="0"/>
              <a:t>                                                                                                                                                                            </a:t>
            </a: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                                                                                                                                                                                      </a:t>
            </a: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</a:t>
            </a:r>
            <a:r>
              <a:rPr lang="zh-CN" altLang="en-US" sz="1100" dirty="0"/>
              <a:t>某培训机构要在周一到周五给</a:t>
            </a:r>
            <a:r>
              <a:rPr lang="en-US" altLang="zh-CN" sz="1100" dirty="0"/>
              <a:t> 4 </a:t>
            </a:r>
            <a:r>
              <a:rPr lang="zh-CN" altLang="en-US" sz="1100" dirty="0"/>
              <a:t>名学员排</a:t>
            </a:r>
            <a:r>
              <a:rPr lang="en-US" altLang="zh-CN" sz="1100" dirty="0"/>
              <a:t> 4 </a:t>
            </a:r>
            <a:r>
              <a:rPr lang="zh-CN" altLang="en-US" sz="1100" dirty="0"/>
              <a:t>门课。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                                                                                                                                                                                      </a:t>
            </a: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- </a:t>
            </a:r>
            <a:r>
              <a:rPr lang="zh-CN" altLang="en-US" sz="1100" dirty="0"/>
              <a:t>学员：</a:t>
            </a:r>
            <a:r>
              <a:rPr lang="en-US" altLang="zh-CN" sz="1100" dirty="0"/>
              <a:t>Alice</a:t>
            </a:r>
            <a:r>
              <a:rPr lang="zh-CN" altLang="en-US" sz="1100" dirty="0"/>
              <a:t>、</a:t>
            </a:r>
            <a:r>
              <a:rPr lang="en-US" altLang="zh-CN" sz="1100" dirty="0"/>
              <a:t>Bob</a:t>
            </a:r>
            <a:r>
              <a:rPr lang="zh-CN" altLang="en-US" sz="1100" dirty="0"/>
              <a:t>、</a:t>
            </a:r>
            <a:r>
              <a:rPr lang="en-US" altLang="zh-CN" sz="1100" dirty="0"/>
              <a:t>Carol</a:t>
            </a:r>
            <a:r>
              <a:rPr lang="zh-CN" altLang="en-US" sz="1100" dirty="0"/>
              <a:t>、</a:t>
            </a:r>
            <a:r>
              <a:rPr lang="en-US" altLang="zh-CN" sz="1100" dirty="0"/>
              <a:t>David                                </a:t>
            </a: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- </a:t>
            </a:r>
            <a:r>
              <a:rPr lang="zh-CN" altLang="en-US" sz="1100" dirty="0"/>
              <a:t>课程：数学</a:t>
            </a:r>
            <a:r>
              <a:rPr lang="en-US" altLang="zh-CN" sz="1100" dirty="0"/>
              <a:t>(M)</a:t>
            </a:r>
            <a:r>
              <a:rPr lang="zh-CN" altLang="en-US" sz="1100" dirty="0"/>
              <a:t>、英语</a:t>
            </a:r>
            <a:r>
              <a:rPr lang="en-US" altLang="zh-CN" sz="1100" dirty="0"/>
              <a:t>(E)</a:t>
            </a:r>
            <a:r>
              <a:rPr lang="zh-CN" altLang="en-US" sz="1100" dirty="0"/>
              <a:t>、编程</a:t>
            </a:r>
            <a:r>
              <a:rPr lang="en-US" altLang="zh-CN" sz="1100" dirty="0"/>
              <a:t>(P)</a:t>
            </a:r>
            <a:r>
              <a:rPr lang="zh-CN" altLang="en-US" sz="1100" dirty="0"/>
              <a:t>、设计</a:t>
            </a:r>
            <a:r>
              <a:rPr lang="en-US" altLang="zh-CN" sz="1100" dirty="0"/>
              <a:t>(D)                                                                                                                                            </a:t>
            </a: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- </a:t>
            </a:r>
            <a:r>
              <a:rPr lang="zh-CN" altLang="en-US" sz="1100" dirty="0"/>
              <a:t>每天</a:t>
            </a:r>
            <a:r>
              <a:rPr lang="en-US" altLang="zh-CN" sz="1100" dirty="0"/>
              <a:t> 2 </a:t>
            </a:r>
            <a:r>
              <a:rPr lang="zh-CN" altLang="en-US" sz="1100" dirty="0"/>
              <a:t>个时段：上午</a:t>
            </a:r>
            <a:r>
              <a:rPr lang="en-US" altLang="zh-CN" sz="1100" dirty="0"/>
              <a:t> / </a:t>
            </a:r>
            <a:r>
              <a:rPr lang="zh-CN" altLang="en-US" sz="1100" dirty="0"/>
              <a:t>下午</a:t>
            </a:r>
            <a:r>
              <a:rPr lang="en-US" altLang="zh-CN" sz="1100" dirty="0"/>
              <a:t>                                    </a:t>
            </a: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- </a:t>
            </a:r>
            <a:r>
              <a:rPr lang="zh-CN" altLang="en-US" sz="1100" dirty="0"/>
              <a:t>只有</a:t>
            </a:r>
            <a:r>
              <a:rPr lang="en-US" altLang="zh-CN" sz="1100" dirty="0"/>
              <a:t> 1 </a:t>
            </a:r>
            <a:r>
              <a:rPr lang="zh-CN" altLang="en-US" sz="1100" dirty="0"/>
              <a:t>间教室，每时段只能开</a:t>
            </a:r>
            <a:r>
              <a:rPr lang="en-US" altLang="zh-CN" sz="1100" dirty="0"/>
              <a:t> 1 </a:t>
            </a:r>
            <a:r>
              <a:rPr lang="zh-CN" altLang="en-US" sz="1100" dirty="0"/>
              <a:t>门课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</a:t>
            </a:r>
            <a:r>
              <a:rPr lang="zh-CN" altLang="en-US" sz="1100" dirty="0"/>
              <a:t>约束</a:t>
            </a: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1. </a:t>
            </a:r>
            <a:r>
              <a:rPr lang="zh-CN" altLang="en-US" sz="1100" dirty="0"/>
              <a:t>每人必须上完全部</a:t>
            </a:r>
            <a:r>
              <a:rPr lang="en-US" altLang="zh-CN" sz="1100" dirty="0"/>
              <a:t> 4 </a:t>
            </a:r>
            <a:r>
              <a:rPr lang="zh-CN" altLang="en-US" sz="1100" dirty="0"/>
              <a:t>门课，每门只上一次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2. </a:t>
            </a:r>
            <a:r>
              <a:rPr lang="zh-CN" altLang="en-US" sz="1100" dirty="0"/>
              <a:t>每门课在整周恰好开</a:t>
            </a:r>
            <a:r>
              <a:rPr lang="en-US" altLang="zh-CN" sz="1100" dirty="0"/>
              <a:t> 2 </a:t>
            </a:r>
            <a:r>
              <a:rPr lang="zh-CN" altLang="en-US" sz="1100" dirty="0"/>
              <a:t>次（供不同人选择）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3. </a:t>
            </a:r>
            <a:r>
              <a:rPr lang="zh-CN" altLang="en-US" sz="1100" dirty="0"/>
              <a:t>每次上课最多坐</a:t>
            </a:r>
            <a:r>
              <a:rPr lang="en-US" altLang="zh-CN" sz="1100" dirty="0"/>
              <a:t> 3 </a:t>
            </a:r>
            <a:r>
              <a:rPr lang="zh-CN" altLang="en-US" sz="1100" dirty="0"/>
              <a:t>人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4. Alice </a:t>
            </a:r>
            <a:r>
              <a:rPr lang="zh-CN" altLang="en-US" sz="1100" dirty="0"/>
              <a:t>和</a:t>
            </a:r>
            <a:r>
              <a:rPr lang="en-US" altLang="zh-CN" sz="1100" dirty="0"/>
              <a:t> Bob </a:t>
            </a:r>
            <a:r>
              <a:rPr lang="zh-CN" altLang="en-US" sz="1100" dirty="0"/>
              <a:t>不能同堂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5. </a:t>
            </a:r>
            <a:r>
              <a:rPr lang="zh-CN" altLang="en-US" sz="1100" dirty="0"/>
              <a:t>编程</a:t>
            </a:r>
            <a:r>
              <a:rPr lang="en-US" altLang="zh-CN" sz="1100" dirty="0"/>
              <a:t>(P)</a:t>
            </a:r>
            <a:r>
              <a:rPr lang="zh-CN" altLang="en-US" sz="1100" dirty="0"/>
              <a:t>必须在设计</a:t>
            </a:r>
            <a:r>
              <a:rPr lang="en-US" altLang="zh-CN" sz="1100" dirty="0"/>
              <a:t>(D)</a:t>
            </a:r>
            <a:r>
              <a:rPr lang="zh-CN" altLang="en-US" sz="1100" dirty="0"/>
              <a:t>之前上（对每个人都适用）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6. David </a:t>
            </a:r>
            <a:r>
              <a:rPr lang="zh-CN" altLang="en-US" sz="1100" dirty="0"/>
              <a:t>周三全天缺席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7. Carol </a:t>
            </a:r>
            <a:r>
              <a:rPr lang="zh-CN" altLang="en-US" sz="1100" dirty="0"/>
              <a:t>只能上午来</a:t>
            </a:r>
            <a:endParaRPr lang="zh-CN" altLang="en-US" sz="1100" dirty="0"/>
          </a:p>
          <a:p>
            <a:pPr marL="0" indent="0" algn="l">
              <a:lnSpc>
                <a:spcPts val="1980"/>
              </a:lnSpc>
              <a:buNone/>
            </a:pPr>
            <a:endParaRPr lang="en-US" altLang="zh-CN" sz="110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altLang="zh-CN" sz="1100" dirty="0"/>
              <a:t>  </a:t>
            </a:r>
            <a:r>
              <a:rPr lang="zh-CN" altLang="en-US" sz="1100" dirty="0"/>
              <a:t>请给出完整的排课方案（课表</a:t>
            </a:r>
            <a:r>
              <a:rPr lang="en-US" altLang="zh-CN" sz="1100" dirty="0"/>
              <a:t> + </a:t>
            </a:r>
            <a:r>
              <a:rPr lang="zh-CN" altLang="en-US" sz="1100" dirty="0"/>
              <a:t>每人选课），或证明无解。</a:t>
            </a:r>
            <a:endParaRPr lang="zh-CN" alt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8370" y="3164840"/>
            <a:ext cx="280987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评判标准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7405" y="3558540"/>
            <a:ext cx="2692400" cy="1219200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所有约束是否全部满足</a:t>
            </a:r>
            <a:endParaRPr 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有无遗漏或冲突</a:t>
            </a:r>
            <a:endParaRPr 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推理过程是否清晰可追溯</a:t>
            </a:r>
            <a:endParaRPr 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输出格式是否结构化</a:t>
            </a:r>
            <a:endParaRPr lang="en-US" sz="1200" dirty="0"/>
          </a:p>
        </p:txBody>
      </p:sp>
      <p:pic>
        <p:nvPicPr>
          <p:cNvPr id="9" name="Image 0" descr="/tmp/pptx_workspace/images/icon_brain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444" y="987574"/>
            <a:ext cx="406301" cy="40630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323850" y="915670"/>
            <a:ext cx="5145405" cy="2059178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 </a:t>
            </a:r>
            <a:r>
              <a:rPr lang="zh-CN" altLang="en-US" sz="800">
                <a:solidFill>
                  <a:srgbClr val="D4D4D4"/>
                </a:solidFill>
              </a:rPr>
              <a:t>排课方案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问题分析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学生</a:t>
            </a:r>
            <a:r>
              <a:rPr lang="en-US" altLang="zh-CN" sz="800">
                <a:solidFill>
                  <a:srgbClr val="D4D4D4"/>
                </a:solidFill>
              </a:rPr>
              <a:t>**: Alice, Bob, Carol, David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课程</a:t>
            </a:r>
            <a:r>
              <a:rPr lang="en-US" altLang="zh-CN" sz="800">
                <a:solidFill>
                  <a:srgbClr val="D4D4D4"/>
                </a:solidFill>
              </a:rPr>
              <a:t>**: </a:t>
            </a:r>
            <a:r>
              <a:rPr lang="zh-CN" altLang="en-US" sz="800">
                <a:solidFill>
                  <a:srgbClr val="D4D4D4"/>
                </a:solidFill>
              </a:rPr>
              <a:t>数学</a:t>
            </a:r>
            <a:r>
              <a:rPr lang="en-US" altLang="zh-CN" sz="800">
                <a:solidFill>
                  <a:srgbClr val="D4D4D4"/>
                </a:solidFill>
              </a:rPr>
              <a:t>(M), </a:t>
            </a:r>
            <a:r>
              <a:rPr lang="zh-CN" altLang="en-US" sz="800">
                <a:solidFill>
                  <a:srgbClr val="D4D4D4"/>
                </a:solidFill>
              </a:rPr>
              <a:t>英语</a:t>
            </a:r>
            <a:r>
              <a:rPr lang="en-US" altLang="zh-CN" sz="800">
                <a:solidFill>
                  <a:srgbClr val="D4D4D4"/>
                </a:solidFill>
              </a:rPr>
              <a:t>(E), </a:t>
            </a:r>
            <a:r>
              <a:rPr lang="zh-CN" altLang="en-US" sz="800">
                <a:solidFill>
                  <a:srgbClr val="D4D4D4"/>
                </a:solidFill>
              </a:rPr>
              <a:t>编程</a:t>
            </a:r>
            <a:r>
              <a:rPr lang="en-US" altLang="zh-CN" sz="800">
                <a:solidFill>
                  <a:srgbClr val="D4D4D4"/>
                </a:solidFill>
              </a:rPr>
              <a:t>(P), </a:t>
            </a:r>
            <a:r>
              <a:rPr lang="zh-CN" altLang="en-US" sz="800">
                <a:solidFill>
                  <a:srgbClr val="D4D4D4"/>
                </a:solidFill>
              </a:rPr>
              <a:t>设计</a:t>
            </a:r>
            <a:r>
              <a:rPr lang="en-US" altLang="zh-CN" sz="800">
                <a:solidFill>
                  <a:srgbClr val="D4D4D4"/>
                </a:solidFill>
              </a:rPr>
              <a:t>(D)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时段</a:t>
            </a:r>
            <a:r>
              <a:rPr lang="en-US" altLang="zh-CN" sz="800">
                <a:solidFill>
                  <a:srgbClr val="D4D4D4"/>
                </a:solidFill>
              </a:rPr>
              <a:t>**: 5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×</a:t>
            </a:r>
            <a:r>
              <a:rPr lang="en-US" altLang="zh-CN" sz="800">
                <a:solidFill>
                  <a:srgbClr val="D4D4D4"/>
                </a:solidFill>
              </a:rPr>
              <a:t> 2</a:t>
            </a:r>
            <a:r>
              <a:rPr lang="zh-CN" altLang="en-US" sz="800">
                <a:solidFill>
                  <a:srgbClr val="D4D4D4"/>
                </a:solidFill>
              </a:rPr>
              <a:t>时段</a:t>
            </a:r>
            <a:r>
              <a:rPr lang="en-US" altLang="zh-CN" sz="800">
                <a:solidFill>
                  <a:srgbClr val="D4D4D4"/>
                </a:solidFill>
              </a:rPr>
              <a:t> = 10</a:t>
            </a:r>
            <a:r>
              <a:rPr lang="zh-CN" altLang="en-US" sz="800">
                <a:solidFill>
                  <a:srgbClr val="D4D4D4"/>
                </a:solidFill>
              </a:rPr>
              <a:t>个时段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约束</a:t>
            </a:r>
            <a:r>
              <a:rPr lang="en-US" altLang="zh-CN" sz="800">
                <a:solidFill>
                  <a:srgbClr val="D4D4D4"/>
                </a:solidFill>
              </a:rPr>
              <a:t>**: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1. </a:t>
            </a:r>
            <a:r>
              <a:rPr lang="zh-CN" altLang="en-US" sz="800">
                <a:solidFill>
                  <a:srgbClr val="D4D4D4"/>
                </a:solidFill>
              </a:rPr>
              <a:t>每人必须上完全部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门课，每门只上一次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2. </a:t>
            </a:r>
            <a:r>
              <a:rPr lang="zh-CN" altLang="en-US" sz="800">
                <a:solidFill>
                  <a:srgbClr val="D4D4D4"/>
                </a:solidFill>
              </a:rPr>
              <a:t>每门课在整周恰好开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次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3. </a:t>
            </a:r>
            <a:r>
              <a:rPr lang="zh-CN" altLang="en-US" sz="800">
                <a:solidFill>
                  <a:srgbClr val="D4D4D4"/>
                </a:solidFill>
              </a:rPr>
              <a:t>每次上课最多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人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4. Alice</a:t>
            </a:r>
            <a:r>
              <a:rPr lang="zh-CN" altLang="en-US" sz="800">
                <a:solidFill>
                  <a:srgbClr val="D4D4D4"/>
                </a:solidFill>
              </a:rPr>
              <a:t>和</a:t>
            </a:r>
            <a:r>
              <a:rPr lang="en-US" altLang="zh-CN" sz="800">
                <a:solidFill>
                  <a:srgbClr val="D4D4D4"/>
                </a:solidFill>
              </a:rPr>
              <a:t>Bob</a:t>
            </a:r>
            <a:r>
              <a:rPr lang="zh-CN" altLang="en-US" sz="800">
                <a:solidFill>
                  <a:srgbClr val="D4D4D4"/>
                </a:solidFill>
              </a:rPr>
              <a:t>不能同堂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5. P</a:t>
            </a:r>
            <a:r>
              <a:rPr lang="zh-CN" altLang="en-US" sz="800">
                <a:solidFill>
                  <a:srgbClr val="D4D4D4"/>
                </a:solidFill>
              </a:rPr>
              <a:t>必须在</a:t>
            </a:r>
            <a:r>
              <a:rPr lang="en-US" altLang="zh-CN" sz="800">
                <a:solidFill>
                  <a:srgbClr val="D4D4D4"/>
                </a:solidFill>
              </a:rPr>
              <a:t>D</a:t>
            </a:r>
            <a:r>
              <a:rPr lang="zh-CN" altLang="en-US" sz="800">
                <a:solidFill>
                  <a:srgbClr val="D4D4D4"/>
                </a:solidFill>
              </a:rPr>
              <a:t>之前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6. David</a:t>
            </a:r>
            <a:r>
              <a:rPr lang="zh-CN" altLang="en-US" sz="800">
                <a:solidFill>
                  <a:srgbClr val="D4D4D4"/>
                </a:solidFill>
              </a:rPr>
              <a:t>周三维全天缺席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7. Carol</a:t>
            </a:r>
            <a:r>
              <a:rPr lang="zh-CN" altLang="en-US" sz="800">
                <a:solidFill>
                  <a:srgbClr val="D4D4D4"/>
                </a:solidFill>
              </a:rPr>
              <a:t>只能上午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最终可行方案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</a:t>
            </a:r>
            <a:r>
              <a:rPr lang="zh-CN" altLang="en-US" sz="800">
                <a:solidFill>
                  <a:srgbClr val="D4D4D4"/>
                </a:solidFill>
              </a:rPr>
              <a:t>课程时段安排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</a:t>
            </a:r>
            <a:r>
              <a:rPr lang="zh-CN" altLang="en-US" sz="800">
                <a:solidFill>
                  <a:srgbClr val="D4D4D4"/>
                </a:solidFill>
              </a:rPr>
              <a:t>时段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周一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周二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周三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周四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周五</a:t>
            </a:r>
            <a:r>
              <a:rPr lang="en-US" altLang="zh-CN" sz="800">
                <a:solidFill>
                  <a:srgbClr val="D4D4D4"/>
                </a:solidFill>
              </a:rPr>
              <a:t>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|------|------|------|------|------|------|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**</a:t>
            </a:r>
            <a:r>
              <a:rPr lang="zh-CN" altLang="en-US" sz="800">
                <a:solidFill>
                  <a:srgbClr val="D4D4D4"/>
                </a:solidFill>
              </a:rPr>
              <a:t>上午</a:t>
            </a:r>
            <a:r>
              <a:rPr lang="en-US" altLang="zh-CN" sz="800">
                <a:solidFill>
                  <a:srgbClr val="D4D4D4"/>
                </a:solidFill>
              </a:rPr>
              <a:t>** | **P** | **E** | **M** | **D** | **M**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| Alice | Bob | Bob | David | Alice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| Carol | Carol | Carol | Alice | David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**</a:t>
            </a:r>
            <a:r>
              <a:rPr lang="zh-CN" altLang="en-US" sz="800">
                <a:solidFill>
                  <a:srgbClr val="D4D4D4"/>
                </a:solidFill>
              </a:rPr>
              <a:t>下午</a:t>
            </a:r>
            <a:r>
              <a:rPr lang="en-US" altLang="zh-CN" sz="800">
                <a:solidFill>
                  <a:srgbClr val="D4D4D4"/>
                </a:solidFill>
              </a:rPr>
              <a:t>** | **E** | **P** | **D** | **D** | **P**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| Bob | Alice | | Bob |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| | Bob | | |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</a:t>
            </a:r>
            <a:r>
              <a:rPr lang="zh-CN" altLang="en-US" sz="800">
                <a:solidFill>
                  <a:srgbClr val="D4D4D4"/>
                </a:solidFill>
              </a:rPr>
              <a:t>各课程开设时段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</a:t>
            </a:r>
            <a:r>
              <a:rPr lang="zh-CN" altLang="en-US" sz="800">
                <a:solidFill>
                  <a:srgbClr val="D4D4D4"/>
                </a:solidFill>
              </a:rPr>
              <a:t>课程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第一次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第二次</a:t>
            </a:r>
            <a:r>
              <a:rPr lang="en-US" altLang="zh-CN" sz="800">
                <a:solidFill>
                  <a:srgbClr val="D4D4D4"/>
                </a:solidFill>
              </a:rPr>
              <a:t>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|------|--------|--------|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P(</a:t>
            </a:r>
            <a:r>
              <a:rPr lang="zh-CN" altLang="en-US" sz="800">
                <a:solidFill>
                  <a:srgbClr val="D4D4D4"/>
                </a:solidFill>
              </a:rPr>
              <a:t>编程</a:t>
            </a:r>
            <a:r>
              <a:rPr lang="en-US" altLang="zh-CN" sz="800">
                <a:solidFill>
                  <a:srgbClr val="D4D4D4"/>
                </a:solidFill>
              </a:rPr>
              <a:t>) | </a:t>
            </a:r>
            <a:r>
              <a:rPr lang="zh-CN" altLang="en-US" sz="800">
                <a:solidFill>
                  <a:srgbClr val="D4D4D4"/>
                </a:solidFill>
              </a:rPr>
              <a:t>周一上午</a:t>
            </a:r>
            <a:r>
              <a:rPr lang="en-US" altLang="zh-CN" sz="800">
                <a:solidFill>
                  <a:srgbClr val="D4D4D4"/>
                </a:solidFill>
              </a:rPr>
              <a:t>(Alice,Carol) | </a:t>
            </a:r>
            <a:r>
              <a:rPr lang="zh-CN" altLang="en-US" sz="800">
                <a:solidFill>
                  <a:srgbClr val="D4D4D4"/>
                </a:solidFill>
              </a:rPr>
              <a:t>周二下午</a:t>
            </a:r>
            <a:r>
              <a:rPr lang="en-US" altLang="zh-CN" sz="800">
                <a:solidFill>
                  <a:srgbClr val="D4D4D4"/>
                </a:solidFill>
              </a:rPr>
              <a:t>(Alice,Bob)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E(</a:t>
            </a:r>
            <a:r>
              <a:rPr lang="zh-CN" altLang="en-US" sz="800">
                <a:solidFill>
                  <a:srgbClr val="D4D4D4"/>
                </a:solidFill>
              </a:rPr>
              <a:t>英语</a:t>
            </a:r>
            <a:r>
              <a:rPr lang="en-US" altLang="zh-CN" sz="800">
                <a:solidFill>
                  <a:srgbClr val="D4D4D4"/>
                </a:solidFill>
              </a:rPr>
              <a:t>) | </a:t>
            </a:r>
            <a:r>
              <a:rPr lang="zh-CN" altLang="en-US" sz="800">
                <a:solidFill>
                  <a:srgbClr val="D4D4D4"/>
                </a:solidFill>
              </a:rPr>
              <a:t>周二上午</a:t>
            </a:r>
            <a:r>
              <a:rPr lang="en-US" altLang="zh-CN" sz="800">
                <a:solidFill>
                  <a:srgbClr val="D4D4D4"/>
                </a:solidFill>
              </a:rPr>
              <a:t>(Bob,Carol) | </a:t>
            </a:r>
            <a:r>
              <a:rPr lang="zh-CN" altLang="en-US" sz="800">
                <a:solidFill>
                  <a:srgbClr val="D4D4D4"/>
                </a:solidFill>
              </a:rPr>
              <a:t>周一下午</a:t>
            </a:r>
            <a:r>
              <a:rPr lang="en-US" altLang="zh-CN" sz="800">
                <a:solidFill>
                  <a:srgbClr val="D4D4D4"/>
                </a:solidFill>
              </a:rPr>
              <a:t>(Bob)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M(</a:t>
            </a:r>
            <a:r>
              <a:rPr lang="zh-CN" altLang="en-US" sz="800">
                <a:solidFill>
                  <a:srgbClr val="D4D4D4"/>
                </a:solidFill>
              </a:rPr>
              <a:t>数学</a:t>
            </a:r>
            <a:r>
              <a:rPr lang="en-US" altLang="zh-CN" sz="800">
                <a:solidFill>
                  <a:srgbClr val="D4D4D4"/>
                </a:solidFill>
              </a:rPr>
              <a:t>) | </a:t>
            </a:r>
            <a:r>
              <a:rPr lang="zh-CN" altLang="en-US" sz="800">
                <a:solidFill>
                  <a:srgbClr val="D4D4D4"/>
                </a:solidFill>
              </a:rPr>
              <a:t>周三上午</a:t>
            </a:r>
            <a:r>
              <a:rPr lang="en-US" altLang="zh-CN" sz="800">
                <a:solidFill>
                  <a:srgbClr val="D4D4D4"/>
                </a:solidFill>
              </a:rPr>
              <a:t>(Bob,Carol) | </a:t>
            </a:r>
            <a:r>
              <a:rPr lang="zh-CN" altLang="en-US" sz="800">
                <a:solidFill>
                  <a:srgbClr val="D4D4D4"/>
                </a:solidFill>
              </a:rPr>
              <a:t>周五上午</a:t>
            </a:r>
            <a:r>
              <a:rPr lang="en-US" altLang="zh-CN" sz="800">
                <a:solidFill>
                  <a:srgbClr val="D4D4D4"/>
                </a:solidFill>
              </a:rPr>
              <a:t>(Alice,David)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D(</a:t>
            </a:r>
            <a:r>
              <a:rPr lang="zh-CN" altLang="en-US" sz="800">
                <a:solidFill>
                  <a:srgbClr val="D4D4D4"/>
                </a:solidFill>
              </a:rPr>
              <a:t>设计</a:t>
            </a:r>
            <a:r>
              <a:rPr lang="en-US" altLang="zh-CN" sz="800">
                <a:solidFill>
                  <a:srgbClr val="D4D4D4"/>
                </a:solidFill>
              </a:rPr>
              <a:t>) | </a:t>
            </a:r>
            <a:r>
              <a:rPr lang="zh-CN" altLang="en-US" sz="800">
                <a:solidFill>
                  <a:srgbClr val="D4D4D4"/>
                </a:solidFill>
              </a:rPr>
              <a:t>周四上午</a:t>
            </a:r>
            <a:r>
              <a:rPr lang="en-US" altLang="zh-CN" sz="800">
                <a:solidFill>
                  <a:srgbClr val="D4D4D4"/>
                </a:solidFill>
              </a:rPr>
              <a:t>(David,Alice) | </a:t>
            </a:r>
            <a:r>
              <a:rPr lang="zh-CN" altLang="en-US" sz="800">
                <a:solidFill>
                  <a:srgbClr val="D4D4D4"/>
                </a:solidFill>
              </a:rPr>
              <a:t>周四下午</a:t>
            </a:r>
            <a:r>
              <a:rPr lang="en-US" altLang="zh-CN" sz="800">
                <a:solidFill>
                  <a:srgbClr val="D4D4D4"/>
                </a:solidFill>
              </a:rPr>
              <a:t>(Bob)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</a:t>
            </a:r>
            <a:r>
              <a:rPr lang="zh-CN" altLang="en-US" sz="800">
                <a:solidFill>
                  <a:srgbClr val="D4D4D4"/>
                </a:solidFill>
              </a:rPr>
              <a:t>每人课程表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</a:t>
            </a:r>
            <a:r>
              <a:rPr lang="zh-CN" altLang="en-US" sz="800">
                <a:solidFill>
                  <a:srgbClr val="D4D4D4"/>
                </a:solidFill>
              </a:rPr>
              <a:t>学生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数学</a:t>
            </a:r>
            <a:r>
              <a:rPr lang="en-US" altLang="zh-CN" sz="800">
                <a:solidFill>
                  <a:srgbClr val="D4D4D4"/>
                </a:solidFill>
              </a:rPr>
              <a:t>(M) | </a:t>
            </a:r>
            <a:r>
              <a:rPr lang="zh-CN" altLang="en-US" sz="800">
                <a:solidFill>
                  <a:srgbClr val="D4D4D4"/>
                </a:solidFill>
              </a:rPr>
              <a:t>英语</a:t>
            </a:r>
            <a:r>
              <a:rPr lang="en-US" altLang="zh-CN" sz="800">
                <a:solidFill>
                  <a:srgbClr val="D4D4D4"/>
                </a:solidFill>
              </a:rPr>
              <a:t>(E) | </a:t>
            </a:r>
            <a:r>
              <a:rPr lang="zh-CN" altLang="en-US" sz="800">
                <a:solidFill>
                  <a:srgbClr val="D4D4D4"/>
                </a:solidFill>
              </a:rPr>
              <a:t>编程</a:t>
            </a:r>
            <a:r>
              <a:rPr lang="en-US" altLang="zh-CN" sz="800">
                <a:solidFill>
                  <a:srgbClr val="D4D4D4"/>
                </a:solidFill>
              </a:rPr>
              <a:t>(P) | </a:t>
            </a:r>
            <a:r>
              <a:rPr lang="zh-CN" altLang="en-US" sz="800">
                <a:solidFill>
                  <a:srgbClr val="D4D4D4"/>
                </a:solidFill>
              </a:rPr>
              <a:t>设计</a:t>
            </a:r>
            <a:r>
              <a:rPr lang="en-US" altLang="zh-CN" sz="800">
                <a:solidFill>
                  <a:srgbClr val="D4D4D4"/>
                </a:solidFill>
              </a:rPr>
              <a:t>(D)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|------|---------|---------|---------|---------|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**Alice** | </a:t>
            </a:r>
            <a:r>
              <a:rPr lang="zh-CN" altLang="en-US" sz="800">
                <a:solidFill>
                  <a:srgbClr val="D4D4D4"/>
                </a:solidFill>
              </a:rPr>
              <a:t>周五上午</a:t>
            </a:r>
            <a:r>
              <a:rPr lang="en-US" altLang="zh-CN" sz="800">
                <a:solidFill>
                  <a:srgbClr val="D4D4D4"/>
                </a:solidFill>
              </a:rPr>
              <a:t> | — | </a:t>
            </a:r>
            <a:r>
              <a:rPr lang="zh-CN" altLang="en-US" sz="800">
                <a:solidFill>
                  <a:srgbClr val="D4D4D4"/>
                </a:solidFill>
              </a:rPr>
              <a:t>周一上午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周四上午</a:t>
            </a:r>
            <a:r>
              <a:rPr lang="en-US" altLang="zh-CN" sz="800">
                <a:solidFill>
                  <a:srgbClr val="D4D4D4"/>
                </a:solidFill>
              </a:rPr>
              <a:t>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**Bob** | </a:t>
            </a:r>
            <a:r>
              <a:rPr lang="zh-CN" altLang="en-US" sz="800">
                <a:solidFill>
                  <a:srgbClr val="D4D4D4"/>
                </a:solidFill>
              </a:rPr>
              <a:t>周三上午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周一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二上午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周二下午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周四下午</a:t>
            </a:r>
            <a:r>
              <a:rPr lang="en-US" altLang="zh-CN" sz="800">
                <a:solidFill>
                  <a:srgbClr val="D4D4D4"/>
                </a:solidFill>
              </a:rPr>
              <a:t>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**Carol** | </a:t>
            </a:r>
            <a:r>
              <a:rPr lang="zh-CN" altLang="en-US" sz="800">
                <a:solidFill>
                  <a:srgbClr val="D4D4D4"/>
                </a:solidFill>
              </a:rPr>
              <a:t>周三上午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周二上午</a:t>
            </a:r>
            <a:r>
              <a:rPr lang="en-US" altLang="zh-CN" sz="800">
                <a:solidFill>
                  <a:srgbClr val="D4D4D4"/>
                </a:solidFill>
              </a:rPr>
              <a:t> | </a:t>
            </a:r>
            <a:r>
              <a:rPr lang="zh-CN" altLang="en-US" sz="800">
                <a:solidFill>
                  <a:srgbClr val="D4D4D4"/>
                </a:solidFill>
              </a:rPr>
              <a:t>周一上午</a:t>
            </a:r>
            <a:r>
              <a:rPr lang="en-US" altLang="zh-CN" sz="800">
                <a:solidFill>
                  <a:srgbClr val="D4D4D4"/>
                </a:solidFill>
              </a:rPr>
              <a:t> | —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| **David** | </a:t>
            </a:r>
            <a:r>
              <a:rPr lang="zh-CN" altLang="en-US" sz="800">
                <a:solidFill>
                  <a:srgbClr val="D4D4D4"/>
                </a:solidFill>
              </a:rPr>
              <a:t>周五上午</a:t>
            </a:r>
            <a:r>
              <a:rPr lang="en-US" altLang="zh-CN" sz="800">
                <a:solidFill>
                  <a:srgbClr val="D4D4D4"/>
                </a:solidFill>
              </a:rPr>
              <a:t> | — | — | </a:t>
            </a:r>
            <a:r>
              <a:rPr lang="zh-CN" altLang="en-US" sz="800">
                <a:solidFill>
                  <a:srgbClr val="D4D4D4"/>
                </a:solidFill>
              </a:rPr>
              <a:t>周四上午</a:t>
            </a:r>
            <a:r>
              <a:rPr lang="en-US" altLang="zh-CN" sz="800">
                <a:solidFill>
                  <a:srgbClr val="D4D4D4"/>
                </a:solidFill>
              </a:rPr>
              <a:t> |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发现问题</a:t>
            </a:r>
            <a:r>
              <a:rPr lang="en-US" altLang="zh-CN" sz="800">
                <a:solidFill>
                  <a:srgbClr val="D4D4D4"/>
                </a:solidFill>
              </a:rPr>
              <a:t>**: Alice</a:t>
            </a:r>
            <a:r>
              <a:rPr lang="zh-CN" altLang="en-US" sz="800">
                <a:solidFill>
                  <a:srgbClr val="D4D4D4"/>
                </a:solidFill>
              </a:rPr>
              <a:t>缺</a:t>
            </a:r>
            <a:r>
              <a:rPr lang="en-US" altLang="zh-CN" sz="800">
                <a:solidFill>
                  <a:srgbClr val="D4D4D4"/>
                </a:solidFill>
              </a:rPr>
              <a:t>E</a:t>
            </a:r>
            <a:r>
              <a:rPr lang="zh-CN" altLang="en-US" sz="800">
                <a:solidFill>
                  <a:srgbClr val="D4D4D4"/>
                </a:solidFill>
              </a:rPr>
              <a:t>课，</a:t>
            </a:r>
            <a:r>
              <a:rPr lang="en-US" altLang="zh-CN" sz="800">
                <a:solidFill>
                  <a:srgbClr val="D4D4D4"/>
                </a:solidFill>
              </a:rPr>
              <a:t>Carol</a:t>
            </a:r>
            <a:r>
              <a:rPr lang="zh-CN" altLang="en-US" sz="800">
                <a:solidFill>
                  <a:srgbClr val="D4D4D4"/>
                </a:solidFill>
              </a:rPr>
              <a:t>缺</a:t>
            </a:r>
            <a:r>
              <a:rPr lang="en-US" altLang="zh-CN" sz="800">
                <a:solidFill>
                  <a:srgbClr val="D4D4D4"/>
                </a:solidFill>
              </a:rPr>
              <a:t>D</a:t>
            </a:r>
            <a:r>
              <a:rPr lang="zh-CN" altLang="en-US" sz="800">
                <a:solidFill>
                  <a:srgbClr val="D4D4D4"/>
                </a:solidFill>
              </a:rPr>
              <a:t>课，</a:t>
            </a:r>
            <a:r>
              <a:rPr lang="en-US" altLang="zh-CN" sz="800">
                <a:solidFill>
                  <a:srgbClr val="D4D4D4"/>
                </a:solidFill>
              </a:rPr>
              <a:t>David</a:t>
            </a:r>
            <a:r>
              <a:rPr lang="zh-CN" altLang="en-US" sz="800">
                <a:solidFill>
                  <a:srgbClr val="D4D4D4"/>
                </a:solidFill>
              </a:rPr>
              <a:t>缺</a:t>
            </a:r>
            <a:r>
              <a:rPr lang="en-US" altLang="zh-CN" sz="800">
                <a:solidFill>
                  <a:srgbClr val="D4D4D4"/>
                </a:solidFill>
              </a:rPr>
              <a:t>E</a:t>
            </a:r>
            <a:r>
              <a:rPr lang="zh-CN" altLang="en-US" sz="800">
                <a:solidFill>
                  <a:srgbClr val="D4D4D4"/>
                </a:solidFill>
              </a:rPr>
              <a:t>和</a:t>
            </a:r>
            <a:r>
              <a:rPr lang="en-US" altLang="zh-CN" sz="800">
                <a:solidFill>
                  <a:srgbClr val="D4D4D4"/>
                </a:solidFill>
              </a:rPr>
              <a:t>P</a:t>
            </a:r>
            <a:r>
              <a:rPr lang="zh-CN" altLang="en-US" sz="800">
                <a:solidFill>
                  <a:srgbClr val="D4D4D4"/>
                </a:solidFill>
              </a:rPr>
              <a:t>课！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正确理解后的完整解答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经过仔细推敲，正确答案为：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</a:t>
            </a:r>
            <a:r>
              <a:rPr lang="zh-CN" altLang="en-US" sz="800">
                <a:solidFill>
                  <a:srgbClr val="D4D4D4"/>
                </a:solidFill>
              </a:rPr>
              <a:t>最终方案（满足所有约束）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**Carol</a:t>
            </a:r>
            <a:r>
              <a:rPr lang="zh-CN" altLang="en-US" sz="800">
                <a:solidFill>
                  <a:srgbClr val="D4D4D4"/>
                </a:solidFill>
              </a:rPr>
              <a:t>的课程</a:t>
            </a:r>
            <a:r>
              <a:rPr lang="en-US" altLang="zh-CN" sz="800">
                <a:solidFill>
                  <a:srgbClr val="D4D4D4"/>
                </a:solidFill>
              </a:rPr>
              <a:t>** (</a:t>
            </a:r>
            <a:r>
              <a:rPr lang="zh-CN" altLang="en-US" sz="800">
                <a:solidFill>
                  <a:srgbClr val="D4D4D4"/>
                </a:solidFill>
              </a:rPr>
              <a:t>上午</a:t>
            </a:r>
            <a:r>
              <a:rPr lang="en-US" altLang="zh-CN" sz="800">
                <a:solidFill>
                  <a:srgbClr val="D4D4D4"/>
                </a:solidFill>
              </a:rPr>
              <a:t>): P=</a:t>
            </a:r>
            <a:r>
              <a:rPr lang="zh-CN" altLang="en-US" sz="800">
                <a:solidFill>
                  <a:srgbClr val="D4D4D4"/>
                </a:solidFill>
              </a:rPr>
              <a:t>周一上午</a:t>
            </a:r>
            <a:r>
              <a:rPr lang="en-US" altLang="zh-CN" sz="800">
                <a:solidFill>
                  <a:srgbClr val="D4D4D4"/>
                </a:solidFill>
              </a:rPr>
              <a:t>, E=</a:t>
            </a:r>
            <a:r>
              <a:rPr lang="zh-CN" altLang="en-US" sz="800">
                <a:solidFill>
                  <a:srgbClr val="D4D4D4"/>
                </a:solidFill>
              </a:rPr>
              <a:t>周二上午</a:t>
            </a:r>
            <a:r>
              <a:rPr lang="en-US" altLang="zh-CN" sz="800">
                <a:solidFill>
                  <a:srgbClr val="D4D4D4"/>
                </a:solidFill>
              </a:rPr>
              <a:t>, M=</a:t>
            </a:r>
            <a:r>
              <a:rPr lang="zh-CN" altLang="en-US" sz="800">
                <a:solidFill>
                  <a:srgbClr val="D4D4D4"/>
                </a:solidFill>
              </a:rPr>
              <a:t>周三上午</a:t>
            </a:r>
            <a:r>
              <a:rPr lang="en-US" altLang="zh-CN" sz="800">
                <a:solidFill>
                  <a:srgbClr val="D4D4D4"/>
                </a:solidFill>
              </a:rPr>
              <a:t>, D=</a:t>
            </a:r>
            <a:r>
              <a:rPr lang="zh-CN" altLang="en-US" sz="800">
                <a:solidFill>
                  <a:srgbClr val="D4D4D4"/>
                </a:solidFill>
              </a:rPr>
              <a:t>周四上午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**Alice</a:t>
            </a:r>
            <a:r>
              <a:rPr lang="zh-CN" altLang="en-US" sz="800">
                <a:solidFill>
                  <a:srgbClr val="D4D4D4"/>
                </a:solidFill>
              </a:rPr>
              <a:t>的课程</a:t>
            </a:r>
            <a:r>
              <a:rPr lang="en-US" altLang="zh-CN" sz="800">
                <a:solidFill>
                  <a:srgbClr val="D4D4D4"/>
                </a:solidFill>
              </a:rPr>
              <a:t>**: P=</a:t>
            </a:r>
            <a:r>
              <a:rPr lang="zh-CN" altLang="en-US" sz="800">
                <a:solidFill>
                  <a:srgbClr val="D4D4D4"/>
                </a:solidFill>
              </a:rPr>
              <a:t>周一上午</a:t>
            </a:r>
            <a:r>
              <a:rPr lang="en-US" altLang="zh-CN" sz="800">
                <a:solidFill>
                  <a:srgbClr val="D4D4D4"/>
                </a:solidFill>
              </a:rPr>
              <a:t>, E=</a:t>
            </a:r>
            <a:r>
              <a:rPr lang="zh-CN" altLang="en-US" sz="800">
                <a:solidFill>
                  <a:srgbClr val="D4D4D4"/>
                </a:solidFill>
              </a:rPr>
              <a:t>周五上午</a:t>
            </a:r>
            <a:r>
              <a:rPr lang="en-US" altLang="zh-CN" sz="800">
                <a:solidFill>
                  <a:srgbClr val="D4D4D4"/>
                </a:solidFill>
              </a:rPr>
              <a:t>, M=</a:t>
            </a:r>
            <a:r>
              <a:rPr lang="zh-CN" altLang="en-US" sz="800">
                <a:solidFill>
                  <a:srgbClr val="D4D4D4"/>
                </a:solidFill>
              </a:rPr>
              <a:t>周五上午</a:t>
            </a:r>
            <a:r>
              <a:rPr lang="en-US" altLang="zh-CN" sz="800">
                <a:solidFill>
                  <a:srgbClr val="D4D4D4"/>
                </a:solidFill>
              </a:rPr>
              <a:t>, D=</a:t>
            </a:r>
            <a:r>
              <a:rPr lang="zh-CN" altLang="en-US" sz="800">
                <a:solidFill>
                  <a:srgbClr val="D4D4D4"/>
                </a:solidFill>
              </a:rPr>
              <a:t>周一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四下午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**Bob</a:t>
            </a:r>
            <a:r>
              <a:rPr lang="zh-CN" altLang="en-US" sz="800">
                <a:solidFill>
                  <a:srgbClr val="D4D4D4"/>
                </a:solidFill>
              </a:rPr>
              <a:t>的课程</a:t>
            </a:r>
            <a:r>
              <a:rPr lang="en-US" altLang="zh-CN" sz="800">
                <a:solidFill>
                  <a:srgbClr val="D4D4D4"/>
                </a:solidFill>
              </a:rPr>
              <a:t>**: P=</a:t>
            </a:r>
            <a:r>
              <a:rPr lang="zh-CN" altLang="en-US" sz="800">
                <a:solidFill>
                  <a:srgbClr val="D4D4D4"/>
                </a:solidFill>
              </a:rPr>
              <a:t>周二下午</a:t>
            </a:r>
            <a:r>
              <a:rPr lang="en-US" altLang="zh-CN" sz="800">
                <a:solidFill>
                  <a:srgbClr val="D4D4D4"/>
                </a:solidFill>
              </a:rPr>
              <a:t>, E=</a:t>
            </a:r>
            <a:r>
              <a:rPr lang="zh-CN" altLang="en-US" sz="800">
                <a:solidFill>
                  <a:srgbClr val="D4D4D4"/>
                </a:solidFill>
              </a:rPr>
              <a:t>周一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二上午</a:t>
            </a:r>
            <a:r>
              <a:rPr lang="en-US" altLang="zh-CN" sz="800">
                <a:solidFill>
                  <a:srgbClr val="D4D4D4"/>
                </a:solidFill>
              </a:rPr>
              <a:t>, M=</a:t>
            </a:r>
            <a:r>
              <a:rPr lang="zh-CN" altLang="en-US" sz="800">
                <a:solidFill>
                  <a:srgbClr val="D4D4D4"/>
                </a:solidFill>
              </a:rPr>
              <a:t>周三上午</a:t>
            </a:r>
            <a:r>
              <a:rPr lang="en-US" altLang="zh-CN" sz="800">
                <a:solidFill>
                  <a:srgbClr val="D4D4D4"/>
                </a:solidFill>
              </a:rPr>
              <a:t>, D=</a:t>
            </a:r>
            <a:r>
              <a:rPr lang="zh-CN" altLang="en-US" sz="800">
                <a:solidFill>
                  <a:srgbClr val="D4D4D4"/>
                </a:solidFill>
              </a:rPr>
              <a:t>周四下午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**David</a:t>
            </a:r>
            <a:r>
              <a:rPr lang="zh-CN" altLang="en-US" sz="800">
                <a:solidFill>
                  <a:srgbClr val="D4D4D4"/>
                </a:solidFill>
              </a:rPr>
              <a:t>的课程</a:t>
            </a:r>
            <a:r>
              <a:rPr lang="en-US" altLang="zh-CN" sz="800">
                <a:solidFill>
                  <a:srgbClr val="D4D4D4"/>
                </a:solidFill>
              </a:rPr>
              <a:t>**: E=</a:t>
            </a:r>
            <a:r>
              <a:rPr lang="zh-CN" altLang="en-US" sz="800">
                <a:solidFill>
                  <a:srgbClr val="D4D4D4"/>
                </a:solidFill>
              </a:rPr>
              <a:t>周二上午</a:t>
            </a:r>
            <a:r>
              <a:rPr lang="en-US" altLang="zh-CN" sz="800">
                <a:solidFill>
                  <a:srgbClr val="D4D4D4"/>
                </a:solidFill>
              </a:rPr>
              <a:t>, M=</a:t>
            </a:r>
            <a:r>
              <a:rPr lang="zh-CN" altLang="en-US" sz="800">
                <a:solidFill>
                  <a:srgbClr val="D4D4D4"/>
                </a:solidFill>
              </a:rPr>
              <a:t>周五上午</a:t>
            </a:r>
            <a:r>
              <a:rPr lang="en-US" altLang="zh-CN" sz="800">
                <a:solidFill>
                  <a:srgbClr val="D4D4D4"/>
                </a:solidFill>
              </a:rPr>
              <a:t>, D=</a:t>
            </a:r>
            <a:r>
              <a:rPr lang="zh-CN" altLang="en-US" sz="800">
                <a:solidFill>
                  <a:srgbClr val="D4D4D4"/>
                </a:solidFill>
              </a:rPr>
              <a:t>周四上午</a:t>
            </a:r>
            <a:r>
              <a:rPr lang="en-US" altLang="zh-CN" sz="800">
                <a:solidFill>
                  <a:srgbClr val="D4D4D4"/>
                </a:solidFill>
              </a:rPr>
              <a:t>, P=?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结论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此问题无解。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</a:t>
            </a:r>
            <a:r>
              <a:rPr lang="zh-CN" altLang="en-US" sz="800">
                <a:solidFill>
                  <a:srgbClr val="D4D4D4"/>
                </a:solidFill>
              </a:rPr>
              <a:t>核心矛盾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Carol</a:t>
            </a:r>
            <a:r>
              <a:rPr lang="zh-CN" altLang="en-US" sz="800">
                <a:solidFill>
                  <a:srgbClr val="D4D4D4"/>
                </a:solidFill>
              </a:rPr>
              <a:t>只能上午，需要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门课全在上午：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P, E, M, D </a:t>
            </a:r>
            <a:r>
              <a:rPr lang="zh-CN" altLang="en-US" sz="800">
                <a:solidFill>
                  <a:srgbClr val="D4D4D4"/>
                </a:solidFill>
              </a:rPr>
              <a:t>各占一个上午时段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但</a:t>
            </a:r>
            <a:r>
              <a:rPr lang="en-US" altLang="zh-CN" sz="800">
                <a:solidFill>
                  <a:srgbClr val="D4D4D4"/>
                </a:solidFill>
              </a:rPr>
              <a:t>Alice</a:t>
            </a:r>
            <a:r>
              <a:rPr lang="zh-CN" altLang="en-US" sz="800">
                <a:solidFill>
                  <a:srgbClr val="D4D4D4"/>
                </a:solidFill>
              </a:rPr>
              <a:t>和</a:t>
            </a:r>
            <a:r>
              <a:rPr lang="en-US" altLang="zh-CN" sz="800">
                <a:solidFill>
                  <a:srgbClr val="D4D4D4"/>
                </a:solidFill>
              </a:rPr>
              <a:t>Bob</a:t>
            </a:r>
            <a:r>
              <a:rPr lang="zh-CN" altLang="en-US" sz="800">
                <a:solidFill>
                  <a:srgbClr val="D4D4D4"/>
                </a:solidFill>
              </a:rPr>
              <a:t>各有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门课，且他们不能同堂。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当他们与</a:t>
            </a:r>
            <a:r>
              <a:rPr lang="en-US" altLang="zh-CN" sz="800">
                <a:solidFill>
                  <a:srgbClr val="D4D4D4"/>
                </a:solidFill>
              </a:rPr>
              <a:t>Carol</a:t>
            </a:r>
            <a:r>
              <a:rPr lang="zh-CN" altLang="en-US" sz="800">
                <a:solidFill>
                  <a:srgbClr val="D4D4D4"/>
                </a:solidFill>
              </a:rPr>
              <a:t>同上一个上午课时，会导致</a:t>
            </a:r>
            <a:r>
              <a:rPr lang="en-US" altLang="zh-CN" sz="800">
                <a:solidFill>
                  <a:srgbClr val="D4D4D4"/>
                </a:solidFill>
              </a:rPr>
              <a:t>: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另一人无法选该课（因为会与同一人同堂）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或者该课容量不足（超过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人）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经过完整搜索，无法找到满足所有约束的安排。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因此此排课问题无解。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排一个满足所有约束的课表</a:t>
            </a:r>
            <a:endParaRPr lang="en-US" sz="1800" dirty="0"/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639560" y="3435985"/>
            <a:ext cx="168021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MiniMax-M2.7</a:t>
            </a:r>
            <a:endParaRPr lang="en-US" altLang="en-US" sz="20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804025" y="1779270"/>
            <a:ext cx="1163955" cy="9410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13995" y="899160"/>
            <a:ext cx="5600700" cy="9742805"/>
          </a:xfrm>
          <a:prstGeom prst="rect">
            <a:avLst/>
          </a:prstGeom>
          <a:ln w="12700">
            <a:miter lim="400000"/>
          </a:ln>
        </p:spPr>
        <p:txBody>
          <a:bodyPr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好的，我直接给你答案。经过分析，这个排课逻辑题是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无解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的。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证明过程：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让我从约束条件出发，逐步分析为什么无解：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1. </a:t>
            </a:r>
            <a:r>
              <a:rPr lang="zh-CN" altLang="en-US" sz="900">
                <a:solidFill>
                  <a:srgbClr val="D4D4D4"/>
                </a:solidFill>
              </a:rPr>
              <a:t>时间资源分析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总时间槽：</a:t>
            </a:r>
            <a:r>
              <a:rPr lang="en-US" altLang="zh-CN" sz="900">
                <a:solidFill>
                  <a:srgbClr val="D4D4D4"/>
                </a:solidFill>
              </a:rPr>
              <a:t>5</a:t>
            </a:r>
            <a:r>
              <a:rPr lang="zh-CN" altLang="en-US" sz="900">
                <a:solidFill>
                  <a:srgbClr val="D4D4D4"/>
                </a:solidFill>
              </a:rPr>
              <a:t>天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×</a:t>
            </a:r>
            <a:r>
              <a:rPr lang="en-US" altLang="zh-CN" sz="900">
                <a:solidFill>
                  <a:srgbClr val="D4D4D4"/>
                </a:solidFill>
              </a:rPr>
              <a:t> 2</a:t>
            </a:r>
            <a:r>
              <a:rPr lang="zh-CN" altLang="en-US" sz="900">
                <a:solidFill>
                  <a:srgbClr val="D4D4D4"/>
                </a:solidFill>
              </a:rPr>
              <a:t>时段</a:t>
            </a:r>
            <a:r>
              <a:rPr lang="en-US" altLang="zh-CN" sz="900">
                <a:solidFill>
                  <a:srgbClr val="D4D4D4"/>
                </a:solidFill>
              </a:rPr>
              <a:t> = 10</a:t>
            </a:r>
            <a:r>
              <a:rPr lang="zh-CN" altLang="en-US" sz="900">
                <a:solidFill>
                  <a:srgbClr val="D4D4D4"/>
                </a:solidFill>
              </a:rPr>
              <a:t>个时段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David</a:t>
            </a:r>
            <a:r>
              <a:rPr lang="zh-CN" altLang="en-US" sz="900">
                <a:solidFill>
                  <a:srgbClr val="D4D4D4"/>
                </a:solidFill>
              </a:rPr>
              <a:t>周三缺席：减少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个时段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剩余</a:t>
            </a:r>
            <a:r>
              <a:rPr lang="en-US" altLang="zh-CN" sz="900">
                <a:solidFill>
                  <a:srgbClr val="D4D4D4"/>
                </a:solidFill>
              </a:rPr>
              <a:t>8</a:t>
            </a:r>
            <a:r>
              <a:rPr lang="zh-CN" altLang="en-US" sz="900">
                <a:solidFill>
                  <a:srgbClr val="D4D4D4"/>
                </a:solidFill>
              </a:rPr>
              <a:t>个有效时段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Carol</a:t>
            </a:r>
            <a:r>
              <a:rPr lang="zh-CN" altLang="en-US" sz="900">
                <a:solidFill>
                  <a:srgbClr val="D4D4D4"/>
                </a:solidFill>
              </a:rPr>
              <a:t>只能上午：减少</a:t>
            </a:r>
            <a:r>
              <a:rPr lang="en-US" altLang="zh-CN" sz="900">
                <a:solidFill>
                  <a:srgbClr val="D4D4D4"/>
                </a:solidFill>
              </a:rPr>
              <a:t>5</a:t>
            </a:r>
            <a:r>
              <a:rPr lang="zh-CN" altLang="en-US" sz="900">
                <a:solidFill>
                  <a:srgbClr val="D4D4D4"/>
                </a:solidFill>
              </a:rPr>
              <a:t>个下午时段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实际可用时段更少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2. </a:t>
            </a:r>
            <a:r>
              <a:rPr lang="zh-CN" altLang="en-US" sz="900">
                <a:solidFill>
                  <a:srgbClr val="D4D4D4"/>
                </a:solidFill>
              </a:rPr>
              <a:t>课程需求分析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- 4</a:t>
            </a:r>
            <a:r>
              <a:rPr lang="zh-CN" altLang="en-US" sz="900">
                <a:solidFill>
                  <a:srgbClr val="D4D4D4"/>
                </a:solidFill>
              </a:rPr>
              <a:t>名学生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×</a:t>
            </a:r>
            <a:r>
              <a:rPr lang="en-US" altLang="zh-CN" sz="900">
                <a:solidFill>
                  <a:srgbClr val="D4D4D4"/>
                </a:solidFill>
              </a:rPr>
              <a:t> 4</a:t>
            </a:r>
            <a:r>
              <a:rPr lang="zh-CN" altLang="en-US" sz="900">
                <a:solidFill>
                  <a:srgbClr val="D4D4D4"/>
                </a:solidFill>
              </a:rPr>
              <a:t>门课程</a:t>
            </a:r>
            <a:r>
              <a:rPr lang="en-US" altLang="zh-CN" sz="900">
                <a:solidFill>
                  <a:srgbClr val="D4D4D4"/>
                </a:solidFill>
              </a:rPr>
              <a:t> = 16</a:t>
            </a:r>
            <a:r>
              <a:rPr lang="zh-CN" altLang="en-US" sz="900">
                <a:solidFill>
                  <a:srgbClr val="D4D4D4"/>
                </a:solidFill>
              </a:rPr>
              <a:t>个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学生</a:t>
            </a:r>
            <a:r>
              <a:rPr lang="en-US" altLang="zh-CN" sz="900">
                <a:solidFill>
                  <a:srgbClr val="D4D4D4"/>
                </a:solidFill>
              </a:rPr>
              <a:t>-</a:t>
            </a:r>
            <a:r>
              <a:rPr lang="zh-CN" altLang="en-US" sz="900">
                <a:solidFill>
                  <a:srgbClr val="D4D4D4"/>
                </a:solidFill>
              </a:rPr>
              <a:t>课程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组合需要安排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每门课程开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次，共</a:t>
            </a:r>
            <a:r>
              <a:rPr lang="en-US" altLang="zh-CN" sz="900">
                <a:solidFill>
                  <a:srgbClr val="D4D4D4"/>
                </a:solidFill>
              </a:rPr>
              <a:t>4</a:t>
            </a:r>
            <a:r>
              <a:rPr lang="zh-CN" altLang="en-US" sz="900">
                <a:solidFill>
                  <a:srgbClr val="D4D4D4"/>
                </a:solidFill>
              </a:rPr>
              <a:t>门课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8</a:t>
            </a:r>
            <a:r>
              <a:rPr lang="zh-CN" altLang="en-US" sz="900">
                <a:solidFill>
                  <a:srgbClr val="D4D4D4"/>
                </a:solidFill>
              </a:rPr>
              <a:t>个课程时段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每个课程时段最多</a:t>
            </a:r>
            <a:r>
              <a:rPr lang="en-US" altLang="zh-CN" sz="900">
                <a:solidFill>
                  <a:srgbClr val="D4D4D4"/>
                </a:solidFill>
              </a:rPr>
              <a:t>3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最多可服务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en-US" altLang="en-US" sz="900">
                <a:solidFill>
                  <a:srgbClr val="D4D4D4"/>
                </a:solidFill>
              </a:rPr>
              <a:t>×</a:t>
            </a:r>
            <a:r>
              <a:rPr lang="en-US" altLang="zh-CN" sz="900">
                <a:solidFill>
                  <a:srgbClr val="D4D4D4"/>
                </a:solidFill>
              </a:rPr>
              <a:t> 3 = 24</a:t>
            </a:r>
            <a:r>
              <a:rPr lang="zh-CN" altLang="en-US" sz="900">
                <a:solidFill>
                  <a:srgbClr val="D4D4D4"/>
                </a:solidFill>
              </a:rPr>
              <a:t>个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学生</a:t>
            </a:r>
            <a:r>
              <a:rPr lang="en-US" altLang="zh-CN" sz="900">
                <a:solidFill>
                  <a:srgbClr val="D4D4D4"/>
                </a:solidFill>
              </a:rPr>
              <a:t>-</a:t>
            </a:r>
            <a:r>
              <a:rPr lang="zh-CN" altLang="en-US" sz="900">
                <a:solidFill>
                  <a:srgbClr val="D4D4D4"/>
                </a:solidFill>
              </a:rPr>
              <a:t>课程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需求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3. </a:t>
            </a:r>
            <a:r>
              <a:rPr lang="zh-CN" altLang="en-US" sz="900">
                <a:solidFill>
                  <a:srgbClr val="D4D4D4"/>
                </a:solidFill>
              </a:rPr>
              <a:t>关键约束冲突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最致命的约束是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编程必须在设计之前</a:t>
            </a:r>
            <a:r>
              <a:rPr lang="en-US" altLang="zh-CN" sz="900">
                <a:solidFill>
                  <a:srgbClr val="D4D4D4"/>
                </a:solidFill>
              </a:rPr>
              <a:t>"**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对于每名学生：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编程课必须在设计课之前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这意味着每人的</a:t>
            </a:r>
            <a:r>
              <a:rPr lang="en-US" altLang="zh-CN" sz="900">
                <a:solidFill>
                  <a:srgbClr val="D4D4D4"/>
                </a:solidFill>
              </a:rPr>
              <a:t>4</a:t>
            </a:r>
            <a:r>
              <a:rPr lang="zh-CN" altLang="en-US" sz="900">
                <a:solidFill>
                  <a:srgbClr val="D4D4D4"/>
                </a:solidFill>
              </a:rPr>
              <a:t>门课有顺序要求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结合其他约束：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Alice</a:t>
            </a:r>
            <a:r>
              <a:rPr lang="zh-CN" altLang="en-US" sz="900">
                <a:solidFill>
                  <a:srgbClr val="D4D4D4"/>
                </a:solidFill>
              </a:rPr>
              <a:t>和</a:t>
            </a:r>
            <a:r>
              <a:rPr lang="en-US" altLang="zh-CN" sz="900">
                <a:solidFill>
                  <a:srgbClr val="D4D4D4"/>
                </a:solidFill>
              </a:rPr>
              <a:t>Bob</a:t>
            </a:r>
            <a:r>
              <a:rPr lang="zh-CN" altLang="en-US" sz="900">
                <a:solidFill>
                  <a:srgbClr val="D4D4D4"/>
                </a:solidFill>
              </a:rPr>
              <a:t>不能同堂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David</a:t>
            </a:r>
            <a:r>
              <a:rPr lang="zh-CN" altLang="en-US" sz="900">
                <a:solidFill>
                  <a:srgbClr val="D4D4D4"/>
                </a:solidFill>
              </a:rPr>
              <a:t>周三不能上课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Carol</a:t>
            </a:r>
            <a:r>
              <a:rPr lang="zh-CN" altLang="en-US" sz="900">
                <a:solidFill>
                  <a:srgbClr val="D4D4D4"/>
                </a:solidFill>
              </a:rPr>
              <a:t>只能上午上课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4. </a:t>
            </a:r>
            <a:r>
              <a:rPr lang="zh-CN" altLang="en-US" sz="900">
                <a:solidFill>
                  <a:srgbClr val="D4D4D4"/>
                </a:solidFill>
              </a:rPr>
              <a:t>具体矛盾点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经过系统分析，发现以下不可调和的矛盾：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1. **</a:t>
            </a:r>
            <a:r>
              <a:rPr lang="zh-CN" altLang="en-US" sz="900">
                <a:solidFill>
                  <a:srgbClr val="D4D4D4"/>
                </a:solidFill>
              </a:rPr>
              <a:t>时间冲突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Carol</a:t>
            </a:r>
            <a:r>
              <a:rPr lang="zh-CN" altLang="en-US" sz="900">
                <a:solidFill>
                  <a:srgbClr val="D4D4D4"/>
                </a:solidFill>
              </a:rPr>
              <a:t>的上午限制</a:t>
            </a:r>
            <a:r>
              <a:rPr lang="en-US" altLang="zh-CN" sz="900">
                <a:solidFill>
                  <a:srgbClr val="D4D4D4"/>
                </a:solidFill>
              </a:rPr>
              <a:t> + David</a:t>
            </a:r>
            <a:r>
              <a:rPr lang="zh-CN" altLang="en-US" sz="900">
                <a:solidFill>
                  <a:srgbClr val="D4D4D4"/>
                </a:solidFill>
              </a:rPr>
              <a:t>的周三缺席，使得可用的重叠时段极少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2. **</a:t>
            </a:r>
            <a:r>
              <a:rPr lang="zh-CN" altLang="en-US" sz="900">
                <a:solidFill>
                  <a:srgbClr val="D4D4D4"/>
                </a:solidFill>
              </a:rPr>
              <a:t>顺序约束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P</a:t>
            </a:r>
            <a:r>
              <a:rPr lang="zh-CN" altLang="en-US" sz="900">
                <a:solidFill>
                  <a:srgbClr val="D4D4D4"/>
                </a:solidFill>
              </a:rPr>
              <a:t>必须在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之前，这进一步限制了时间安排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3. **</a:t>
            </a:r>
            <a:r>
              <a:rPr lang="zh-CN" altLang="en-US" sz="900">
                <a:solidFill>
                  <a:srgbClr val="D4D4D4"/>
                </a:solidFill>
              </a:rPr>
              <a:t>人数限制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Alice-Bob</a:t>
            </a:r>
            <a:r>
              <a:rPr lang="zh-CN" altLang="en-US" sz="900">
                <a:solidFill>
                  <a:srgbClr val="D4D4D4"/>
                </a:solidFill>
              </a:rPr>
              <a:t>冲突</a:t>
            </a:r>
            <a:r>
              <a:rPr lang="en-US" altLang="zh-CN" sz="900">
                <a:solidFill>
                  <a:srgbClr val="D4D4D4"/>
                </a:solidFill>
              </a:rPr>
              <a:t> + </a:t>
            </a:r>
            <a:r>
              <a:rPr lang="zh-CN" altLang="en-US" sz="900">
                <a:solidFill>
                  <a:srgbClr val="D4D4D4"/>
                </a:solidFill>
              </a:rPr>
              <a:t>每班最多</a:t>
            </a:r>
            <a:r>
              <a:rPr lang="en-US" altLang="zh-CN" sz="900">
                <a:solidFill>
                  <a:srgbClr val="D4D4D4"/>
                </a:solidFill>
              </a:rPr>
              <a:t>3</a:t>
            </a:r>
            <a:r>
              <a:rPr lang="zh-CN" altLang="en-US" sz="900">
                <a:solidFill>
                  <a:srgbClr val="D4D4D4"/>
                </a:solidFill>
              </a:rPr>
              <a:t>人，使得课程安排极其受限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4. **</a:t>
            </a:r>
            <a:r>
              <a:rPr lang="zh-CN" altLang="en-US" sz="900">
                <a:solidFill>
                  <a:srgbClr val="D4D4D4"/>
                </a:solidFill>
              </a:rPr>
              <a:t>频率要求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：每门课必须恰好开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次，这个约束在以上限制下无法满足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</a:t>
            </a:r>
            <a:r>
              <a:rPr lang="zh-CN" altLang="en-US" sz="900">
                <a:solidFill>
                  <a:srgbClr val="D4D4D4"/>
                </a:solidFill>
              </a:rPr>
              <a:t>结论：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在这些约束条件的共同作用下，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不存在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满足所有条件的排课方案。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答案：此题无解。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639560" y="3435985"/>
            <a:ext cx="168021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Kimi K2</a:t>
            </a:r>
            <a:endParaRPr lang="en-US" altLang="en-US" sz="20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6443980" y="2038985"/>
            <a:ext cx="1934845" cy="83375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排一个满足所有约束的课表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85750" y="915035"/>
            <a:ext cx="6058535" cy="2682494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 </a:t>
            </a:r>
            <a:r>
              <a:rPr lang="zh-CN" altLang="en-US" sz="900">
                <a:solidFill>
                  <a:srgbClr val="D4D4D4"/>
                </a:solidFill>
              </a:rPr>
              <a:t>排课逻辑题解决方案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问题分析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约束条件总结</a:t>
            </a:r>
            <a:r>
              <a:rPr lang="en-US" altLang="zh-CN" sz="900">
                <a:solidFill>
                  <a:srgbClr val="D4D4D4"/>
                </a:solidFill>
              </a:rPr>
              <a:t>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- 4</a:t>
            </a:r>
            <a:r>
              <a:rPr lang="zh-CN" altLang="en-US" sz="900">
                <a:solidFill>
                  <a:srgbClr val="D4D4D4"/>
                </a:solidFill>
              </a:rPr>
              <a:t>学员：</a:t>
            </a:r>
            <a:r>
              <a:rPr lang="en-US" altLang="zh-CN" sz="900">
                <a:solidFill>
                  <a:srgbClr val="D4D4D4"/>
                </a:solidFill>
              </a:rPr>
              <a:t>Alice(A)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Bob(B)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Carol(C)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David(D)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- 4</a:t>
            </a:r>
            <a:r>
              <a:rPr lang="zh-CN" altLang="en-US" sz="900">
                <a:solidFill>
                  <a:srgbClr val="D4D4D4"/>
                </a:solidFill>
              </a:rPr>
              <a:t>课程：数学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r>
              <a:rPr lang="zh-CN" altLang="en-US" sz="900">
                <a:solidFill>
                  <a:srgbClr val="D4D4D4"/>
                </a:solidFill>
              </a:rPr>
              <a:t>、英语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r>
              <a:rPr lang="zh-CN" altLang="en-US" sz="900">
                <a:solidFill>
                  <a:srgbClr val="D4D4D4"/>
                </a:solidFill>
              </a:rPr>
              <a:t>、编程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r>
              <a:rPr lang="zh-CN" altLang="en-US" sz="900">
                <a:solidFill>
                  <a:srgbClr val="D4D4D4"/>
                </a:solidFill>
              </a:rPr>
              <a:t>、设计</a:t>
            </a:r>
            <a:r>
              <a:rPr lang="en-US" altLang="zh-CN" sz="900">
                <a:solidFill>
                  <a:srgbClr val="D4D4D4"/>
                </a:solidFill>
              </a:rPr>
              <a:t>(D)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- 5</a:t>
            </a:r>
            <a:r>
              <a:rPr lang="zh-CN" altLang="en-US" sz="900">
                <a:solidFill>
                  <a:srgbClr val="D4D4D4"/>
                </a:solidFill>
              </a:rPr>
              <a:t>天（周一到周五），每天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时段（上午</a:t>
            </a:r>
            <a:r>
              <a:rPr lang="en-US" altLang="zh-CN" sz="900">
                <a:solidFill>
                  <a:srgbClr val="D4D4D4"/>
                </a:solidFill>
              </a:rPr>
              <a:t>/</a:t>
            </a:r>
            <a:r>
              <a:rPr lang="zh-CN" altLang="en-US" sz="900">
                <a:solidFill>
                  <a:srgbClr val="D4D4D4"/>
                </a:solidFill>
              </a:rPr>
              <a:t>下午），共</a:t>
            </a:r>
            <a:r>
              <a:rPr lang="en-US" altLang="zh-CN" sz="900">
                <a:solidFill>
                  <a:srgbClr val="D4D4D4"/>
                </a:solidFill>
              </a:rPr>
              <a:t>10</a:t>
            </a:r>
            <a:r>
              <a:rPr lang="zh-CN" altLang="en-US" sz="900">
                <a:solidFill>
                  <a:srgbClr val="D4D4D4"/>
                </a:solidFill>
              </a:rPr>
              <a:t>时间段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每门课整周恰好开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每人必须上完全部</a:t>
            </a:r>
            <a:r>
              <a:rPr lang="en-US" altLang="zh-CN" sz="900">
                <a:solidFill>
                  <a:srgbClr val="D4D4D4"/>
                </a:solidFill>
              </a:rPr>
              <a:t>4</a:t>
            </a:r>
            <a:r>
              <a:rPr lang="zh-CN" altLang="en-US" sz="900">
                <a:solidFill>
                  <a:srgbClr val="D4D4D4"/>
                </a:solidFill>
              </a:rPr>
              <a:t>门课，每门只上一次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每次上课最多坐</a:t>
            </a:r>
            <a:r>
              <a:rPr lang="en-US" altLang="zh-CN" sz="900">
                <a:solidFill>
                  <a:srgbClr val="D4D4D4"/>
                </a:solidFill>
              </a:rPr>
              <a:t>3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Alice</a:t>
            </a:r>
            <a:r>
              <a:rPr lang="zh-CN" altLang="en-US" sz="900">
                <a:solidFill>
                  <a:srgbClr val="D4D4D4"/>
                </a:solidFill>
              </a:rPr>
              <a:t>和</a:t>
            </a:r>
            <a:r>
              <a:rPr lang="en-US" altLang="zh-CN" sz="900">
                <a:solidFill>
                  <a:srgbClr val="D4D4D4"/>
                </a:solidFill>
              </a:rPr>
              <a:t>Bob</a:t>
            </a:r>
            <a:r>
              <a:rPr lang="zh-CN" altLang="en-US" sz="900">
                <a:solidFill>
                  <a:srgbClr val="D4D4D4"/>
                </a:solidFill>
              </a:rPr>
              <a:t>不能同堂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r>
              <a:rPr lang="zh-CN" altLang="en-US" sz="900">
                <a:solidFill>
                  <a:srgbClr val="D4D4D4"/>
                </a:solidFill>
              </a:rPr>
              <a:t>必须在设计</a:t>
            </a:r>
            <a:r>
              <a:rPr lang="en-US" altLang="zh-CN" sz="900">
                <a:solidFill>
                  <a:srgbClr val="D4D4D4"/>
                </a:solidFill>
              </a:rPr>
              <a:t>(D)</a:t>
            </a:r>
            <a:r>
              <a:rPr lang="zh-CN" altLang="en-US" sz="900">
                <a:solidFill>
                  <a:srgbClr val="D4D4D4"/>
                </a:solidFill>
              </a:rPr>
              <a:t>之前上（对每个人都适用）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David</a:t>
            </a:r>
            <a:r>
              <a:rPr lang="zh-CN" altLang="en-US" sz="900">
                <a:solidFill>
                  <a:srgbClr val="D4D4D4"/>
                </a:solidFill>
              </a:rPr>
              <a:t>周三全天缺席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Carol</a:t>
            </a:r>
            <a:r>
              <a:rPr lang="zh-CN" altLang="en-US" sz="900">
                <a:solidFill>
                  <a:srgbClr val="D4D4D4"/>
                </a:solidFill>
              </a:rPr>
              <a:t>只能上午来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最终解决方案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该题有解，以下是满足全部约束的完整排课方案：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</a:t>
            </a:r>
            <a:r>
              <a:rPr lang="zh-CN" altLang="en-US" sz="900">
                <a:solidFill>
                  <a:srgbClr val="D4D4D4"/>
                </a:solidFill>
              </a:rPr>
              <a:t>课表安排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时间段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周三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周五</a:t>
            </a:r>
            <a:r>
              <a:rPr lang="en-US" altLang="zh-CN" sz="900">
                <a:solidFill>
                  <a:srgbClr val="D4D4D4"/>
                </a:solidFill>
              </a:rPr>
              <a:t>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|--------|------|------|------|------|------|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上午</a:t>
            </a:r>
            <a:r>
              <a:rPr lang="en-US" altLang="zh-CN" sz="900">
                <a:solidFill>
                  <a:srgbClr val="D4D4D4"/>
                </a:solidFill>
              </a:rPr>
              <a:t> | P (A,C) | M (B,C,D) | E (A,B) | D (B,C) | M (A)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下午</a:t>
            </a:r>
            <a:r>
              <a:rPr lang="en-US" altLang="zh-CN" sz="900">
                <a:solidFill>
                  <a:srgbClr val="D4D4D4"/>
                </a:solidFill>
              </a:rPr>
              <a:t> | E (B,D) | D (A) | (</a:t>
            </a:r>
            <a:r>
              <a:rPr lang="zh-CN" altLang="en-US" sz="900">
                <a:solidFill>
                  <a:srgbClr val="D4D4D4"/>
                </a:solidFill>
              </a:rPr>
              <a:t>空闲</a:t>
            </a:r>
            <a:r>
              <a:rPr lang="en-US" altLang="zh-CN" sz="900">
                <a:solidFill>
                  <a:srgbClr val="D4D4D4"/>
                </a:solidFill>
              </a:rPr>
              <a:t>) | P (D) | E (C)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</a:t>
            </a:r>
            <a:r>
              <a:rPr lang="zh-CN" altLang="en-US" sz="900">
                <a:solidFill>
                  <a:srgbClr val="D4D4D4"/>
                </a:solidFill>
              </a:rPr>
              <a:t>每人选课安排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**Alice (A):**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周一上午：编程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周二下午：设计</a:t>
            </a:r>
            <a:r>
              <a:rPr lang="en-US" altLang="zh-CN" sz="900">
                <a:solidFill>
                  <a:srgbClr val="D4D4D4"/>
                </a:solidFill>
              </a:rPr>
              <a:t>(D)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周三上午：英语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**Bob (B):**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周一下午：英语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周四上午：设计</a:t>
            </a:r>
            <a:r>
              <a:rPr lang="en-US" altLang="zh-CN" sz="900">
                <a:solidFill>
                  <a:srgbClr val="D4D4D4"/>
                </a:solidFill>
              </a:rPr>
              <a:t>(D)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需要编程</a:t>
            </a:r>
            <a:r>
              <a:rPr lang="en-US" altLang="zh-CN" sz="900">
                <a:solidFill>
                  <a:srgbClr val="D4D4D4"/>
                </a:solidFill>
              </a:rPr>
              <a:t>(P) - </a:t>
            </a:r>
            <a:r>
              <a:rPr lang="zh-CN" altLang="en-US" sz="900">
                <a:solidFill>
                  <a:srgbClr val="D4D4D4"/>
                </a:solidFill>
              </a:rPr>
              <a:t>安排在周四下午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**Carol (C):**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周一上午：编程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周五下午：英语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需要设计</a:t>
            </a:r>
            <a:r>
              <a:rPr lang="en-US" altLang="zh-CN" sz="900">
                <a:solidFill>
                  <a:srgbClr val="D4D4D4"/>
                </a:solidFill>
              </a:rPr>
              <a:t>(D) - </a:t>
            </a:r>
            <a:r>
              <a:rPr lang="zh-CN" altLang="en-US" sz="900">
                <a:solidFill>
                  <a:srgbClr val="D4D4D4"/>
                </a:solidFill>
              </a:rPr>
              <a:t>安排在周四上午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**David (D):**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周一下午：英语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周四下午：编程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需要设计</a:t>
            </a:r>
            <a:r>
              <a:rPr lang="en-US" altLang="zh-CN" sz="900">
                <a:solidFill>
                  <a:srgbClr val="D4D4D4"/>
                </a:solidFill>
              </a:rPr>
              <a:t>(D) - </a:t>
            </a:r>
            <a:r>
              <a:rPr lang="zh-CN" altLang="en-US" sz="900">
                <a:solidFill>
                  <a:srgbClr val="D4D4D4"/>
                </a:solidFill>
              </a:rPr>
              <a:t>安排在周二下午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完全正确的最终方案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</a:t>
            </a:r>
            <a:r>
              <a:rPr lang="zh-CN" altLang="en-US" sz="900">
                <a:solidFill>
                  <a:srgbClr val="D4D4D4"/>
                </a:solidFill>
              </a:rPr>
              <a:t>最终课表安排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时间段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周三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周五</a:t>
            </a:r>
            <a:r>
              <a:rPr lang="en-US" altLang="zh-CN" sz="900">
                <a:solidFill>
                  <a:srgbClr val="D4D4D4"/>
                </a:solidFill>
              </a:rPr>
              <a:t>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|--------|------|------|------|------|------|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上午</a:t>
            </a:r>
            <a:r>
              <a:rPr lang="en-US" altLang="zh-CN" sz="900">
                <a:solidFill>
                  <a:srgbClr val="D4D4D4"/>
                </a:solidFill>
              </a:rPr>
              <a:t> | P (A,C) | M (B,C,D) | E (A,B) | D (B,C) | M (A,D)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下午</a:t>
            </a:r>
            <a:r>
              <a:rPr lang="en-US" altLang="zh-CN" sz="900">
                <a:solidFill>
                  <a:srgbClr val="D4D4D4"/>
                </a:solidFill>
              </a:rPr>
              <a:t> | E (B,D) | D (D) | P (B) | P (D) | E (C)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</a:t>
            </a:r>
            <a:r>
              <a:rPr lang="zh-CN" altLang="en-US" sz="900">
                <a:solidFill>
                  <a:srgbClr val="D4D4D4"/>
                </a:solidFill>
              </a:rPr>
              <a:t>每人选课安排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**Alice:**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周一上午：编程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周二下午：设计</a:t>
            </a:r>
            <a:r>
              <a:rPr lang="en-US" altLang="zh-CN" sz="900">
                <a:solidFill>
                  <a:srgbClr val="D4D4D4"/>
                </a:solidFill>
              </a:rPr>
              <a:t>(D) </a:t>
            </a:r>
            <a:r>
              <a:rPr lang="en-US" altLang="en-US" sz="900">
                <a:solidFill>
                  <a:srgbClr val="D4D4D4"/>
                </a:solidFill>
              </a:rPr>
              <a:t>❌</a:t>
            </a:r>
            <a:r>
              <a:rPr lang="zh-CN" altLang="en-US" sz="900">
                <a:solidFill>
                  <a:srgbClr val="D4D4D4"/>
                </a:solidFill>
              </a:rPr>
              <a:t>（但周二下午是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的课）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周三上午：英语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**Bob:**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周一下午：英语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周三下午：编程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周四上午：设计</a:t>
            </a:r>
            <a:r>
              <a:rPr lang="en-US" altLang="zh-CN" sz="900">
                <a:solidFill>
                  <a:srgbClr val="D4D4D4"/>
                </a:solidFill>
              </a:rPr>
              <a:t>(D)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**Carol:**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周一上午：编程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周四上午：设计</a:t>
            </a:r>
            <a:r>
              <a:rPr lang="en-US" altLang="zh-CN" sz="900">
                <a:solidFill>
                  <a:srgbClr val="D4D4D4"/>
                </a:solidFill>
              </a:rPr>
              <a:t>(D)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周五下午：英语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**David:**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周二上午：数学</a:t>
            </a:r>
            <a:r>
              <a:rPr lang="en-US" altLang="zh-CN" sz="900">
                <a:solidFill>
                  <a:srgbClr val="D4D4D4"/>
                </a:solidFill>
              </a:rPr>
              <a:t>(M)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周一下午：英语</a:t>
            </a:r>
            <a:r>
              <a:rPr lang="en-US" altLang="zh-CN" sz="900">
                <a:solidFill>
                  <a:srgbClr val="D4D4D4"/>
                </a:solidFill>
              </a:rPr>
              <a:t>(E)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周四下午：编程</a:t>
            </a:r>
            <a:r>
              <a:rPr lang="en-US" altLang="zh-CN" sz="900">
                <a:solidFill>
                  <a:srgbClr val="D4D4D4"/>
                </a:solidFill>
              </a:rPr>
              <a:t>(P)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周二下午：设计</a:t>
            </a:r>
            <a:r>
              <a:rPr lang="en-US" altLang="zh-CN" sz="900">
                <a:solidFill>
                  <a:srgbClr val="D4D4D4"/>
                </a:solidFill>
              </a:rPr>
              <a:t>(D)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约束验证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1. </a:t>
            </a:r>
            <a:r>
              <a:rPr lang="en-US" altLang="en-US" sz="900">
                <a:solidFill>
                  <a:srgbClr val="D4D4D4"/>
                </a:solidFill>
              </a:rPr>
              <a:t>✅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每人</a:t>
            </a:r>
            <a:r>
              <a:rPr lang="en-US" altLang="zh-CN" sz="900">
                <a:solidFill>
                  <a:srgbClr val="D4D4D4"/>
                </a:solidFill>
              </a:rPr>
              <a:t>4</a:t>
            </a:r>
            <a:r>
              <a:rPr lang="zh-CN" altLang="en-US" sz="900">
                <a:solidFill>
                  <a:srgbClr val="D4D4D4"/>
                </a:solidFill>
              </a:rPr>
              <a:t>门课</a:t>
            </a:r>
            <a:r>
              <a:rPr lang="en-US" altLang="zh-CN" sz="900">
                <a:solidFill>
                  <a:srgbClr val="D4D4D4"/>
                </a:solidFill>
              </a:rPr>
              <a:t>**: </a:t>
            </a:r>
            <a:r>
              <a:rPr lang="zh-CN" altLang="en-US" sz="900">
                <a:solidFill>
                  <a:srgbClr val="D4D4D4"/>
                </a:solidFill>
              </a:rPr>
              <a:t>所有学员完成</a:t>
            </a:r>
            <a:r>
              <a:rPr lang="en-US" altLang="zh-CN" sz="900">
                <a:solidFill>
                  <a:srgbClr val="D4D4D4"/>
                </a:solidFill>
              </a:rPr>
              <a:t>4</a:t>
            </a:r>
            <a:r>
              <a:rPr lang="zh-CN" altLang="en-US" sz="900">
                <a:solidFill>
                  <a:srgbClr val="D4D4D4"/>
                </a:solidFill>
              </a:rPr>
              <a:t>门不同课程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2. </a:t>
            </a:r>
            <a:r>
              <a:rPr lang="en-US" altLang="en-US" sz="900">
                <a:solidFill>
                  <a:srgbClr val="D4D4D4"/>
                </a:solidFill>
              </a:rPr>
              <a:t>✅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每门课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r>
              <a:rPr lang="en-US" altLang="zh-CN" sz="900">
                <a:solidFill>
                  <a:srgbClr val="D4D4D4"/>
                </a:solidFill>
              </a:rPr>
              <a:t>**: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数学</a:t>
            </a:r>
            <a:r>
              <a:rPr lang="en-US" altLang="zh-CN" sz="900">
                <a:solidFill>
                  <a:srgbClr val="D4D4D4"/>
                </a:solidFill>
              </a:rPr>
              <a:t>(M): </a:t>
            </a:r>
            <a:r>
              <a:rPr lang="zh-CN" altLang="en-US" sz="900">
                <a:solidFill>
                  <a:srgbClr val="D4D4D4"/>
                </a:solidFill>
              </a:rPr>
              <a:t>周二上午、周五上午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英语</a:t>
            </a:r>
            <a:r>
              <a:rPr lang="en-US" altLang="zh-CN" sz="900">
                <a:solidFill>
                  <a:srgbClr val="D4D4D4"/>
                </a:solidFill>
              </a:rPr>
              <a:t>(E): </a:t>
            </a:r>
            <a:r>
              <a:rPr lang="zh-CN" altLang="en-US" sz="900">
                <a:solidFill>
                  <a:srgbClr val="D4D4D4"/>
                </a:solidFill>
              </a:rPr>
              <a:t>周一下午、周三上午、周五下午（需调整）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(P): </a:t>
            </a:r>
            <a:r>
              <a:rPr lang="zh-CN" altLang="en-US" sz="900">
                <a:solidFill>
                  <a:srgbClr val="D4D4D4"/>
                </a:solidFill>
              </a:rPr>
              <a:t>周一上午、周三下午、周四下午（需调整）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设计</a:t>
            </a:r>
            <a:r>
              <a:rPr lang="en-US" altLang="zh-CN" sz="900">
                <a:solidFill>
                  <a:srgbClr val="D4D4D4"/>
                </a:solidFill>
              </a:rPr>
              <a:t>(D): </a:t>
            </a:r>
            <a:r>
              <a:rPr lang="zh-CN" altLang="en-US" sz="900">
                <a:solidFill>
                  <a:srgbClr val="D4D4D4"/>
                </a:solidFill>
              </a:rPr>
              <a:t>周二下午、周四上午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3. </a:t>
            </a:r>
            <a:r>
              <a:rPr lang="en-US" altLang="en-US" sz="900">
                <a:solidFill>
                  <a:srgbClr val="D4D4D4"/>
                </a:solidFill>
              </a:rPr>
              <a:t>✅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班级规模</a:t>
            </a:r>
            <a:r>
              <a:rPr lang="en-US" altLang="zh-CN" sz="900">
                <a:solidFill>
                  <a:srgbClr val="D4D4D4"/>
                </a:solidFill>
              </a:rPr>
              <a:t>≤3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**: </a:t>
            </a:r>
            <a:r>
              <a:rPr lang="zh-CN" altLang="en-US" sz="900">
                <a:solidFill>
                  <a:srgbClr val="D4D4D4"/>
                </a:solidFill>
              </a:rPr>
              <a:t>所有班级</a:t>
            </a:r>
            <a:r>
              <a:rPr lang="en-US" altLang="zh-CN" sz="900">
                <a:solidFill>
                  <a:srgbClr val="D4D4D4"/>
                </a:solidFill>
              </a:rPr>
              <a:t>1-3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4. </a:t>
            </a:r>
            <a:r>
              <a:rPr lang="en-US" altLang="en-US" sz="900">
                <a:solidFill>
                  <a:srgbClr val="D4D4D4"/>
                </a:solidFill>
              </a:rPr>
              <a:t>✅</a:t>
            </a:r>
            <a:r>
              <a:rPr lang="en-US" altLang="zh-CN" sz="900">
                <a:solidFill>
                  <a:srgbClr val="D4D4D4"/>
                </a:solidFill>
              </a:rPr>
              <a:t> **Alice</a:t>
            </a:r>
            <a:r>
              <a:rPr lang="zh-CN" altLang="en-US" sz="900">
                <a:solidFill>
                  <a:srgbClr val="D4D4D4"/>
                </a:solidFill>
              </a:rPr>
              <a:t>和</a:t>
            </a:r>
            <a:r>
              <a:rPr lang="en-US" altLang="zh-CN" sz="900">
                <a:solidFill>
                  <a:srgbClr val="D4D4D4"/>
                </a:solidFill>
              </a:rPr>
              <a:t>Bob</a:t>
            </a:r>
            <a:r>
              <a:rPr lang="zh-CN" altLang="en-US" sz="900">
                <a:solidFill>
                  <a:srgbClr val="D4D4D4"/>
                </a:solidFill>
              </a:rPr>
              <a:t>不同堂</a:t>
            </a:r>
            <a:r>
              <a:rPr lang="en-US" altLang="zh-CN" sz="900">
                <a:solidFill>
                  <a:srgbClr val="D4D4D4"/>
                </a:solidFill>
              </a:rPr>
              <a:t>**: </a:t>
            </a:r>
            <a:r>
              <a:rPr lang="zh-CN" altLang="en-US" sz="900">
                <a:solidFill>
                  <a:srgbClr val="D4D4D4"/>
                </a:solidFill>
              </a:rPr>
              <a:t>他们从未同堂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5. </a:t>
            </a:r>
            <a:r>
              <a:rPr lang="en-US" altLang="en-US" sz="900">
                <a:solidFill>
                  <a:srgbClr val="D4D4D4"/>
                </a:solidFill>
              </a:rPr>
              <a:t>✅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编程在设计之前</a:t>
            </a:r>
            <a:r>
              <a:rPr lang="en-US" altLang="zh-CN" sz="900">
                <a:solidFill>
                  <a:srgbClr val="D4D4D4"/>
                </a:solidFill>
              </a:rPr>
              <a:t>**: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Alice: 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zh-CN" sz="900">
                <a:solidFill>
                  <a:srgbClr val="D4D4D4"/>
                </a:solidFill>
              </a:rPr>
              <a:t>P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Bob: </a:t>
            </a:r>
            <a:r>
              <a:rPr lang="zh-CN" altLang="en-US" sz="900">
                <a:solidFill>
                  <a:srgbClr val="D4D4D4"/>
                </a:solidFill>
              </a:rPr>
              <a:t>周三</a:t>
            </a:r>
            <a:r>
              <a:rPr lang="en-US" altLang="zh-CN" sz="900">
                <a:solidFill>
                  <a:srgbClr val="D4D4D4"/>
                </a:solidFill>
              </a:rPr>
              <a:t>P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D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Carol: 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zh-CN" sz="900">
                <a:solidFill>
                  <a:srgbClr val="D4D4D4"/>
                </a:solidFill>
              </a:rPr>
              <a:t>P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David: 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P 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（但时间顺序有问题）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6. </a:t>
            </a:r>
            <a:r>
              <a:rPr lang="en-US" altLang="en-US" sz="900">
                <a:solidFill>
                  <a:srgbClr val="D4D4D4"/>
                </a:solidFill>
              </a:rPr>
              <a:t>✅</a:t>
            </a:r>
            <a:r>
              <a:rPr lang="en-US" altLang="zh-CN" sz="900">
                <a:solidFill>
                  <a:srgbClr val="D4D4D4"/>
                </a:solidFill>
              </a:rPr>
              <a:t> **David</a:t>
            </a:r>
            <a:r>
              <a:rPr lang="zh-CN" altLang="en-US" sz="900">
                <a:solidFill>
                  <a:srgbClr val="D4D4D4"/>
                </a:solidFill>
              </a:rPr>
              <a:t>周三缺席</a:t>
            </a:r>
            <a:r>
              <a:rPr lang="en-US" altLang="zh-CN" sz="900">
                <a:solidFill>
                  <a:srgbClr val="D4D4D4"/>
                </a:solidFill>
              </a:rPr>
              <a:t>**: </a:t>
            </a:r>
            <a:r>
              <a:rPr lang="zh-CN" altLang="en-US" sz="900">
                <a:solidFill>
                  <a:srgbClr val="D4D4D4"/>
                </a:solidFill>
              </a:rPr>
              <a:t>周三无</a:t>
            </a:r>
            <a:r>
              <a:rPr lang="en-US" altLang="zh-CN" sz="900">
                <a:solidFill>
                  <a:srgbClr val="D4D4D4"/>
                </a:solidFill>
              </a:rPr>
              <a:t>David</a:t>
            </a:r>
            <a:r>
              <a:rPr lang="zh-CN" altLang="en-US" sz="900">
                <a:solidFill>
                  <a:srgbClr val="D4D4D4"/>
                </a:solidFill>
              </a:rPr>
              <a:t>课程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7. </a:t>
            </a:r>
            <a:r>
              <a:rPr lang="en-US" altLang="en-US" sz="900">
                <a:solidFill>
                  <a:srgbClr val="D4D4D4"/>
                </a:solidFill>
              </a:rPr>
              <a:t>✅</a:t>
            </a:r>
            <a:r>
              <a:rPr lang="en-US" altLang="zh-CN" sz="900">
                <a:solidFill>
                  <a:srgbClr val="D4D4D4"/>
                </a:solidFill>
              </a:rPr>
              <a:t> **Carol</a:t>
            </a:r>
            <a:r>
              <a:rPr lang="zh-CN" altLang="en-US" sz="900">
                <a:solidFill>
                  <a:srgbClr val="D4D4D4"/>
                </a:solidFill>
              </a:rPr>
              <a:t>只上上午课</a:t>
            </a:r>
            <a:r>
              <a:rPr lang="en-US" altLang="zh-CN" sz="900">
                <a:solidFill>
                  <a:srgbClr val="D4D4D4"/>
                </a:solidFill>
              </a:rPr>
              <a:t>**: </a:t>
            </a:r>
            <a:r>
              <a:rPr lang="zh-CN" altLang="en-US" sz="900">
                <a:solidFill>
                  <a:srgbClr val="D4D4D4"/>
                </a:solidFill>
              </a:rPr>
              <a:t>所有课程都在上午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结论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该问题有解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，经过系统性的约束满足分析，可以找到满足所有条件的排课方案。上述方案已接近完美，只需微调课程时间顺序即可完全满足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编程在设计之前</a:t>
            </a:r>
            <a:r>
              <a:rPr lang="en-US" altLang="zh-CN" sz="900">
                <a:solidFill>
                  <a:srgbClr val="D4D4D4"/>
                </a:solidFill>
              </a:rPr>
              <a:t>"</a:t>
            </a:r>
            <a:r>
              <a:rPr lang="zh-CN" altLang="en-US" sz="900">
                <a:solidFill>
                  <a:srgbClr val="D4D4D4"/>
                </a:solidFill>
              </a:rPr>
              <a:t>的约束。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最终的正确方案需要确保</a:t>
            </a:r>
            <a:r>
              <a:rPr lang="en-US" altLang="zh-CN" sz="900">
                <a:solidFill>
                  <a:srgbClr val="D4D4D4"/>
                </a:solidFill>
              </a:rPr>
              <a:t>David</a:t>
            </a:r>
            <a:r>
              <a:rPr lang="zh-CN" altLang="en-US" sz="900">
                <a:solidFill>
                  <a:srgbClr val="D4D4D4"/>
                </a:solidFill>
              </a:rPr>
              <a:t>的设计课在编程课之后，这可以通过调整设计课的时间安排来实现。</a:t>
            </a:r>
            <a:endParaRPr lang="zh-CN" altLang="en-US" sz="900">
              <a:solidFill>
                <a:srgbClr val="D4D4D4"/>
              </a:solidFill>
            </a:endParaRPr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5066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Deepseek V3.1</a:t>
            </a:r>
            <a:endParaRPr lang="en-US" altLang="en-US" sz="20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rcRect t="18492" b="18492"/>
          <a:stretch>
            <a:fillRect/>
          </a:stretch>
        </p:blipFill>
        <p:spPr>
          <a:xfrm>
            <a:off x="6478905" y="1995805"/>
            <a:ext cx="1978660" cy="841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排一个满足所有约束的课表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323850" y="915670"/>
            <a:ext cx="5984875" cy="1505204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 </a:t>
            </a:r>
            <a:r>
              <a:rPr lang="zh-CN" altLang="en-US" sz="900">
                <a:solidFill>
                  <a:srgbClr val="D4D4D4"/>
                </a:solidFill>
              </a:rPr>
              <a:t>结论：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本题无解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下面用清晰、无歧义的逻辑直接证明，不需要复杂枚举。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---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1. </a:t>
            </a:r>
            <a:r>
              <a:rPr lang="zh-CN" altLang="en-US" sz="900">
                <a:solidFill>
                  <a:srgbClr val="D4D4D4"/>
                </a:solidFill>
              </a:rPr>
              <a:t>先算总课时与总人次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课程共</a:t>
            </a:r>
            <a:r>
              <a:rPr lang="en-US" altLang="zh-CN" sz="900">
                <a:solidFill>
                  <a:srgbClr val="D4D4D4"/>
                </a:solidFill>
              </a:rPr>
              <a:t>4</a:t>
            </a:r>
            <a:r>
              <a:rPr lang="zh-CN" altLang="en-US" sz="900">
                <a:solidFill>
                  <a:srgbClr val="D4D4D4"/>
                </a:solidFill>
              </a:rPr>
              <a:t>门：</a:t>
            </a:r>
            <a:r>
              <a:rPr lang="en-US" altLang="zh-CN" sz="900">
                <a:solidFill>
                  <a:srgbClr val="D4D4D4"/>
                </a:solidFill>
              </a:rPr>
              <a:t>M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P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约束</a:t>
            </a:r>
            <a:r>
              <a:rPr lang="en-US" altLang="zh-CN" sz="900">
                <a:solidFill>
                  <a:srgbClr val="D4D4D4"/>
                </a:solidFill>
              </a:rPr>
              <a:t>2</a:t>
            </a:r>
            <a:r>
              <a:rPr lang="zh-CN" altLang="en-US" sz="900">
                <a:solidFill>
                  <a:srgbClr val="D4D4D4"/>
                </a:solidFill>
              </a:rPr>
              <a:t>：每门课开</a:t>
            </a:r>
            <a:r>
              <a:rPr lang="en-US" altLang="zh-CN" sz="900">
                <a:solidFill>
                  <a:srgbClr val="D4D4D4"/>
                </a:solidFill>
              </a:rPr>
              <a:t> **2 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en-US" sz="900">
                <a:solidFill>
                  <a:srgbClr val="D4D4D4"/>
                </a:solidFill>
              </a:rPr>
              <a:t>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总课次</a:t>
            </a:r>
            <a:r>
              <a:rPr lang="en-US" altLang="zh-CN" sz="900">
                <a:solidFill>
                  <a:srgbClr val="D4D4D4"/>
                </a:solidFill>
              </a:rPr>
              <a:t> = **8 </a:t>
            </a:r>
            <a:r>
              <a:rPr lang="zh-CN" altLang="en-US" sz="900">
                <a:solidFill>
                  <a:srgbClr val="D4D4D4"/>
                </a:solidFill>
              </a:rPr>
              <a:t>次课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每天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个时段，周一～周五共</a:t>
            </a:r>
            <a:r>
              <a:rPr lang="en-US" altLang="zh-CN" sz="900">
                <a:solidFill>
                  <a:srgbClr val="D4D4D4"/>
                </a:solidFill>
              </a:rPr>
              <a:t>10 </a:t>
            </a:r>
            <a:r>
              <a:rPr lang="zh-CN" altLang="en-US" sz="900">
                <a:solidFill>
                  <a:srgbClr val="D4D4D4"/>
                </a:solidFill>
              </a:rPr>
              <a:t>个时段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只用其中</a:t>
            </a:r>
            <a:r>
              <a:rPr lang="en-US" altLang="zh-CN" sz="900">
                <a:solidFill>
                  <a:srgbClr val="D4D4D4"/>
                </a:solidFill>
              </a:rPr>
              <a:t> **8 </a:t>
            </a:r>
            <a:r>
              <a:rPr lang="zh-CN" altLang="en-US" sz="900">
                <a:solidFill>
                  <a:srgbClr val="D4D4D4"/>
                </a:solidFill>
              </a:rPr>
              <a:t>个时段</a:t>
            </a:r>
            <a:r>
              <a:rPr lang="en-US" altLang="zh-CN" sz="900">
                <a:solidFill>
                  <a:srgbClr val="D4D4D4"/>
                </a:solidFill>
              </a:rPr>
              <a:t>** </a:t>
            </a:r>
            <a:r>
              <a:rPr lang="zh-CN" altLang="en-US" sz="900">
                <a:solidFill>
                  <a:srgbClr val="D4D4D4"/>
                </a:solidFill>
              </a:rPr>
              <a:t>排课，合理。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---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2. </a:t>
            </a:r>
            <a:r>
              <a:rPr lang="zh-CN" altLang="en-US" sz="900">
                <a:solidFill>
                  <a:srgbClr val="D4D4D4"/>
                </a:solidFill>
              </a:rPr>
              <a:t>计算总上课人次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- 4 </a:t>
            </a:r>
            <a:r>
              <a:rPr lang="zh-CN" altLang="en-US" sz="900">
                <a:solidFill>
                  <a:srgbClr val="D4D4D4"/>
                </a:solidFill>
              </a:rPr>
              <a:t>名学员，每人必须上</a:t>
            </a:r>
            <a:r>
              <a:rPr lang="en-US" altLang="zh-CN" sz="900">
                <a:solidFill>
                  <a:srgbClr val="D4D4D4"/>
                </a:solidFill>
              </a:rPr>
              <a:t> **4 </a:t>
            </a:r>
            <a:r>
              <a:rPr lang="zh-CN" altLang="en-US" sz="900">
                <a:solidFill>
                  <a:srgbClr val="D4D4D4"/>
                </a:solidFill>
              </a:rPr>
              <a:t>门课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en-US" sz="900">
                <a:solidFill>
                  <a:srgbClr val="D4D4D4"/>
                </a:solidFill>
              </a:rPr>
              <a:t>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总人次</a:t>
            </a:r>
            <a:r>
              <a:rPr lang="en-US" altLang="zh-CN" sz="900">
                <a:solidFill>
                  <a:srgbClr val="D4D4D4"/>
                </a:solidFill>
              </a:rPr>
              <a:t> = 4 </a:t>
            </a:r>
            <a:r>
              <a:rPr lang="en-US" altLang="en-US" sz="900">
                <a:solidFill>
                  <a:srgbClr val="D4D4D4"/>
                </a:solidFill>
              </a:rPr>
              <a:t>×</a:t>
            </a:r>
            <a:r>
              <a:rPr lang="en-US" altLang="zh-CN" sz="900">
                <a:solidFill>
                  <a:srgbClr val="D4D4D4"/>
                </a:solidFill>
              </a:rPr>
              <a:t> 4 = **16 </a:t>
            </a:r>
            <a:r>
              <a:rPr lang="zh-CN" altLang="en-US" sz="900">
                <a:solidFill>
                  <a:srgbClr val="D4D4D4"/>
                </a:solidFill>
              </a:rPr>
              <a:t>人次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共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zh-CN" altLang="en-US" sz="900">
                <a:solidFill>
                  <a:srgbClr val="D4D4D4"/>
                </a:solidFill>
              </a:rPr>
              <a:t>次课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en-US" sz="900">
                <a:solidFill>
                  <a:srgbClr val="D4D4D4"/>
                </a:solidFill>
              </a:rPr>
              <a:t>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平均每次课人数</a:t>
            </a:r>
            <a:r>
              <a:rPr lang="en-US" altLang="zh-CN" sz="900">
                <a:solidFill>
                  <a:srgbClr val="D4D4D4"/>
                </a:solidFill>
              </a:rPr>
              <a:t> = 16 </a:t>
            </a:r>
            <a:r>
              <a:rPr lang="" altLang="en-US" sz="900">
                <a:solidFill>
                  <a:srgbClr val="D4D4D4"/>
                </a:solidFill>
              </a:rPr>
              <a:t>÷</a:t>
            </a:r>
            <a:r>
              <a:rPr lang="en-US" altLang="zh-CN" sz="900">
                <a:solidFill>
                  <a:srgbClr val="D4D4D4"/>
                </a:solidFill>
              </a:rPr>
              <a:t> 8 = **2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/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这说明：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&gt; **</a:t>
            </a:r>
            <a:r>
              <a:rPr lang="zh-CN" altLang="en-US" sz="900">
                <a:solidFill>
                  <a:srgbClr val="D4D4D4"/>
                </a:solidFill>
              </a:rPr>
              <a:t>所有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zh-CN" altLang="en-US" sz="900">
                <a:solidFill>
                  <a:srgbClr val="D4D4D4"/>
                </a:solidFill>
              </a:rPr>
              <a:t>次课，每次都必须恰好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人上课，不可能出现</a:t>
            </a:r>
            <a:r>
              <a:rPr lang="en-US" altLang="zh-CN" sz="900">
                <a:solidFill>
                  <a:srgbClr val="D4D4D4"/>
                </a:solidFill>
              </a:rPr>
              <a:t> 1 </a:t>
            </a:r>
            <a:r>
              <a:rPr lang="zh-CN" altLang="en-US" sz="900">
                <a:solidFill>
                  <a:srgbClr val="D4D4D4"/>
                </a:solidFill>
              </a:rPr>
              <a:t>人或</a:t>
            </a:r>
            <a:r>
              <a:rPr lang="en-US" altLang="zh-CN" sz="900">
                <a:solidFill>
                  <a:srgbClr val="D4D4D4"/>
                </a:solidFill>
              </a:rPr>
              <a:t> 3 </a:t>
            </a:r>
            <a:r>
              <a:rPr lang="zh-CN" altLang="en-US" sz="900">
                <a:solidFill>
                  <a:srgbClr val="D4D4D4"/>
                </a:solidFill>
              </a:rPr>
              <a:t>人。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---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3. </a:t>
            </a:r>
            <a:r>
              <a:rPr lang="zh-CN" altLang="en-US" sz="900">
                <a:solidFill>
                  <a:srgbClr val="D4D4D4"/>
                </a:solidFill>
              </a:rPr>
              <a:t>关键冲突：</a:t>
            </a:r>
            <a:r>
              <a:rPr lang="en-US" altLang="zh-CN" sz="900">
                <a:solidFill>
                  <a:srgbClr val="D4D4D4"/>
                </a:solidFill>
              </a:rPr>
              <a:t>Alice </a:t>
            </a:r>
            <a:r>
              <a:rPr lang="zh-CN" altLang="en-US" sz="900">
                <a:solidFill>
                  <a:srgbClr val="D4D4D4"/>
                </a:solidFill>
              </a:rPr>
              <a:t>与</a:t>
            </a:r>
            <a:r>
              <a:rPr lang="en-US" altLang="zh-CN" sz="900">
                <a:solidFill>
                  <a:srgbClr val="D4D4D4"/>
                </a:solidFill>
              </a:rPr>
              <a:t> Bob </a:t>
            </a:r>
            <a:r>
              <a:rPr lang="zh-CN" altLang="en-US" sz="900">
                <a:solidFill>
                  <a:srgbClr val="D4D4D4"/>
                </a:solidFill>
              </a:rPr>
              <a:t>不能同堂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约束</a:t>
            </a:r>
            <a:r>
              <a:rPr lang="en-US" altLang="zh-CN" sz="900">
                <a:solidFill>
                  <a:srgbClr val="D4D4D4"/>
                </a:solidFill>
              </a:rPr>
              <a:t>4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**Alice </a:t>
            </a:r>
            <a:r>
              <a:rPr lang="zh-CN" altLang="en-US" sz="900">
                <a:solidFill>
                  <a:srgbClr val="D4D4D4"/>
                </a:solidFill>
              </a:rPr>
              <a:t>和</a:t>
            </a:r>
            <a:r>
              <a:rPr lang="en-US" altLang="zh-CN" sz="900">
                <a:solidFill>
                  <a:srgbClr val="D4D4D4"/>
                </a:solidFill>
              </a:rPr>
              <a:t> Bob </a:t>
            </a:r>
            <a:r>
              <a:rPr lang="zh-CN" altLang="en-US" sz="900">
                <a:solidFill>
                  <a:srgbClr val="D4D4D4"/>
                </a:solidFill>
              </a:rPr>
              <a:t>永远不能在同一堂课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两人各要上</a:t>
            </a:r>
            <a:r>
              <a:rPr lang="en-US" altLang="zh-CN" sz="900">
                <a:solidFill>
                  <a:srgbClr val="D4D4D4"/>
                </a:solidFill>
              </a:rPr>
              <a:t> 4 </a:t>
            </a:r>
            <a:r>
              <a:rPr lang="zh-CN" altLang="en-US" sz="900">
                <a:solidFill>
                  <a:srgbClr val="D4D4D4"/>
                </a:solidFill>
              </a:rPr>
              <a:t>门课，共需要：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Alice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4 </a:t>
            </a:r>
            <a:r>
              <a:rPr lang="zh-CN" altLang="en-US" sz="900">
                <a:solidFill>
                  <a:srgbClr val="D4D4D4"/>
                </a:solidFill>
              </a:rPr>
              <a:t>个独立课位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Bob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4 </a:t>
            </a:r>
            <a:r>
              <a:rPr lang="zh-CN" altLang="en-US" sz="900">
                <a:solidFill>
                  <a:srgbClr val="D4D4D4"/>
                </a:solidFill>
              </a:rPr>
              <a:t>个独立课位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且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完全不重叠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en-US" sz="900">
                <a:solidFill>
                  <a:srgbClr val="D4D4D4"/>
                </a:solidFill>
              </a:rPr>
              <a:t>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仅</a:t>
            </a:r>
            <a:r>
              <a:rPr lang="en-US" altLang="zh-CN" sz="900">
                <a:solidFill>
                  <a:srgbClr val="D4D4D4"/>
                </a:solidFill>
              </a:rPr>
              <a:t> Alice + Bob </a:t>
            </a:r>
            <a:r>
              <a:rPr lang="zh-CN" altLang="en-US" sz="900">
                <a:solidFill>
                  <a:srgbClr val="D4D4D4"/>
                </a:solidFill>
              </a:rPr>
              <a:t>就需要</a:t>
            </a:r>
            <a:r>
              <a:rPr lang="en-US" altLang="zh-CN" sz="900">
                <a:solidFill>
                  <a:srgbClr val="D4D4D4"/>
                </a:solidFill>
              </a:rPr>
              <a:t> **8 </a:t>
            </a:r>
            <a:r>
              <a:rPr lang="zh-CN" altLang="en-US" sz="900">
                <a:solidFill>
                  <a:srgbClr val="D4D4D4"/>
                </a:solidFill>
              </a:rPr>
              <a:t>个互不重复的课位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而我们总课次只有</a:t>
            </a:r>
            <a:r>
              <a:rPr lang="en-US" altLang="zh-CN" sz="900">
                <a:solidFill>
                  <a:srgbClr val="D4D4D4"/>
                </a:solidFill>
              </a:rPr>
              <a:t> **8 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，每次最多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---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4. </a:t>
            </a:r>
            <a:r>
              <a:rPr lang="zh-CN" altLang="en-US" sz="900">
                <a:solidFill>
                  <a:srgbClr val="D4D4D4"/>
                </a:solidFill>
              </a:rPr>
              <a:t>最终矛盾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总课次</a:t>
            </a:r>
            <a:r>
              <a:rPr lang="en-US" altLang="zh-CN" sz="900">
                <a:solidFill>
                  <a:srgbClr val="D4D4D4"/>
                </a:solidFill>
              </a:rPr>
              <a:t> = 8 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Alice + Bob </a:t>
            </a:r>
            <a:r>
              <a:rPr lang="zh-CN" altLang="en-US" sz="900">
                <a:solidFill>
                  <a:srgbClr val="D4D4D4"/>
                </a:solidFill>
              </a:rPr>
              <a:t>必须占满这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zh-CN" altLang="en-US" sz="900">
                <a:solidFill>
                  <a:srgbClr val="D4D4D4"/>
                </a:solidFill>
              </a:rPr>
              <a:t>次课，且每次课只能是其中一人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en-US" sz="900">
                <a:solidFill>
                  <a:srgbClr val="D4D4D4"/>
                </a:solidFill>
              </a:rPr>
              <a:t>⇒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每次课只能是</a:t>
            </a:r>
            <a:r>
              <a:rPr lang="en-US" altLang="zh-CN" sz="900">
                <a:solidFill>
                  <a:srgbClr val="D4D4D4"/>
                </a:solidFill>
              </a:rPr>
              <a:t> Alice </a:t>
            </a:r>
            <a:r>
              <a:rPr lang="zh-CN" altLang="en-US" sz="900">
                <a:solidFill>
                  <a:srgbClr val="D4D4D4"/>
                </a:solidFill>
              </a:rPr>
              <a:t>或</a:t>
            </a:r>
            <a:r>
              <a:rPr lang="en-US" altLang="zh-CN" sz="900">
                <a:solidFill>
                  <a:srgbClr val="D4D4D4"/>
                </a:solidFill>
              </a:rPr>
              <a:t> Bob </a:t>
            </a:r>
            <a:r>
              <a:rPr lang="zh-CN" altLang="en-US" sz="900">
                <a:solidFill>
                  <a:srgbClr val="D4D4D4"/>
                </a:solidFill>
              </a:rPr>
              <a:t>一人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但前面已经推出：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&gt; </a:t>
            </a:r>
            <a:r>
              <a:rPr lang="zh-CN" altLang="en-US" sz="900">
                <a:solidFill>
                  <a:srgbClr val="D4D4D4"/>
                </a:solidFill>
              </a:rPr>
              <a:t>平均必须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/</a:t>
            </a:r>
            <a:r>
              <a:rPr lang="zh-CN" altLang="en-US" sz="900">
                <a:solidFill>
                  <a:srgbClr val="D4D4D4"/>
                </a:solidFill>
              </a:rPr>
              <a:t>次，所有课都必须恰好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同时：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Carol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David </a:t>
            </a:r>
            <a:r>
              <a:rPr lang="zh-CN" altLang="en-US" sz="900">
                <a:solidFill>
                  <a:srgbClr val="D4D4D4"/>
                </a:solidFill>
              </a:rPr>
              <a:t>也各要上</a:t>
            </a:r>
            <a:r>
              <a:rPr lang="en-US" altLang="zh-CN" sz="900">
                <a:solidFill>
                  <a:srgbClr val="D4D4D4"/>
                </a:solidFill>
              </a:rPr>
              <a:t> 4 </a:t>
            </a:r>
            <a:r>
              <a:rPr lang="zh-CN" altLang="en-US" sz="900">
                <a:solidFill>
                  <a:srgbClr val="D4D4D4"/>
                </a:solidFill>
              </a:rPr>
              <a:t>门课，共还需要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zh-CN" altLang="en-US" sz="900">
                <a:solidFill>
                  <a:srgbClr val="D4D4D4"/>
                </a:solidFill>
              </a:rPr>
              <a:t>人次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但已经没有任何课位可以容纳他们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---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 </a:t>
            </a:r>
            <a:r>
              <a:rPr lang="zh-CN" altLang="en-US" sz="900">
                <a:solidFill>
                  <a:srgbClr val="D4D4D4"/>
                </a:solidFill>
              </a:rPr>
              <a:t>最简总结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1. </a:t>
            </a:r>
            <a:r>
              <a:rPr lang="zh-CN" altLang="en-US" sz="900">
                <a:solidFill>
                  <a:srgbClr val="D4D4D4"/>
                </a:solidFill>
              </a:rPr>
              <a:t>总人次</a:t>
            </a:r>
            <a:r>
              <a:rPr lang="en-US" altLang="zh-CN" sz="900">
                <a:solidFill>
                  <a:srgbClr val="D4D4D4"/>
                </a:solidFill>
              </a:rPr>
              <a:t> 16</a:t>
            </a:r>
            <a:r>
              <a:rPr lang="zh-CN" altLang="en-US" sz="900">
                <a:solidFill>
                  <a:srgbClr val="D4D4D4"/>
                </a:solidFill>
              </a:rPr>
              <a:t>，总课次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en-US" altLang="en-US" sz="900">
                <a:solidFill>
                  <a:srgbClr val="D4D4D4"/>
                </a:solidFill>
              </a:rPr>
              <a:t>⇒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每节课必须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2. Alice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Bob </a:t>
            </a:r>
            <a:r>
              <a:rPr lang="zh-CN" altLang="en-US" sz="900">
                <a:solidFill>
                  <a:srgbClr val="D4D4D4"/>
                </a:solidFill>
              </a:rPr>
              <a:t>不能同堂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⇒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两人必须占用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zh-CN" altLang="en-US" sz="900">
                <a:solidFill>
                  <a:srgbClr val="D4D4D4"/>
                </a:solidFill>
              </a:rPr>
              <a:t>个互不重叠的课位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3. </a:t>
            </a:r>
            <a:r>
              <a:rPr lang="zh-CN" altLang="en-US" sz="900">
                <a:solidFill>
                  <a:srgbClr val="D4D4D4"/>
                </a:solidFill>
              </a:rPr>
              <a:t>这会导致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所有课都只能是</a:t>
            </a:r>
            <a:r>
              <a:rPr lang="en-US" altLang="zh-CN" sz="900">
                <a:solidFill>
                  <a:srgbClr val="D4D4D4"/>
                </a:solidFill>
              </a:rPr>
              <a:t> 1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，与</a:t>
            </a:r>
            <a:r>
              <a:rPr lang="en-US" altLang="zh-CN" sz="900">
                <a:solidFill>
                  <a:srgbClr val="D4D4D4"/>
                </a:solidFill>
              </a:rPr>
              <a:t>“</a:t>
            </a:r>
            <a:r>
              <a:rPr lang="zh-CN" altLang="en-US" sz="900">
                <a:solidFill>
                  <a:srgbClr val="D4D4D4"/>
                </a:solidFill>
              </a:rPr>
              <a:t>必须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”</a:t>
            </a:r>
            <a:r>
              <a:rPr lang="zh-CN" altLang="en-US" sz="900">
                <a:solidFill>
                  <a:srgbClr val="D4D4D4"/>
                </a:solidFill>
              </a:rPr>
              <a:t>矛盾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4. Carol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David </a:t>
            </a:r>
            <a:r>
              <a:rPr lang="zh-CN" altLang="en-US" sz="900">
                <a:solidFill>
                  <a:srgbClr val="D4D4D4"/>
                </a:solidFill>
              </a:rPr>
              <a:t>完全没有上课空间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因此，不存在满足所有约束的排课方案。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endParaRPr lang="en-US" altLang="zh-CN" sz="900">
              <a:solidFill>
                <a:srgbClr val="D4D4D4"/>
              </a:solidFill>
            </a:endParaRPr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1637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豆包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Doubao-Seed-2.0</a:t>
            </a:r>
            <a:endParaRPr lang="en-US" altLang="zh-CN" sz="16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12" name="图片 11" descr="a2cd0c0c-9919-48fc-9ac9-c92965dbd647"/>
          <p:cNvPicPr>
            <a:picLocks noChangeAspect="1"/>
          </p:cNvPicPr>
          <p:nvPr/>
        </p:nvPicPr>
        <p:blipFill>
          <a:blip r:embed="rId1"/>
          <a:srcRect l="11737" t="25728" r="8930" b="27605"/>
          <a:stretch>
            <a:fillRect/>
          </a:stretch>
        </p:blipFill>
        <p:spPr>
          <a:xfrm>
            <a:off x="6443980" y="2139315"/>
            <a:ext cx="1968500" cy="7715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排一个满足所有约束的课表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395605" y="843280"/>
            <a:ext cx="5051425" cy="1782191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 </a:t>
            </a:r>
            <a:r>
              <a:rPr lang="zh-CN" altLang="en-US" sz="900">
                <a:solidFill>
                  <a:srgbClr val="D4D4D4"/>
                </a:solidFill>
              </a:rPr>
              <a:t>排课结果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该题有解。下面给出一组满足全部约束的完整排课方案。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一、总课表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星期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上午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下午</a:t>
            </a:r>
            <a:r>
              <a:rPr lang="en-US" altLang="zh-CN" sz="900">
                <a:solidFill>
                  <a:srgbClr val="D4D4D4"/>
                </a:solidFill>
              </a:rPr>
              <a:t>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|---|---|---|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Alice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Carol | </a:t>
            </a:r>
            <a:r>
              <a:rPr lang="zh-CN" altLang="en-US" sz="900">
                <a:solidFill>
                  <a:srgbClr val="D4D4D4"/>
                </a:solidFill>
              </a:rPr>
              <a:t>数学</a:t>
            </a:r>
            <a:r>
              <a:rPr lang="en-US" altLang="zh-CN" sz="900">
                <a:solidFill>
                  <a:srgbClr val="D4D4D4"/>
                </a:solidFill>
              </a:rPr>
              <a:t> M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Alice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David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英语</a:t>
            </a:r>
            <a:r>
              <a:rPr lang="en-US" altLang="zh-CN" sz="900">
                <a:solidFill>
                  <a:srgbClr val="D4D4D4"/>
                </a:solidFill>
              </a:rPr>
              <a:t> E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Bob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Carol |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Bob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David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周三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空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空</a:t>
            </a:r>
            <a:r>
              <a:rPr lang="en-US" altLang="zh-CN" sz="900">
                <a:solidFill>
                  <a:srgbClr val="D4D4D4"/>
                </a:solidFill>
              </a:rPr>
              <a:t>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设计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Bob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Carol | </a:t>
            </a:r>
            <a:r>
              <a:rPr lang="zh-CN" altLang="en-US" sz="900">
                <a:solidFill>
                  <a:srgbClr val="D4D4D4"/>
                </a:solidFill>
              </a:rPr>
              <a:t>英语</a:t>
            </a:r>
            <a:r>
              <a:rPr lang="en-US" altLang="zh-CN" sz="900">
                <a:solidFill>
                  <a:srgbClr val="D4D4D4"/>
                </a:solidFill>
              </a:rPr>
              <a:t> E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Alice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David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| </a:t>
            </a:r>
            <a:r>
              <a:rPr lang="zh-CN" altLang="en-US" sz="900">
                <a:solidFill>
                  <a:srgbClr val="D4D4D4"/>
                </a:solidFill>
              </a:rPr>
              <a:t>周五</a:t>
            </a:r>
            <a:r>
              <a:rPr lang="en-US" altLang="zh-CN" sz="900">
                <a:solidFill>
                  <a:srgbClr val="D4D4D4"/>
                </a:solidFill>
              </a:rPr>
              <a:t> | </a:t>
            </a:r>
            <a:r>
              <a:rPr lang="zh-CN" altLang="en-US" sz="900">
                <a:solidFill>
                  <a:srgbClr val="D4D4D4"/>
                </a:solidFill>
              </a:rPr>
              <a:t>数学</a:t>
            </a:r>
            <a:r>
              <a:rPr lang="en-US" altLang="zh-CN" sz="900">
                <a:solidFill>
                  <a:srgbClr val="D4D4D4"/>
                </a:solidFill>
              </a:rPr>
              <a:t> M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Bob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Carol | </a:t>
            </a:r>
            <a:r>
              <a:rPr lang="zh-CN" altLang="en-US" sz="900">
                <a:solidFill>
                  <a:srgbClr val="D4D4D4"/>
                </a:solidFill>
              </a:rPr>
              <a:t>设计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Alice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David |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二、每人选课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Alice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周一上午：编程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周一下午：数学</a:t>
            </a:r>
            <a:r>
              <a:rPr lang="en-US" altLang="zh-CN" sz="900">
                <a:solidFill>
                  <a:srgbClr val="D4D4D4"/>
                </a:solidFill>
              </a:rPr>
              <a:t> M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周四下午：英语</a:t>
            </a:r>
            <a:r>
              <a:rPr lang="en-US" altLang="zh-CN" sz="900">
                <a:solidFill>
                  <a:srgbClr val="D4D4D4"/>
                </a:solidFill>
              </a:rPr>
              <a:t> E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周五下午：设计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Bob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周二上午：英语</a:t>
            </a:r>
            <a:r>
              <a:rPr lang="en-US" altLang="zh-CN" sz="900">
                <a:solidFill>
                  <a:srgbClr val="D4D4D4"/>
                </a:solidFill>
              </a:rPr>
              <a:t> E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周二下午：编程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周四上午：设计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周五上午：数学</a:t>
            </a:r>
            <a:r>
              <a:rPr lang="en-US" altLang="zh-CN" sz="900">
                <a:solidFill>
                  <a:srgbClr val="D4D4D4"/>
                </a:solidFill>
              </a:rPr>
              <a:t> M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Carol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周一上午：编程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周二上午：英语</a:t>
            </a:r>
            <a:r>
              <a:rPr lang="en-US" altLang="zh-CN" sz="900">
                <a:solidFill>
                  <a:srgbClr val="D4D4D4"/>
                </a:solidFill>
              </a:rPr>
              <a:t> E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周四上午：设计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周五上午：数学</a:t>
            </a:r>
            <a:r>
              <a:rPr lang="en-US" altLang="zh-CN" sz="900">
                <a:solidFill>
                  <a:srgbClr val="D4D4D4"/>
                </a:solidFill>
              </a:rPr>
              <a:t> M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### David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周一下午：数学</a:t>
            </a:r>
            <a:r>
              <a:rPr lang="en-US" altLang="zh-CN" sz="900">
                <a:solidFill>
                  <a:srgbClr val="D4D4D4"/>
                </a:solidFill>
              </a:rPr>
              <a:t> M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周二下午：编程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周四下午：英语</a:t>
            </a:r>
            <a:r>
              <a:rPr lang="en-US" altLang="zh-CN" sz="900">
                <a:solidFill>
                  <a:srgbClr val="D4D4D4"/>
                </a:solidFill>
              </a:rPr>
              <a:t> E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- </a:t>
            </a:r>
            <a:r>
              <a:rPr lang="zh-CN" altLang="en-US" sz="900">
                <a:solidFill>
                  <a:srgbClr val="D4D4D4"/>
                </a:solidFill>
              </a:rPr>
              <a:t>周五下午：设计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三、约束核对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1. </a:t>
            </a:r>
            <a:r>
              <a:rPr lang="zh-CN" altLang="en-US" sz="900">
                <a:solidFill>
                  <a:srgbClr val="D4D4D4"/>
                </a:solidFill>
              </a:rPr>
              <a:t>每人都上完</a:t>
            </a:r>
            <a:r>
              <a:rPr lang="en-US" altLang="zh-CN" sz="900">
                <a:solidFill>
                  <a:srgbClr val="D4D4D4"/>
                </a:solidFill>
              </a:rPr>
              <a:t> 4 </a:t>
            </a:r>
            <a:r>
              <a:rPr lang="zh-CN" altLang="en-US" sz="900">
                <a:solidFill>
                  <a:srgbClr val="D4D4D4"/>
                </a:solidFill>
              </a:rPr>
              <a:t>门课，且每门只上一次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Alice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P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M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Bob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P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M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Carol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P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M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David</a:t>
            </a:r>
            <a:r>
              <a:rPr lang="zh-CN" altLang="en-US" sz="900">
                <a:solidFill>
                  <a:srgbClr val="D4D4D4"/>
                </a:solidFill>
              </a:rPr>
              <a:t>：</a:t>
            </a:r>
            <a:r>
              <a:rPr lang="en-US" altLang="zh-CN" sz="900">
                <a:solidFill>
                  <a:srgbClr val="D4D4D4"/>
                </a:solidFill>
              </a:rPr>
              <a:t>M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P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E</a:t>
            </a:r>
            <a:r>
              <a:rPr lang="zh-CN" altLang="en-US" sz="900">
                <a:solidFill>
                  <a:srgbClr val="D4D4D4"/>
                </a:solidFill>
              </a:rPr>
              <a:t>、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2. </a:t>
            </a:r>
            <a:r>
              <a:rPr lang="zh-CN" altLang="en-US" sz="900">
                <a:solidFill>
                  <a:srgbClr val="D4D4D4"/>
                </a:solidFill>
              </a:rPr>
              <a:t>每门课整周恰好开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数学</a:t>
            </a:r>
            <a:r>
              <a:rPr lang="en-US" altLang="zh-CN" sz="900">
                <a:solidFill>
                  <a:srgbClr val="D4D4D4"/>
                </a:solidFill>
              </a:rPr>
              <a:t> M</a:t>
            </a:r>
            <a:r>
              <a:rPr lang="zh-CN" altLang="en-US" sz="900">
                <a:solidFill>
                  <a:srgbClr val="D4D4D4"/>
                </a:solidFill>
              </a:rPr>
              <a:t>：周一下午、周五上午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英语</a:t>
            </a:r>
            <a:r>
              <a:rPr lang="en-US" altLang="zh-CN" sz="900">
                <a:solidFill>
                  <a:srgbClr val="D4D4D4"/>
                </a:solidFill>
              </a:rPr>
              <a:t> E</a:t>
            </a:r>
            <a:r>
              <a:rPr lang="zh-CN" altLang="en-US" sz="900">
                <a:solidFill>
                  <a:srgbClr val="D4D4D4"/>
                </a:solidFill>
              </a:rPr>
              <a:t>：周二上午、周四下午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r>
              <a:rPr lang="zh-CN" altLang="en-US" sz="900">
                <a:solidFill>
                  <a:srgbClr val="D4D4D4"/>
                </a:solidFill>
              </a:rPr>
              <a:t>：周一上午、周二下午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设计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r>
              <a:rPr lang="zh-CN" altLang="en-US" sz="900">
                <a:solidFill>
                  <a:srgbClr val="D4D4D4"/>
                </a:solidFill>
              </a:rPr>
              <a:t>：周四上午、周五下午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3. </a:t>
            </a:r>
            <a:r>
              <a:rPr lang="zh-CN" altLang="en-US" sz="900">
                <a:solidFill>
                  <a:srgbClr val="D4D4D4"/>
                </a:solidFill>
              </a:rPr>
              <a:t>每次上课最多</a:t>
            </a:r>
            <a:r>
              <a:rPr lang="en-US" altLang="zh-CN" sz="900">
                <a:solidFill>
                  <a:srgbClr val="D4D4D4"/>
                </a:solidFill>
              </a:rPr>
              <a:t> 3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实际每次都是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4. Alice </a:t>
            </a:r>
            <a:r>
              <a:rPr lang="zh-CN" altLang="en-US" sz="900">
                <a:solidFill>
                  <a:srgbClr val="D4D4D4"/>
                </a:solidFill>
              </a:rPr>
              <a:t>和</a:t>
            </a:r>
            <a:r>
              <a:rPr lang="en-US" altLang="zh-CN" sz="900">
                <a:solidFill>
                  <a:srgbClr val="D4D4D4"/>
                </a:solidFill>
              </a:rPr>
              <a:t> Bob </a:t>
            </a:r>
            <a:r>
              <a:rPr lang="zh-CN" altLang="en-US" sz="900">
                <a:solidFill>
                  <a:srgbClr val="D4D4D4"/>
                </a:solidFill>
              </a:rPr>
              <a:t>不能同堂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</a:t>
            </a:r>
            <a:r>
              <a:rPr lang="zh-CN" altLang="en-US" sz="900">
                <a:solidFill>
                  <a:srgbClr val="D4D4D4"/>
                </a:solidFill>
              </a:rPr>
              <a:t>课表中</a:t>
            </a:r>
            <a:r>
              <a:rPr lang="en-US" altLang="zh-CN" sz="900">
                <a:solidFill>
                  <a:srgbClr val="D4D4D4"/>
                </a:solidFill>
              </a:rPr>
              <a:t> Alice </a:t>
            </a:r>
            <a:r>
              <a:rPr lang="zh-CN" altLang="en-US" sz="900">
                <a:solidFill>
                  <a:srgbClr val="D4D4D4"/>
                </a:solidFill>
              </a:rPr>
              <a:t>与</a:t>
            </a:r>
            <a:r>
              <a:rPr lang="en-US" altLang="zh-CN" sz="900">
                <a:solidFill>
                  <a:srgbClr val="D4D4D4"/>
                </a:solidFill>
              </a:rPr>
              <a:t> Bob </a:t>
            </a:r>
            <a:r>
              <a:rPr lang="zh-CN" altLang="en-US" sz="900">
                <a:solidFill>
                  <a:srgbClr val="D4D4D4"/>
                </a:solidFill>
              </a:rPr>
              <a:t>从未出现在同一节课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5.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 P </a:t>
            </a:r>
            <a:r>
              <a:rPr lang="zh-CN" altLang="en-US" sz="900">
                <a:solidFill>
                  <a:srgbClr val="D4D4D4"/>
                </a:solidFill>
              </a:rPr>
              <a:t>必须在设计</a:t>
            </a:r>
            <a:r>
              <a:rPr lang="en-US" altLang="zh-CN" sz="900">
                <a:solidFill>
                  <a:srgbClr val="D4D4D4"/>
                </a:solidFill>
              </a:rPr>
              <a:t> D </a:t>
            </a:r>
            <a:r>
              <a:rPr lang="zh-CN" altLang="en-US" sz="900">
                <a:solidFill>
                  <a:srgbClr val="D4D4D4"/>
                </a:solidFill>
              </a:rPr>
              <a:t>之前上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Alice</a:t>
            </a:r>
            <a:r>
              <a:rPr lang="zh-CN" altLang="en-US" sz="900">
                <a:solidFill>
                  <a:srgbClr val="D4D4D4"/>
                </a:solidFill>
              </a:rPr>
              <a:t>：周一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r>
              <a:rPr lang="zh-CN" altLang="en-US" sz="900">
                <a:solidFill>
                  <a:srgbClr val="D4D4D4"/>
                </a:solidFill>
              </a:rPr>
              <a:t>，周五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Bob</a:t>
            </a:r>
            <a:r>
              <a:rPr lang="zh-CN" altLang="en-US" sz="900">
                <a:solidFill>
                  <a:srgbClr val="D4D4D4"/>
                </a:solidFill>
              </a:rPr>
              <a:t>：周二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r>
              <a:rPr lang="zh-CN" altLang="en-US" sz="900">
                <a:solidFill>
                  <a:srgbClr val="D4D4D4"/>
                </a:solidFill>
              </a:rPr>
              <a:t>，周四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Carol</a:t>
            </a:r>
            <a:r>
              <a:rPr lang="zh-CN" altLang="en-US" sz="900">
                <a:solidFill>
                  <a:srgbClr val="D4D4D4"/>
                </a:solidFill>
              </a:rPr>
              <a:t>：周一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r>
              <a:rPr lang="zh-CN" altLang="en-US" sz="900">
                <a:solidFill>
                  <a:srgbClr val="D4D4D4"/>
                </a:solidFill>
              </a:rPr>
              <a:t>，周四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David</a:t>
            </a:r>
            <a:r>
              <a:rPr lang="zh-CN" altLang="en-US" sz="900">
                <a:solidFill>
                  <a:srgbClr val="D4D4D4"/>
                </a:solidFill>
              </a:rPr>
              <a:t>：周二</a:t>
            </a:r>
            <a:r>
              <a:rPr lang="en-US" altLang="zh-CN" sz="900">
                <a:solidFill>
                  <a:srgbClr val="D4D4D4"/>
                </a:solidFill>
              </a:rPr>
              <a:t> P</a:t>
            </a:r>
            <a:r>
              <a:rPr lang="zh-CN" altLang="en-US" sz="900">
                <a:solidFill>
                  <a:srgbClr val="D4D4D4"/>
                </a:solidFill>
              </a:rPr>
              <a:t>，周五</a:t>
            </a:r>
            <a:r>
              <a:rPr lang="en-US" altLang="zh-CN" sz="900">
                <a:solidFill>
                  <a:srgbClr val="D4D4D4"/>
                </a:solidFill>
              </a:rPr>
              <a:t> D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6. David </a:t>
            </a:r>
            <a:r>
              <a:rPr lang="zh-CN" altLang="en-US" sz="900">
                <a:solidFill>
                  <a:srgbClr val="D4D4D4"/>
                </a:solidFill>
              </a:rPr>
              <a:t>周三全天缺席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David </a:t>
            </a:r>
            <a:r>
              <a:rPr lang="zh-CN" altLang="en-US" sz="900">
                <a:solidFill>
                  <a:srgbClr val="D4D4D4"/>
                </a:solidFill>
              </a:rPr>
              <a:t>未被安排在周三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7. Carol </a:t>
            </a:r>
            <a:r>
              <a:rPr lang="zh-CN" altLang="en-US" sz="900">
                <a:solidFill>
                  <a:srgbClr val="D4D4D4"/>
                </a:solidFill>
              </a:rPr>
              <a:t>只能上午来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- Carol </a:t>
            </a:r>
            <a:r>
              <a:rPr lang="zh-CN" altLang="en-US" sz="900">
                <a:solidFill>
                  <a:srgbClr val="D4D4D4"/>
                </a:solidFill>
              </a:rPr>
              <a:t>的</a:t>
            </a:r>
            <a:r>
              <a:rPr lang="en-US" altLang="zh-CN" sz="900">
                <a:solidFill>
                  <a:srgbClr val="D4D4D4"/>
                </a:solidFill>
              </a:rPr>
              <a:t> 4 </a:t>
            </a:r>
            <a:r>
              <a:rPr lang="zh-CN" altLang="en-US" sz="900">
                <a:solidFill>
                  <a:srgbClr val="D4D4D4"/>
                </a:solidFill>
              </a:rPr>
              <a:t>节课全部在上午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## </a:t>
            </a:r>
            <a:r>
              <a:rPr lang="zh-CN" altLang="en-US" sz="900">
                <a:solidFill>
                  <a:srgbClr val="D4D4D4"/>
                </a:solidFill>
              </a:rPr>
              <a:t>结论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900">
                <a:solidFill>
                  <a:srgbClr val="D4D4D4"/>
                </a:solidFill>
              </a:rPr>
              <a:t>该题</a:t>
            </a:r>
            <a:r>
              <a:rPr lang="en-US" altLang="zh-CN" sz="900">
                <a:solidFill>
                  <a:srgbClr val="D4D4D4"/>
                </a:solidFill>
              </a:rPr>
              <a:t> **</a:t>
            </a:r>
            <a:r>
              <a:rPr lang="zh-CN" altLang="en-US" sz="900">
                <a:solidFill>
                  <a:srgbClr val="D4D4D4"/>
                </a:solidFill>
              </a:rPr>
              <a:t>有解</a:t>
            </a:r>
            <a:r>
              <a:rPr lang="en-US" altLang="zh-CN" sz="900">
                <a:solidFill>
                  <a:srgbClr val="D4D4D4"/>
                </a:solidFill>
              </a:rPr>
              <a:t>**</a:t>
            </a:r>
            <a:r>
              <a:rPr lang="zh-CN" altLang="en-US" sz="900">
                <a:solidFill>
                  <a:srgbClr val="D4D4D4"/>
                </a:solidFill>
              </a:rPr>
              <a:t>，以上方案满足全部约束。</a:t>
            </a:r>
            <a:endParaRPr lang="zh-CN" altLang="en-US" sz="900">
              <a:solidFill>
                <a:srgbClr val="D4D4D4"/>
              </a:solidFill>
            </a:endParaRPr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1637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GPT 5.4</a:t>
            </a:r>
            <a:endParaRPr lang="en-US" altLang="zh-CN" sz="16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  <a:p>
            <a:pPr marL="0" indent="0" algn="ctr">
              <a:buNone/>
            </a:pPr>
            <a:endParaRPr lang="en-US" altLang="zh-CN" sz="16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pic>
        <p:nvPicPr>
          <p:cNvPr id="13" name="图片 12"/>
          <p:cNvPicPr/>
          <p:nvPr/>
        </p:nvPicPr>
        <p:blipFill>
          <a:blip r:embed="rId1"/>
          <a:srcRect l="10598" t="31005" r="10579" b="26624"/>
          <a:stretch>
            <a:fillRect/>
          </a:stretch>
        </p:blipFill>
        <p:spPr>
          <a:xfrm>
            <a:off x="6732270" y="2355850"/>
            <a:ext cx="1386840" cy="6597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排一个满足所有约束的课表</a:t>
            </a:r>
            <a:endParaRPr lang="en-US" sz="1800" dirty="0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67360" y="699770"/>
            <a:ext cx="5051425" cy="1643697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en-US" sz="900">
                <a:solidFill>
                  <a:srgbClr val="D4D4D4"/>
                </a:solidFill>
              </a:rPr>
              <a:t>⏺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排课方案</a:t>
            </a:r>
            <a:r>
              <a:rPr lang="en-US" altLang="zh-CN" sz="900">
                <a:solidFill>
                  <a:srgbClr val="D4D4D4"/>
                </a:solidFill>
              </a:rPr>
              <a:t>                                           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zh-CN" altLang="en-US" sz="900">
                <a:solidFill>
                  <a:srgbClr val="D4D4D4"/>
                </a:solidFill>
              </a:rPr>
              <a:t>课表</a:t>
            </a:r>
            <a:r>
              <a:rPr lang="en-US" altLang="zh-CN" sz="900">
                <a:solidFill>
                  <a:srgbClr val="D4D4D4"/>
                </a:solidFill>
              </a:rPr>
              <a:t>                                                                                                                                                                                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┌──────┬─────────┬─────────┐</a:t>
            </a:r>
            <a:r>
              <a:rPr lang="en-US" altLang="zh-CN" sz="900">
                <a:solidFill>
                  <a:srgbClr val="D4D4D4"/>
                </a:solidFill>
              </a:rPr>
              <a:t>                                                                                                                                                        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 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zh-CN" altLang="en-US" sz="900">
                <a:solidFill>
                  <a:srgbClr val="D4D4D4"/>
                </a:solidFill>
              </a:rPr>
              <a:t>上午</a:t>
            </a:r>
            <a:r>
              <a:rPr lang="en-US" altLang="zh-CN" sz="900">
                <a:solidFill>
                  <a:srgbClr val="D4D4D4"/>
                </a:solidFill>
              </a:rPr>
              <a:t>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zh-CN" altLang="en-US" sz="900">
                <a:solidFill>
                  <a:srgbClr val="D4D4D4"/>
                </a:solidFill>
              </a:rPr>
              <a:t>下午</a:t>
            </a:r>
            <a:r>
              <a:rPr lang="en-US" altLang="zh-CN" sz="900">
                <a:solidFill>
                  <a:srgbClr val="D4D4D4"/>
                </a:solidFill>
              </a:rPr>
              <a:t>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                                   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├──────┼─────────┼─────────┤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(P)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英语</a:t>
            </a:r>
            <a:r>
              <a:rPr lang="en-US" altLang="zh-CN" sz="900">
                <a:solidFill>
                  <a:srgbClr val="D4D4D4"/>
                </a:solidFill>
              </a:rPr>
              <a:t>(E)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├──────┼─────────┼─────────┤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(P)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数学</a:t>
            </a:r>
            <a:r>
              <a:rPr lang="en-US" altLang="zh-CN" sz="900">
                <a:solidFill>
                  <a:srgbClr val="D4D4D4"/>
                </a:solidFill>
              </a:rPr>
              <a:t>(M)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├──────┼─────────┼─────────┤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周三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数学</a:t>
            </a:r>
            <a:r>
              <a:rPr lang="en-US" altLang="zh-CN" sz="900">
                <a:solidFill>
                  <a:srgbClr val="D4D4D4"/>
                </a:solidFill>
              </a:rPr>
              <a:t>(M)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空</a:t>
            </a:r>
            <a:r>
              <a:rPr lang="en-US" altLang="zh-CN" sz="900">
                <a:solidFill>
                  <a:srgbClr val="D4D4D4"/>
                </a:solidFill>
              </a:rPr>
              <a:t>  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├──────┼─────────┼─────────┤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英语</a:t>
            </a:r>
            <a:r>
              <a:rPr lang="en-US" altLang="zh-CN" sz="900">
                <a:solidFill>
                  <a:srgbClr val="D4D4D4"/>
                </a:solidFill>
              </a:rPr>
              <a:t>(E)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设计</a:t>
            </a:r>
            <a:r>
              <a:rPr lang="en-US" altLang="zh-CN" sz="900">
                <a:solidFill>
                  <a:srgbClr val="D4D4D4"/>
                </a:solidFill>
              </a:rPr>
              <a:t>(D)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├──────┼─────────┼─────────┤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周五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设计</a:t>
            </a:r>
            <a:r>
              <a:rPr lang="en-US" altLang="zh-CN" sz="900">
                <a:solidFill>
                  <a:srgbClr val="D4D4D4"/>
                </a:solidFill>
              </a:rPr>
              <a:t>(D)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空</a:t>
            </a:r>
            <a:r>
              <a:rPr lang="en-US" altLang="zh-CN" sz="900">
                <a:solidFill>
                  <a:srgbClr val="D4D4D4"/>
                </a:solidFill>
              </a:rPr>
              <a:t>  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└──────┴─────────┴─────────┘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zh-CN" altLang="en-US" sz="900">
                <a:solidFill>
                  <a:srgbClr val="D4D4D4"/>
                </a:solidFill>
              </a:rPr>
              <a:t>每门课恰好开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次，共占</a:t>
            </a:r>
            <a:r>
              <a:rPr lang="en-US" altLang="zh-CN" sz="900">
                <a:solidFill>
                  <a:srgbClr val="D4D4D4"/>
                </a:solidFill>
              </a:rPr>
              <a:t> 8 </a:t>
            </a:r>
            <a:r>
              <a:rPr lang="zh-CN" altLang="en-US" sz="900">
                <a:solidFill>
                  <a:srgbClr val="D4D4D4"/>
                </a:solidFill>
              </a:rPr>
              <a:t>个时段，空出周三下午和周五下午。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zh-CN" altLang="en-US" sz="900">
                <a:solidFill>
                  <a:srgbClr val="D4D4D4"/>
                </a:solidFill>
              </a:rPr>
              <a:t>每人选课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┌───────┬──────────┬──────────┬──────────┬──────────┐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学员</a:t>
            </a: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数学</a:t>
            </a:r>
            <a:r>
              <a:rPr lang="en-US" altLang="zh-CN" sz="900">
                <a:solidFill>
                  <a:srgbClr val="D4D4D4"/>
                </a:solidFill>
              </a:rPr>
              <a:t>(M)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英语</a:t>
            </a:r>
            <a:r>
              <a:rPr lang="en-US" altLang="zh-CN" sz="900">
                <a:solidFill>
                  <a:srgbClr val="D4D4D4"/>
                </a:solidFill>
              </a:rPr>
              <a:t>(E)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编程</a:t>
            </a:r>
            <a:r>
              <a:rPr lang="en-US" altLang="zh-CN" sz="900">
                <a:solidFill>
                  <a:srgbClr val="D4D4D4"/>
                </a:solidFill>
              </a:rPr>
              <a:t>(P)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设计</a:t>
            </a:r>
            <a:r>
              <a:rPr lang="en-US" altLang="zh-CN" sz="900">
                <a:solidFill>
                  <a:srgbClr val="D4D4D4"/>
                </a:solidFill>
              </a:rPr>
              <a:t>(D)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├───────┼──────────┼──────────┼──────────┼──────────┤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Alice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周一上午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├───────┼──────────┼──────────┼──────────┼──────────┤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Bob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周三上午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周一下午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周五上午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├───────┼──────────┼──────────┼──────────┼──────────┤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Carol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周三上午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周一上午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周五上午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├───────┼──────────┼──────────┼──────────┼──────────┤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David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周一下午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└───────┴──────────┴──────────┴──────────┴──────────┘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zh-CN" altLang="en-US" sz="900">
                <a:solidFill>
                  <a:srgbClr val="D4D4D4"/>
                </a:solidFill>
              </a:rPr>
              <a:t>每堂课人数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┌──────────┬──────┬──────────────┬──────┐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  </a:t>
            </a:r>
            <a:r>
              <a:rPr lang="zh-CN" altLang="en-US" sz="900">
                <a:solidFill>
                  <a:srgbClr val="D4D4D4"/>
                </a:solidFill>
              </a:rPr>
              <a:t>时段</a:t>
            </a:r>
            <a:r>
              <a:rPr lang="en-US" altLang="zh-CN" sz="900">
                <a:solidFill>
                  <a:srgbClr val="D4D4D4"/>
                </a:solidFill>
              </a:rPr>
              <a:t>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课程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    </a:t>
            </a:r>
            <a:r>
              <a:rPr lang="zh-CN" altLang="en-US" sz="900">
                <a:solidFill>
                  <a:srgbClr val="D4D4D4"/>
                </a:solidFill>
              </a:rPr>
              <a:t>学员</a:t>
            </a:r>
            <a:r>
              <a:rPr lang="en-US" altLang="zh-CN" sz="900">
                <a:solidFill>
                  <a:srgbClr val="D4D4D4"/>
                </a:solidFill>
              </a:rPr>
              <a:t> 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人数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周一上午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P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Alice, Carol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周一下午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E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Bob, David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P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Bob, David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周二下午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M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Alice, David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周三上午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M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Bob, Carol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E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Alice, Carol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周四下午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D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Alice, David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├──────────┼──────┼──────────────┼──────┤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周五上午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D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Bob, Carol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r>
              <a:rPr lang="en-US" altLang="zh-CN" sz="900">
                <a:solidFill>
                  <a:srgbClr val="D4D4D4"/>
                </a:solidFill>
              </a:rPr>
              <a:t> 2    </a:t>
            </a:r>
            <a:r>
              <a:rPr lang="en-US" altLang="en-US" sz="900">
                <a:solidFill>
                  <a:srgbClr val="D4D4D4"/>
                </a:solidFill>
              </a:rPr>
              <a:t>│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en-US" altLang="en-US" sz="900">
                <a:solidFill>
                  <a:srgbClr val="D4D4D4"/>
                </a:solidFill>
              </a:rPr>
              <a:t>└──────────┴──────┴──────────────┴──────┘</a:t>
            </a:r>
            <a:endParaRPr lang="en-US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</a:t>
            </a:r>
            <a:r>
              <a:rPr lang="zh-CN" altLang="en-US" sz="900">
                <a:solidFill>
                  <a:srgbClr val="D4D4D4"/>
                </a:solidFill>
              </a:rPr>
              <a:t>约束验证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1. </a:t>
            </a:r>
            <a:r>
              <a:rPr lang="zh-CN" altLang="en-US" sz="900">
                <a:solidFill>
                  <a:srgbClr val="D4D4D4"/>
                </a:solidFill>
              </a:rPr>
              <a:t>每人</a:t>
            </a:r>
            <a:r>
              <a:rPr lang="en-US" altLang="zh-CN" sz="900">
                <a:solidFill>
                  <a:srgbClr val="D4D4D4"/>
                </a:solidFill>
              </a:rPr>
              <a:t> 4 </a:t>
            </a:r>
            <a:r>
              <a:rPr lang="zh-CN" altLang="en-US" sz="900">
                <a:solidFill>
                  <a:srgbClr val="D4D4D4"/>
                </a:solidFill>
              </a:rPr>
              <a:t>门课各一次</a:t>
            </a:r>
            <a:r>
              <a:rPr lang="en-US" altLang="zh-CN" sz="900">
                <a:solidFill>
                  <a:srgbClr val="D4D4D4"/>
                </a:solidFill>
              </a:rPr>
              <a:t> — </a:t>
            </a:r>
            <a:r>
              <a:rPr lang="en-US" altLang="en-US" sz="900">
                <a:solidFill>
                  <a:srgbClr val="D4D4D4"/>
                </a:solidFill>
              </a:rPr>
              <a:t>✓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见选课表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2. </a:t>
            </a:r>
            <a:r>
              <a:rPr lang="zh-CN" altLang="en-US" sz="900">
                <a:solidFill>
                  <a:srgbClr val="D4D4D4"/>
                </a:solidFill>
              </a:rPr>
              <a:t>每门课恰好开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次</a:t>
            </a:r>
            <a:r>
              <a:rPr lang="en-US" altLang="zh-CN" sz="900">
                <a:solidFill>
                  <a:srgbClr val="D4D4D4"/>
                </a:solidFill>
              </a:rPr>
              <a:t> — </a:t>
            </a:r>
            <a:r>
              <a:rPr lang="en-US" altLang="en-US" sz="900">
                <a:solidFill>
                  <a:srgbClr val="D4D4D4"/>
                </a:solidFill>
              </a:rPr>
              <a:t>✓</a:t>
            </a:r>
            <a:r>
              <a:rPr lang="en-US" altLang="zh-CN" sz="900">
                <a:solidFill>
                  <a:srgbClr val="D4D4D4"/>
                </a:solidFill>
              </a:rPr>
              <a:t> M(</a:t>
            </a:r>
            <a:r>
              <a:rPr lang="zh-CN" altLang="en-US" sz="900">
                <a:solidFill>
                  <a:srgbClr val="D4D4D4"/>
                </a:solidFill>
              </a:rPr>
              <a:t>周二下午、周三上午</a:t>
            </a:r>
            <a:r>
              <a:rPr lang="en-US" altLang="zh-CN" sz="900">
                <a:solidFill>
                  <a:srgbClr val="D4D4D4"/>
                </a:solidFill>
              </a:rPr>
              <a:t>), E(</a:t>
            </a:r>
            <a:r>
              <a:rPr lang="zh-CN" altLang="en-US" sz="900">
                <a:solidFill>
                  <a:srgbClr val="D4D4D4"/>
                </a:solidFill>
              </a:rPr>
              <a:t>周一下午、周四上午</a:t>
            </a:r>
            <a:r>
              <a:rPr lang="en-US" altLang="zh-CN" sz="900">
                <a:solidFill>
                  <a:srgbClr val="D4D4D4"/>
                </a:solidFill>
              </a:rPr>
              <a:t>), P(</a:t>
            </a:r>
            <a:r>
              <a:rPr lang="zh-CN" altLang="en-US" sz="900">
                <a:solidFill>
                  <a:srgbClr val="D4D4D4"/>
                </a:solidFill>
              </a:rPr>
              <a:t>周一上午、周二上午</a:t>
            </a:r>
            <a:r>
              <a:rPr lang="en-US" altLang="zh-CN" sz="900">
                <a:solidFill>
                  <a:srgbClr val="D4D4D4"/>
                </a:solidFill>
              </a:rPr>
              <a:t>), D(</a:t>
            </a:r>
            <a:r>
              <a:rPr lang="zh-CN" altLang="en-US" sz="900">
                <a:solidFill>
                  <a:srgbClr val="D4D4D4"/>
                </a:solidFill>
              </a:rPr>
              <a:t>周四下午、周五上午</a:t>
            </a:r>
            <a:r>
              <a:rPr lang="en-US" altLang="zh-CN" sz="900">
                <a:solidFill>
                  <a:srgbClr val="D4D4D4"/>
                </a:solidFill>
              </a:rPr>
              <a:t>)</a:t>
            </a:r>
            <a:endParaRPr lang="en-US" altLang="zh-CN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3. </a:t>
            </a:r>
            <a:r>
              <a:rPr lang="zh-CN" altLang="en-US" sz="900">
                <a:solidFill>
                  <a:srgbClr val="D4D4D4"/>
                </a:solidFill>
              </a:rPr>
              <a:t>每堂最多</a:t>
            </a:r>
            <a:r>
              <a:rPr lang="en-US" altLang="zh-CN" sz="900">
                <a:solidFill>
                  <a:srgbClr val="D4D4D4"/>
                </a:solidFill>
              </a:rPr>
              <a:t> 3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r>
              <a:rPr lang="en-US" altLang="zh-CN" sz="900">
                <a:solidFill>
                  <a:srgbClr val="D4D4D4"/>
                </a:solidFill>
              </a:rPr>
              <a:t> — </a:t>
            </a:r>
            <a:r>
              <a:rPr lang="en-US" altLang="en-US" sz="900">
                <a:solidFill>
                  <a:srgbClr val="D4D4D4"/>
                </a:solidFill>
              </a:rPr>
              <a:t>✓</a:t>
            </a:r>
            <a:r>
              <a:rPr lang="en-US" altLang="zh-CN" sz="900">
                <a:solidFill>
                  <a:srgbClr val="D4D4D4"/>
                </a:solidFill>
              </a:rPr>
              <a:t> </a:t>
            </a:r>
            <a:r>
              <a:rPr lang="zh-CN" altLang="en-US" sz="900">
                <a:solidFill>
                  <a:srgbClr val="D4D4D4"/>
                </a:solidFill>
              </a:rPr>
              <a:t>均为</a:t>
            </a:r>
            <a:r>
              <a:rPr lang="en-US" altLang="zh-CN" sz="900">
                <a:solidFill>
                  <a:srgbClr val="D4D4D4"/>
                </a:solidFill>
              </a:rPr>
              <a:t> 2 </a:t>
            </a:r>
            <a:r>
              <a:rPr lang="zh-CN" altLang="en-US" sz="900">
                <a:solidFill>
                  <a:srgbClr val="D4D4D4"/>
                </a:solidFill>
              </a:rPr>
              <a:t>人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4. Alice </a:t>
            </a:r>
            <a:r>
              <a:rPr lang="zh-CN" altLang="en-US" sz="900">
                <a:solidFill>
                  <a:srgbClr val="D4D4D4"/>
                </a:solidFill>
              </a:rPr>
              <a:t>和</a:t>
            </a:r>
            <a:r>
              <a:rPr lang="en-US" altLang="zh-CN" sz="900">
                <a:solidFill>
                  <a:srgbClr val="D4D4D4"/>
                </a:solidFill>
              </a:rPr>
              <a:t> Bob </a:t>
            </a:r>
            <a:r>
              <a:rPr lang="zh-CN" altLang="en-US" sz="900">
                <a:solidFill>
                  <a:srgbClr val="D4D4D4"/>
                </a:solidFill>
              </a:rPr>
              <a:t>不同堂</a:t>
            </a:r>
            <a:r>
              <a:rPr lang="en-US" altLang="zh-CN" sz="900">
                <a:solidFill>
                  <a:srgbClr val="D4D4D4"/>
                </a:solidFill>
              </a:rPr>
              <a:t> — </a:t>
            </a:r>
            <a:r>
              <a:rPr lang="en-US" altLang="en-US" sz="900">
                <a:solidFill>
                  <a:srgbClr val="D4D4D4"/>
                </a:solidFill>
              </a:rPr>
              <a:t>✓</a:t>
            </a:r>
            <a:r>
              <a:rPr lang="en-US" altLang="zh-CN" sz="900">
                <a:solidFill>
                  <a:srgbClr val="D4D4D4"/>
                </a:solidFill>
              </a:rPr>
              <a:t> Alice </a:t>
            </a:r>
            <a:r>
              <a:rPr lang="zh-CN" altLang="en-US" sz="900">
                <a:solidFill>
                  <a:srgbClr val="D4D4D4"/>
                </a:solidFill>
              </a:rPr>
              <a:t>出席</a:t>
            </a:r>
            <a:r>
              <a:rPr lang="en-US" altLang="zh-CN" sz="900">
                <a:solidFill>
                  <a:srgbClr val="D4D4D4"/>
                </a:solidFill>
              </a:rPr>
              <a:t> {</a:t>
            </a:r>
            <a:r>
              <a:rPr lang="zh-CN" altLang="en-US" sz="900">
                <a:solidFill>
                  <a:srgbClr val="D4D4D4"/>
                </a:solidFill>
              </a:rPr>
              <a:t>周一上午</a:t>
            </a:r>
            <a:r>
              <a:rPr lang="en-US" altLang="zh-CN" sz="900">
                <a:solidFill>
                  <a:srgbClr val="D4D4D4"/>
                </a:solidFill>
              </a:rPr>
              <a:t>, </a:t>
            </a:r>
            <a:r>
              <a:rPr lang="zh-CN" altLang="en-US" sz="900">
                <a:solidFill>
                  <a:srgbClr val="D4D4D4"/>
                </a:solidFill>
              </a:rPr>
              <a:t>周二下午</a:t>
            </a:r>
            <a:r>
              <a:rPr lang="en-US" altLang="zh-CN" sz="900">
                <a:solidFill>
                  <a:srgbClr val="D4D4D4"/>
                </a:solidFill>
              </a:rPr>
              <a:t>, </a:t>
            </a:r>
            <a:r>
              <a:rPr lang="zh-CN" altLang="en-US" sz="900">
                <a:solidFill>
                  <a:srgbClr val="D4D4D4"/>
                </a:solidFill>
              </a:rPr>
              <a:t>周四上午</a:t>
            </a:r>
            <a:r>
              <a:rPr lang="en-US" altLang="zh-CN" sz="900">
                <a:solidFill>
                  <a:srgbClr val="D4D4D4"/>
                </a:solidFill>
              </a:rPr>
              <a:t>, </a:t>
            </a:r>
            <a:r>
              <a:rPr lang="zh-CN" altLang="en-US" sz="900">
                <a:solidFill>
                  <a:srgbClr val="D4D4D4"/>
                </a:solidFill>
              </a:rPr>
              <a:t>周四下午</a:t>
            </a:r>
            <a:r>
              <a:rPr lang="en-US" altLang="zh-CN" sz="900">
                <a:solidFill>
                  <a:srgbClr val="D4D4D4"/>
                </a:solidFill>
              </a:rPr>
              <a:t>}</a:t>
            </a:r>
            <a:r>
              <a:rPr lang="zh-CN" altLang="en-US" sz="900">
                <a:solidFill>
                  <a:srgbClr val="D4D4D4"/>
                </a:solidFill>
              </a:rPr>
              <a:t>，</a:t>
            </a:r>
            <a:r>
              <a:rPr lang="en-US" altLang="zh-CN" sz="900">
                <a:solidFill>
                  <a:srgbClr val="D4D4D4"/>
                </a:solidFill>
              </a:rPr>
              <a:t>Bob </a:t>
            </a:r>
            <a:r>
              <a:rPr lang="zh-CN" altLang="en-US" sz="900">
                <a:solidFill>
                  <a:srgbClr val="D4D4D4"/>
                </a:solidFill>
              </a:rPr>
              <a:t>出席</a:t>
            </a:r>
            <a:r>
              <a:rPr lang="en-US" altLang="zh-CN" sz="900">
                <a:solidFill>
                  <a:srgbClr val="D4D4D4"/>
                </a:solidFill>
              </a:rPr>
              <a:t> {</a:t>
            </a:r>
            <a:r>
              <a:rPr lang="zh-CN" altLang="en-US" sz="900">
                <a:solidFill>
                  <a:srgbClr val="D4D4D4"/>
                </a:solidFill>
              </a:rPr>
              <a:t>周一下午</a:t>
            </a:r>
            <a:r>
              <a:rPr lang="en-US" altLang="zh-CN" sz="900">
                <a:solidFill>
                  <a:srgbClr val="D4D4D4"/>
                </a:solidFill>
              </a:rPr>
              <a:t>, </a:t>
            </a:r>
            <a:r>
              <a:rPr lang="zh-CN" altLang="en-US" sz="900">
                <a:solidFill>
                  <a:srgbClr val="D4D4D4"/>
                </a:solidFill>
              </a:rPr>
              <a:t>周二上午</a:t>
            </a:r>
            <a:r>
              <a:rPr lang="en-US" altLang="zh-CN" sz="900">
                <a:solidFill>
                  <a:srgbClr val="D4D4D4"/>
                </a:solidFill>
              </a:rPr>
              <a:t>, </a:t>
            </a:r>
            <a:r>
              <a:rPr lang="zh-CN" altLang="en-US" sz="900">
                <a:solidFill>
                  <a:srgbClr val="D4D4D4"/>
                </a:solidFill>
              </a:rPr>
              <a:t>周三上午</a:t>
            </a:r>
            <a:r>
              <a:rPr lang="en-US" altLang="zh-CN" sz="900">
                <a:solidFill>
                  <a:srgbClr val="D4D4D4"/>
                </a:solidFill>
              </a:rPr>
              <a:t>, </a:t>
            </a:r>
            <a:r>
              <a:rPr lang="zh-CN" altLang="en-US" sz="900">
                <a:solidFill>
                  <a:srgbClr val="D4D4D4"/>
                </a:solidFill>
              </a:rPr>
              <a:t>周五上午</a:t>
            </a:r>
            <a:r>
              <a:rPr lang="en-US" altLang="zh-CN" sz="900">
                <a:solidFill>
                  <a:srgbClr val="D4D4D4"/>
                </a:solidFill>
              </a:rPr>
              <a:t>}</a:t>
            </a:r>
            <a:r>
              <a:rPr lang="zh-CN" altLang="en-US" sz="900">
                <a:solidFill>
                  <a:srgbClr val="D4D4D4"/>
                </a:solidFill>
              </a:rPr>
              <a:t>，无交集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5. P </a:t>
            </a:r>
            <a:r>
              <a:rPr lang="zh-CN" altLang="en-US" sz="900">
                <a:solidFill>
                  <a:srgbClr val="D4D4D4"/>
                </a:solidFill>
              </a:rPr>
              <a:t>在</a:t>
            </a:r>
            <a:r>
              <a:rPr lang="en-US" altLang="zh-CN" sz="900">
                <a:solidFill>
                  <a:srgbClr val="D4D4D4"/>
                </a:solidFill>
              </a:rPr>
              <a:t> D </a:t>
            </a:r>
            <a:r>
              <a:rPr lang="zh-CN" altLang="en-US" sz="900">
                <a:solidFill>
                  <a:srgbClr val="D4D4D4"/>
                </a:solidFill>
              </a:rPr>
              <a:t>之前</a:t>
            </a:r>
            <a:r>
              <a:rPr lang="en-US" altLang="zh-CN" sz="900">
                <a:solidFill>
                  <a:srgbClr val="D4D4D4"/>
                </a:solidFill>
              </a:rPr>
              <a:t> — </a:t>
            </a:r>
            <a:r>
              <a:rPr lang="en-US" altLang="en-US" sz="900">
                <a:solidFill>
                  <a:srgbClr val="D4D4D4"/>
                </a:solidFill>
              </a:rPr>
              <a:t>✓</a:t>
            </a:r>
            <a:r>
              <a:rPr lang="en-US" altLang="zh-CN" sz="900">
                <a:solidFill>
                  <a:srgbClr val="D4D4D4"/>
                </a:solidFill>
              </a:rPr>
              <a:t> Alice: P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r>
              <a:rPr lang="en-US" altLang="zh-CN" sz="900">
                <a:solidFill>
                  <a:srgbClr val="D4D4D4"/>
                </a:solidFill>
              </a:rPr>
              <a:t>; Bob: P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周五</a:t>
            </a:r>
            <a:r>
              <a:rPr lang="en-US" altLang="zh-CN" sz="900">
                <a:solidFill>
                  <a:srgbClr val="D4D4D4"/>
                </a:solidFill>
              </a:rPr>
              <a:t>; Carol: P</a:t>
            </a:r>
            <a:r>
              <a:rPr lang="zh-CN" altLang="en-US" sz="900">
                <a:solidFill>
                  <a:srgbClr val="D4D4D4"/>
                </a:solidFill>
              </a:rPr>
              <a:t>周一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周五</a:t>
            </a:r>
            <a:r>
              <a:rPr lang="en-US" altLang="zh-CN" sz="900">
                <a:solidFill>
                  <a:srgbClr val="D4D4D4"/>
                </a:solidFill>
              </a:rPr>
              <a:t>; David: P</a:t>
            </a:r>
            <a:r>
              <a:rPr lang="zh-CN" altLang="en-US" sz="900">
                <a:solidFill>
                  <a:srgbClr val="D4D4D4"/>
                </a:solidFill>
              </a:rPr>
              <a:t>周二</a:t>
            </a:r>
            <a:r>
              <a:rPr lang="en-US" altLang="en-US" sz="900">
                <a:solidFill>
                  <a:srgbClr val="D4D4D4"/>
                </a:solidFill>
              </a:rPr>
              <a:t>→</a:t>
            </a:r>
            <a:r>
              <a:rPr lang="en-US" altLang="zh-CN" sz="900">
                <a:solidFill>
                  <a:srgbClr val="D4D4D4"/>
                </a:solidFill>
              </a:rPr>
              <a:t>D</a:t>
            </a:r>
            <a:r>
              <a:rPr lang="zh-CN" altLang="en-US" sz="900">
                <a:solidFill>
                  <a:srgbClr val="D4D4D4"/>
                </a:solidFill>
              </a:rPr>
              <a:t>周四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6. David </a:t>
            </a:r>
            <a:r>
              <a:rPr lang="zh-CN" altLang="en-US" sz="900">
                <a:solidFill>
                  <a:srgbClr val="D4D4D4"/>
                </a:solidFill>
              </a:rPr>
              <a:t>周三缺席</a:t>
            </a:r>
            <a:r>
              <a:rPr lang="en-US" altLang="zh-CN" sz="900">
                <a:solidFill>
                  <a:srgbClr val="D4D4D4"/>
                </a:solidFill>
              </a:rPr>
              <a:t> — </a:t>
            </a:r>
            <a:r>
              <a:rPr lang="en-US" altLang="en-US" sz="900">
                <a:solidFill>
                  <a:srgbClr val="D4D4D4"/>
                </a:solidFill>
              </a:rPr>
              <a:t>✓</a:t>
            </a:r>
            <a:r>
              <a:rPr lang="en-US" altLang="zh-CN" sz="900">
                <a:solidFill>
                  <a:srgbClr val="D4D4D4"/>
                </a:solidFill>
              </a:rPr>
              <a:t> David </a:t>
            </a:r>
            <a:r>
              <a:rPr lang="zh-CN" altLang="en-US" sz="900">
                <a:solidFill>
                  <a:srgbClr val="D4D4D4"/>
                </a:solidFill>
              </a:rPr>
              <a:t>不在周三任何时段</a:t>
            </a:r>
            <a:endParaRPr lang="zh-CN" altLang="en-US" sz="9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900">
                <a:solidFill>
                  <a:srgbClr val="D4D4D4"/>
                </a:solidFill>
              </a:rPr>
              <a:t>  7. Carol </a:t>
            </a:r>
            <a:r>
              <a:rPr lang="zh-CN" altLang="en-US" sz="900">
                <a:solidFill>
                  <a:srgbClr val="D4D4D4"/>
                </a:solidFill>
              </a:rPr>
              <a:t>只上午</a:t>
            </a:r>
            <a:r>
              <a:rPr lang="en-US" altLang="zh-CN" sz="900">
                <a:solidFill>
                  <a:srgbClr val="D4D4D4"/>
                </a:solidFill>
              </a:rPr>
              <a:t> — </a:t>
            </a:r>
            <a:r>
              <a:rPr lang="en-US" altLang="en-US" sz="900">
                <a:solidFill>
                  <a:srgbClr val="D4D4D4"/>
                </a:solidFill>
              </a:rPr>
              <a:t>✓</a:t>
            </a:r>
            <a:r>
              <a:rPr lang="en-US" altLang="zh-CN" sz="900">
                <a:solidFill>
                  <a:srgbClr val="D4D4D4"/>
                </a:solidFill>
              </a:rPr>
              <a:t> Carol </a:t>
            </a:r>
            <a:r>
              <a:rPr lang="zh-CN" altLang="en-US" sz="900">
                <a:solidFill>
                  <a:srgbClr val="D4D4D4"/>
                </a:solidFill>
              </a:rPr>
              <a:t>全部在上午时段</a:t>
            </a:r>
            <a:r>
              <a:rPr lang="en-US" altLang="zh-CN" sz="900">
                <a:solidFill>
                  <a:srgbClr val="D4D4D4"/>
                </a:solidFill>
              </a:rPr>
              <a:t> (</a:t>
            </a:r>
            <a:r>
              <a:rPr lang="zh-CN" altLang="en-US" sz="900">
                <a:solidFill>
                  <a:srgbClr val="D4D4D4"/>
                </a:solidFill>
              </a:rPr>
              <a:t>周一、周三、周四、周五上午</a:t>
            </a:r>
            <a:r>
              <a:rPr lang="en-US" altLang="zh-CN" sz="900">
                <a:solidFill>
                  <a:srgbClr val="D4D4D4"/>
                </a:solidFill>
              </a:rPr>
              <a:t>)</a:t>
            </a:r>
            <a:endParaRPr lang="en-US" altLang="zh-CN" sz="900">
              <a:solidFill>
                <a:srgbClr val="D4D4D4"/>
              </a:solidFill>
            </a:endParaRPr>
          </a:p>
        </p:txBody>
      </p:sp>
      <p:sp>
        <p:nvSpPr>
          <p:cNvPr id="20" name="Text 0"/>
          <p:cNvSpPr/>
          <p:nvPr/>
        </p:nvSpPr>
        <p:spPr>
          <a:xfrm>
            <a:off x="6443980" y="3291840"/>
            <a:ext cx="2034540" cy="619760"/>
          </a:xfrm>
          <a:prstGeom prst="roundRect">
            <a:avLst>
              <a:gd name="adj" fmla="val 30012"/>
            </a:avLst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516370" y="3435985"/>
            <a:ext cx="1915160" cy="38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zh-CN" sz="1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Claude Opus 4.5</a:t>
            </a:r>
            <a:endParaRPr lang="en-US" altLang="zh-CN" sz="1600" b="1" dirty="0">
              <a:solidFill>
                <a:schemeClr val="bg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</p:txBody>
      </p:sp>
      <p:sp>
        <p:nvSpPr>
          <p:cNvPr id="5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2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排一个满足所有约束的课表</a:t>
            </a:r>
            <a:endParaRPr lang="en-US" sz="1800" dirty="0"/>
          </a:p>
        </p:txBody>
      </p:sp>
      <p:pic>
        <p:nvPicPr>
          <p:cNvPr id="15" name="图片 14" descr="3abbf33c-82b2-40f6-a154-17e804b9678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8930" y="2129155"/>
            <a:ext cx="1565275" cy="8845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4537"/>
            <a:ext cx="914400" cy="272951"/>
          </a:xfrm>
          <a:prstGeom prst="roundRect">
            <a:avLst>
              <a:gd name="adj" fmla="val 27917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5288"/>
            <a:ext cx="62179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98550" y="304800"/>
            <a:ext cx="2099155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做一个课程报名页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9260" y="1207720"/>
            <a:ext cx="8229600" cy="909340"/>
          </a:xfrm>
          <a:prstGeom prst="roundRect">
            <a:avLst>
              <a:gd name="adj" fmla="val 1396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3161" y="1410871"/>
            <a:ext cx="7876234" cy="5030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用HTML+CSS+JS做一个课程报名页：顶部强钩子标题，中间3个课程亮点带图标，讲师介绍区域，报名表单（姓名/手机/公司/职位），主色#23877B，适配手机端。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260" y="2294761"/>
            <a:ext cx="839419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四个评判角度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429260" y="2688411"/>
            <a:ext cx="1962150" cy="695176"/>
          </a:xfrm>
          <a:prstGeom prst="roundRect">
            <a:avLst>
              <a:gd name="adj" fmla="val 14615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539128" y="2815362"/>
            <a:ext cx="174241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视觉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39128" y="3075662"/>
            <a:ext cx="174241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好不好看</a:t>
            </a:r>
            <a:endParaRPr lang="en-US" sz="10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2518360" y="2688411"/>
            <a:ext cx="1962299" cy="695176"/>
          </a:xfrm>
          <a:prstGeom prst="roundRect">
            <a:avLst>
              <a:gd name="adj" fmla="val 14615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2628227" y="2815362"/>
            <a:ext cx="174256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功能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2628227" y="3075662"/>
            <a:ext cx="174256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能不能用</a:t>
            </a:r>
            <a:endParaRPr lang="en-US" sz="10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4607610" y="2688411"/>
            <a:ext cx="1962150" cy="695176"/>
          </a:xfrm>
          <a:prstGeom prst="roundRect">
            <a:avLst>
              <a:gd name="adj" fmla="val 14615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4717478" y="2815362"/>
            <a:ext cx="174241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响应式</a:t>
            </a:r>
            <a:endParaRPr lang="en-US" sz="12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4717478" y="3075662"/>
            <a:ext cx="174241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手机能看</a:t>
            </a:r>
            <a:endParaRPr lang="en-US" sz="10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696710" y="2688411"/>
            <a:ext cx="1962150" cy="695176"/>
          </a:xfrm>
          <a:prstGeom prst="roundRect">
            <a:avLst>
              <a:gd name="adj" fmla="val 14615"/>
            </a:avLst>
          </a:prstGeom>
          <a:solidFill>
            <a:srgbClr val="EFF6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806578" y="2815362"/>
            <a:ext cx="174241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代码</a:t>
            </a:r>
            <a:endParaRPr lang="en-US" sz="12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806578" y="3075662"/>
            <a:ext cx="174241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质量如何</a:t>
            </a:r>
            <a:endParaRPr lang="en-US" sz="1000" dirty="0"/>
          </a:p>
        </p:txBody>
      </p:sp>
      <p:pic>
        <p:nvPicPr>
          <p:cNvPr id="20" name="Image 0" descr="/tmp/pptx_workspace/images/icon_code_te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149" y="4495949"/>
            <a:ext cx="406301" cy="40630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42</a:t>
            </a:r>
            <a:endParaRPr lang="en-US" sz="800"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3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243965" y="254000"/>
            <a:ext cx="4110355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做一个课程报名页</a:t>
            </a:r>
            <a:endParaRPr lang="en-US" sz="1800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189990" y="1243330"/>
            <a:ext cx="826770" cy="715010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4718685" y="2503170"/>
            <a:ext cx="1490345" cy="55943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rcRect t="18492" b="18492"/>
          <a:stretch>
            <a:fillRect/>
          </a:stretch>
        </p:blipFill>
        <p:spPr>
          <a:xfrm>
            <a:off x="4787900" y="1275715"/>
            <a:ext cx="1490345" cy="520065"/>
          </a:xfrm>
          <a:prstGeom prst="rect">
            <a:avLst/>
          </a:prstGeom>
        </p:spPr>
      </p:pic>
      <p:pic>
        <p:nvPicPr>
          <p:cNvPr id="12" name="图片 11" descr="a2cd0c0c-9919-48fc-9ac9-c92965dbd647"/>
          <p:cNvPicPr>
            <a:picLocks noChangeAspect="1"/>
          </p:cNvPicPr>
          <p:nvPr/>
        </p:nvPicPr>
        <p:blipFill>
          <a:blip r:embed="rId4"/>
          <a:srcRect l="11737" t="25728" r="8930" b="27605"/>
          <a:stretch>
            <a:fillRect/>
          </a:stretch>
        </p:blipFill>
        <p:spPr>
          <a:xfrm>
            <a:off x="899795" y="2660015"/>
            <a:ext cx="1333500" cy="52260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5"/>
          <a:srcRect l="10598" t="31005" r="10579" b="26624"/>
          <a:stretch>
            <a:fillRect/>
          </a:stretch>
        </p:blipFill>
        <p:spPr>
          <a:xfrm>
            <a:off x="899795" y="3796030"/>
            <a:ext cx="1386840" cy="659765"/>
          </a:xfrm>
          <a:prstGeom prst="rect">
            <a:avLst/>
          </a:prstGeom>
        </p:spPr>
      </p:pic>
      <p:pic>
        <p:nvPicPr>
          <p:cNvPr id="3" name="图片 2" descr="3abbf33c-82b2-40f6-a154-17e804b9678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755" y="3683635"/>
            <a:ext cx="1565275" cy="8845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4537"/>
            <a:ext cx="914400" cy="272951"/>
          </a:xfrm>
          <a:prstGeom prst="roundRect">
            <a:avLst>
              <a:gd name="adj" fmla="val 27917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5288"/>
            <a:ext cx="62179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98550" y="304800"/>
            <a:ext cx="367337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看一张运营看板，说出关键结论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0375"/>
            <a:ext cx="4013150" cy="4283125"/>
          </a:xfrm>
          <a:prstGeom prst="roundRect">
            <a:avLst>
              <a:gd name="adj" fmla="val 3165"/>
            </a:avLst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97422" y="2897088"/>
            <a:ext cx="951360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运营看板截图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73600" y="860425"/>
            <a:ext cx="4013200" cy="2669540"/>
          </a:xfrm>
          <a:prstGeom prst="roundRect">
            <a:avLst>
              <a:gd name="adj" fmla="val 6358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437" y="3729891"/>
            <a:ext cx="357560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任务要求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3895" y="4015740"/>
            <a:ext cx="3527425" cy="1081405"/>
          </a:xfrm>
          <a:prstGeom prst="rect">
            <a:avLst/>
          </a:prstGeom>
          <a:noFill/>
        </p:spPr>
        <p:txBody>
          <a:bodyPr wrap="square" lIns="114300" tIns="0" rIns="0" bIns="0" rtlCol="0" anchor="t"/>
          <a:lstStyle/>
          <a:p>
            <a:pPr algn="l">
              <a:lnSpc>
                <a:spcPts val="2420"/>
              </a:lnSpc>
              <a:buSzPct val="100000"/>
            </a:pPr>
            <a:r>
              <a:rPr lang="zh-CN" alt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根据目前的销售运营看板</a:t>
            </a:r>
            <a:endParaRPr lang="en-US" sz="1000" dirty="0">
              <a:solidFill>
                <a:srgbClr val="37415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  <a:p>
            <a:pPr marL="114300" indent="-114300" algn="l">
              <a:lnSpc>
                <a:spcPts val="242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给出3个关键结论、指出1个潜在风险、提出1个建议动作</a:t>
            </a:r>
            <a:endParaRPr lang="en-US" sz="1000" dirty="0"/>
          </a:p>
          <a:p>
            <a:pPr marL="114300" indent="-114300" algn="l">
              <a:lnSpc>
                <a:spcPts val="242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基于数据，不要泛泛而谈</a:t>
            </a:r>
            <a:endParaRPr lang="en-US" sz="1000" dirty="0">
              <a:solidFill>
                <a:srgbClr val="374151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pic>
        <p:nvPicPr>
          <p:cNvPr id="10" name="Image 0" descr="/tmp/pptx_workspace/images/icon_scan_eye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149" y="4495949"/>
            <a:ext cx="406301" cy="406301"/>
          </a:xfrm>
          <a:prstGeom prst="rect">
            <a:avLst/>
          </a:prstGeom>
        </p:spPr>
      </p:pic>
      <p:pic>
        <p:nvPicPr>
          <p:cNvPr id="12" name="图片 11" descr="c8b181a8-c976-4f69-b2dd-f0aa64e5e6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987425"/>
            <a:ext cx="3527425" cy="260858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5292090" y="3939540"/>
            <a:ext cx="2961640" cy="829310"/>
          </a:xfrm>
          <a:prstGeom prst="rect">
            <a:avLst/>
          </a:prstGeom>
          <a:noFill/>
        </p:spPr>
        <p:txBody>
          <a:bodyPr wrap="square" lIns="0" tIns="0" rIns="0" bIns="0" rtlCol="0" anchor="t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sz="1200" b="1" dirty="0">
                <a:ln/>
                <a:solidFill>
                  <a:srgbClr val="C00000"/>
                </a:solidFill>
                <a:effectLst/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我们这里只测试模型的思维</a:t>
            </a:r>
            <a:r>
              <a:rPr lang="en-US" altLang="zh-CN" sz="1200" b="1" dirty="0">
                <a:ln/>
                <a:solidFill>
                  <a:srgbClr val="C00000"/>
                </a:solidFill>
                <a:effectLst/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，</a:t>
            </a:r>
            <a:r>
              <a:rPr lang="zh-CN" altLang="en-US" sz="1200" b="1" dirty="0">
                <a:ln/>
                <a:solidFill>
                  <a:srgbClr val="C00000"/>
                </a:solidFill>
                <a:effectLst/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并不是测试模型的视觉能力</a:t>
            </a:r>
            <a:endParaRPr lang="zh-CN" altLang="en-US" sz="1200" b="1" dirty="0">
              <a:ln/>
              <a:solidFill>
                <a:srgbClr val="C00000"/>
              </a:solidFill>
              <a:effectLst/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075555" y="1203960"/>
            <a:ext cx="280987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评判标准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4925060" y="1779905"/>
            <a:ext cx="3667760" cy="1219200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数据引用准确性</a:t>
            </a:r>
            <a:endParaRPr lang="zh-CN" alt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洞察深度：是否做了对比</a:t>
            </a:r>
            <a:r>
              <a:rPr lang="en-US" altLang="zh-CN" sz="1200" dirty="0"/>
              <a:t>/</a:t>
            </a:r>
            <a:r>
              <a:rPr lang="zh-CN" altLang="en-US" sz="1200" dirty="0"/>
              <a:t>归因（环比、目标差距、团队差异）</a:t>
            </a:r>
            <a:endParaRPr lang="zh-CN" alt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风险识别合理性：风险是否有数据支撑和因果推理</a:t>
            </a:r>
            <a:endParaRPr lang="zh-CN" alt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建议可执行性</a:t>
            </a:r>
            <a:endParaRPr lang="zh-CN" altLang="en-US" sz="1200" dirty="0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37160" y="828675"/>
            <a:ext cx="8871585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51460" y="987425"/>
            <a:ext cx="4206240" cy="374078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基于销售运营看板数据，分析如下：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📊</a:t>
            </a:r>
            <a:r>
              <a:rPr lang="en-US" altLang="zh-CN" sz="800">
                <a:solidFill>
                  <a:srgbClr val="D4D4D4"/>
                </a:solidFill>
              </a:rPr>
              <a:t> 3</a:t>
            </a:r>
            <a:r>
              <a:rPr lang="zh-CN" altLang="en-US" sz="800">
                <a:solidFill>
                  <a:srgbClr val="D4D4D4"/>
                </a:solidFill>
              </a:rPr>
              <a:t>个关键结论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**1. </a:t>
            </a:r>
            <a:r>
              <a:rPr lang="zh-CN" altLang="en-US" sz="800">
                <a:solidFill>
                  <a:srgbClr val="D4D4D4"/>
                </a:solidFill>
              </a:rPr>
              <a:t>季度营收目标</a:t>
            </a:r>
            <a:r>
              <a:rPr lang="en-US" altLang="zh-CN" sz="800">
                <a:solidFill>
                  <a:srgbClr val="D4D4D4"/>
                </a:solidFill>
              </a:rPr>
              <a:t>94.9%</a:t>
            </a:r>
            <a:r>
              <a:rPr lang="zh-CN" altLang="en-US" sz="800">
                <a:solidFill>
                  <a:srgbClr val="D4D4D4"/>
                </a:solidFill>
              </a:rPr>
              <a:t>达成，差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153</a:t>
            </a:r>
            <a:r>
              <a:rPr lang="zh-CN" altLang="en-US" sz="800">
                <a:solidFill>
                  <a:srgbClr val="D4D4D4"/>
                </a:solidFill>
              </a:rPr>
              <a:t>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当前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2,847</a:t>
            </a:r>
            <a:r>
              <a:rPr lang="zh-CN" altLang="en-US" sz="800">
                <a:solidFill>
                  <a:srgbClr val="D4D4D4"/>
                </a:solidFill>
              </a:rPr>
              <a:t>万</a:t>
            </a:r>
            <a:r>
              <a:rPr lang="en-US" altLang="zh-CN" sz="800">
                <a:solidFill>
                  <a:srgbClr val="D4D4D4"/>
                </a:solidFill>
              </a:rPr>
              <a:t> vs 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3,000</a:t>
            </a:r>
            <a:r>
              <a:rPr lang="zh-CN" altLang="en-US" sz="800">
                <a:solidFill>
                  <a:srgbClr val="D4D4D4"/>
                </a:solidFill>
              </a:rPr>
              <a:t>万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同比增长</a:t>
            </a:r>
            <a:r>
              <a:rPr lang="en-US" altLang="zh-CN" sz="800">
                <a:solidFill>
                  <a:srgbClr val="D4D4D4"/>
                </a:solidFill>
              </a:rPr>
              <a:t>18.3%</a:t>
            </a:r>
            <a:r>
              <a:rPr lang="zh-CN" altLang="en-US" sz="800">
                <a:solidFill>
                  <a:srgbClr val="D4D4D4"/>
                </a:solidFill>
              </a:rPr>
              <a:t>、环比</a:t>
            </a:r>
            <a:r>
              <a:rPr lang="en-US" altLang="zh-CN" sz="800">
                <a:solidFill>
                  <a:srgbClr val="D4D4D4"/>
                </a:solidFill>
              </a:rPr>
              <a:t>12</a:t>
            </a:r>
            <a:r>
              <a:rPr lang="zh-CN" altLang="en-US" sz="800">
                <a:solidFill>
                  <a:srgbClr val="D4D4D4"/>
                </a:solidFill>
              </a:rPr>
              <a:t>单增量，增速健康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- 3</a:t>
            </a:r>
            <a:r>
              <a:rPr lang="zh-CN" altLang="en-US" sz="800">
                <a:solidFill>
                  <a:srgbClr val="D4D4D4"/>
                </a:solidFill>
              </a:rPr>
              <a:t>月实际（</a:t>
            </a:r>
            <a:r>
              <a:rPr lang="en-US" altLang="zh-CN" sz="800">
                <a:solidFill>
                  <a:srgbClr val="D4D4D4"/>
                </a:solidFill>
              </a:rPr>
              <a:t>105%</a:t>
            </a:r>
            <a:r>
              <a:rPr lang="zh-CN" altLang="en-US" sz="800">
                <a:solidFill>
                  <a:srgbClr val="D4D4D4"/>
                </a:solidFill>
              </a:rPr>
              <a:t>）已超过月度目标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**2. </a:t>
            </a:r>
            <a:r>
              <a:rPr lang="zh-CN" altLang="en-US" sz="800">
                <a:solidFill>
                  <a:srgbClr val="D4D4D4"/>
                </a:solidFill>
              </a:rPr>
              <a:t>区域业绩严重分化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华东</a:t>
            </a:r>
            <a:r>
              <a:rPr lang="en-US" altLang="zh-CN" sz="800">
                <a:solidFill>
                  <a:srgbClr val="D4D4D4"/>
                </a:solidFill>
              </a:rPr>
              <a:t>108%</a:t>
            </a:r>
            <a:r>
              <a:rPr lang="zh-CN" altLang="en-US" sz="800">
                <a:solidFill>
                  <a:srgbClr val="D4D4D4"/>
                </a:solidFill>
              </a:rPr>
              <a:t>超额完成（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986</a:t>
            </a:r>
            <a:r>
              <a:rPr lang="zh-CN" altLang="en-US" sz="800">
                <a:solidFill>
                  <a:srgbClr val="D4D4D4"/>
                </a:solidFill>
              </a:rPr>
              <a:t>万）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西北仅</a:t>
            </a:r>
            <a:r>
              <a:rPr lang="en-US" altLang="zh-CN" sz="800">
                <a:solidFill>
                  <a:srgbClr val="D4D4D4"/>
                </a:solidFill>
              </a:rPr>
              <a:t>48%</a:t>
            </a:r>
            <a:r>
              <a:rPr lang="zh-CN" altLang="en-US" sz="800">
                <a:solidFill>
                  <a:srgbClr val="D4D4D4"/>
                </a:solidFill>
              </a:rPr>
              <a:t>完成率，缺口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52</a:t>
            </a:r>
            <a:r>
              <a:rPr lang="zh-CN" altLang="en-US" sz="800">
                <a:solidFill>
                  <a:srgbClr val="D4D4D4"/>
                </a:solidFill>
              </a:rPr>
              <a:t>万（最低）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西南</a:t>
            </a:r>
            <a:r>
              <a:rPr lang="en-US" altLang="zh-CN" sz="800">
                <a:solidFill>
                  <a:srgbClr val="D4D4D4"/>
                </a:solidFill>
              </a:rPr>
              <a:t>65%</a:t>
            </a:r>
            <a:r>
              <a:rPr lang="zh-CN" altLang="en-US" sz="800">
                <a:solidFill>
                  <a:srgbClr val="D4D4D4"/>
                </a:solidFill>
              </a:rPr>
              <a:t>完成率（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378</a:t>
            </a:r>
            <a:r>
              <a:rPr lang="zh-CN" altLang="en-US" sz="800">
                <a:solidFill>
                  <a:srgbClr val="D4D4D4"/>
                </a:solidFill>
              </a:rPr>
              <a:t>万）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华东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华南占全公司</a:t>
            </a:r>
            <a:r>
              <a:rPr lang="en-US" altLang="zh-CN" sz="800">
                <a:solidFill>
                  <a:srgbClr val="D4D4D4"/>
                </a:solidFill>
              </a:rPr>
              <a:t>61%</a:t>
            </a:r>
            <a:r>
              <a:rPr lang="zh-CN" altLang="en-US" sz="800">
                <a:solidFill>
                  <a:srgbClr val="D4D4D4"/>
                </a:solidFill>
              </a:rPr>
              <a:t>营收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看一张运营看板，说出关键结论</a:t>
            </a:r>
            <a:endParaRPr lang="en-US" sz="1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347720" y="1275080"/>
            <a:ext cx="5471795" cy="3636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noAutofit/>
          </a:bodyPr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**3.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产品结构健康，客单价提升显著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企业版占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45%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为支柱，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AI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模块营收占比已达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37%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平均客单价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33.1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万，较上季度提升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15.3%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但赢单率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32.4%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较上月下滑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2.1%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，需警惕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⚠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️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个潜在风险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个大单存在延期风险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：浙江大华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280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万（即将签约）、比亚迪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185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万（商务谈判）、宁德时代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156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万（方案确认）均标注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预算审批周期延长，需高层介入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。当前赢单率下滑，若这些大单未能按期签约，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Q1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目标（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3,000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万）将无法达成。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 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✅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个建议动作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立即启动西北区专项帮扶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：西北完成率仅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48%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，且杭州智联网络（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32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万）已进入竞品评估阶段，存在流失风险。建议从华东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/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华南抽调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top sales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协助攻关西安、乌鲁木齐重点客户，同时高层介入杭州智联网络谈判，防止丢单。</a:t>
            </a: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D4D4D4"/>
              </a:solidFill>
              <a:effectLst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7164705" y="67310"/>
            <a:ext cx="1163955" cy="6870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75895" y="828675"/>
            <a:ext cx="883285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85750" y="987425"/>
            <a:ext cx="4206240" cy="420243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基于销售运营看板数据分析，我为您提供以下专业洞察：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📊</a:t>
            </a:r>
            <a:r>
              <a:rPr lang="en-US" altLang="zh-CN" sz="800">
                <a:solidFill>
                  <a:srgbClr val="D4D4D4"/>
                </a:solidFill>
              </a:rPr>
              <a:t> 3</a:t>
            </a:r>
            <a:r>
              <a:rPr lang="zh-CN" altLang="en-US" sz="800">
                <a:solidFill>
                  <a:srgbClr val="D4D4D4"/>
                </a:solidFill>
              </a:rPr>
              <a:t>个关键结论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1. </a:t>
            </a:r>
            <a:r>
              <a:rPr lang="zh-CN" altLang="en-US" sz="800">
                <a:solidFill>
                  <a:srgbClr val="D4D4D4"/>
                </a:solidFill>
              </a:rPr>
              <a:t>营收增长强劲，完成率超预期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季度营收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2,847</a:t>
            </a:r>
            <a:r>
              <a:rPr lang="zh-CN" altLang="en-US" sz="800">
                <a:solidFill>
                  <a:srgbClr val="D4D4D4"/>
                </a:solidFill>
              </a:rPr>
              <a:t>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，完成年度目标</a:t>
            </a:r>
            <a:r>
              <a:rPr lang="en-US" altLang="zh-CN" sz="800">
                <a:solidFill>
                  <a:srgbClr val="D4D4D4"/>
                </a:solidFill>
              </a:rPr>
              <a:t>3,000</a:t>
            </a:r>
            <a:r>
              <a:rPr lang="zh-CN" altLang="en-US" sz="800">
                <a:solidFill>
                  <a:srgbClr val="D4D4D4"/>
                </a:solidFill>
              </a:rPr>
              <a:t>万的</a:t>
            </a:r>
            <a:r>
              <a:rPr lang="en-US" altLang="zh-CN" sz="800">
                <a:solidFill>
                  <a:srgbClr val="D4D4D4"/>
                </a:solidFill>
              </a:rPr>
              <a:t>94.9%</a:t>
            </a:r>
            <a:r>
              <a:rPr lang="zh-CN" altLang="en-US" sz="800">
                <a:solidFill>
                  <a:srgbClr val="D4D4D4"/>
                </a:solidFill>
              </a:rPr>
              <a:t>，</a:t>
            </a:r>
            <a:r>
              <a:rPr lang="en-US" altLang="zh-CN" sz="800">
                <a:solidFill>
                  <a:srgbClr val="D4D4D4"/>
                </a:solidFill>
              </a:rPr>
              <a:t>Q1</a:t>
            </a:r>
            <a:r>
              <a:rPr lang="zh-CN" altLang="en-US" sz="800">
                <a:solidFill>
                  <a:srgbClr val="D4D4D4"/>
                </a:solidFill>
              </a:rPr>
              <a:t>仅剩几天即可超额完成；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同比增长</a:t>
            </a:r>
            <a:r>
              <a:rPr lang="en-US" altLang="zh-CN" sz="800">
                <a:solidFill>
                  <a:srgbClr val="D4D4D4"/>
                </a:solidFill>
              </a:rPr>
              <a:t>18.3%**</a:t>
            </a:r>
            <a:r>
              <a:rPr lang="zh-CN" altLang="en-US" sz="800">
                <a:solidFill>
                  <a:srgbClr val="D4D4D4"/>
                </a:solidFill>
              </a:rPr>
              <a:t>，增速显著高于行业平均水平；</a:t>
            </a:r>
            <a:r>
              <a:rPr lang="en-US" altLang="zh-CN" sz="800">
                <a:solidFill>
                  <a:srgbClr val="D4D4D4"/>
                </a:solidFill>
              </a:rPr>
              <a:t> **</a:t>
            </a:r>
            <a:r>
              <a:rPr lang="zh-CN" altLang="en-US" sz="800">
                <a:solidFill>
                  <a:srgbClr val="D4D4D4"/>
                </a:solidFill>
              </a:rPr>
              <a:t>客单价提升</a:t>
            </a:r>
            <a:r>
              <a:rPr lang="en-US" altLang="zh-CN" sz="800">
                <a:solidFill>
                  <a:srgbClr val="D4D4D4"/>
                </a:solidFill>
              </a:rPr>
              <a:t>15.3%**</a:t>
            </a:r>
            <a:r>
              <a:rPr lang="zh-CN" altLang="en-US" sz="800">
                <a:solidFill>
                  <a:srgbClr val="D4D4D4"/>
                </a:solidFill>
              </a:rPr>
              <a:t>至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33.1</a:t>
            </a:r>
            <a:r>
              <a:rPr lang="zh-CN" altLang="en-US" sz="800">
                <a:solidFill>
                  <a:srgbClr val="D4D4D4"/>
                </a:solidFill>
              </a:rPr>
              <a:t>万，显示产品结构优化和销售能力提升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2. </a:t>
            </a:r>
            <a:r>
              <a:rPr lang="zh-CN" altLang="en-US" sz="800">
                <a:solidFill>
                  <a:srgbClr val="D4D4D4"/>
                </a:solidFill>
              </a:rPr>
              <a:t>区域发展不均衡，头部效应明显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华东战队表现突出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：营收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986</a:t>
            </a:r>
            <a:r>
              <a:rPr lang="zh-CN" altLang="en-US" sz="800">
                <a:solidFill>
                  <a:srgbClr val="D4D4D4"/>
                </a:solidFill>
              </a:rPr>
              <a:t>万，完成率</a:t>
            </a:r>
            <a:r>
              <a:rPr lang="en-US" altLang="zh-CN" sz="800">
                <a:solidFill>
                  <a:srgbClr val="D4D4D4"/>
                </a:solidFill>
              </a:rPr>
              <a:t>108%</a:t>
            </a:r>
            <a:r>
              <a:rPr lang="zh-CN" altLang="en-US" sz="800">
                <a:solidFill>
                  <a:srgbClr val="D4D4D4"/>
                </a:solidFill>
              </a:rPr>
              <a:t>，占总营收</a:t>
            </a:r>
            <a:r>
              <a:rPr lang="en-US" altLang="zh-CN" sz="800">
                <a:solidFill>
                  <a:srgbClr val="D4D4D4"/>
                </a:solidFill>
              </a:rPr>
              <a:t>34.6%</a:t>
            </a:r>
            <a:r>
              <a:rPr lang="zh-CN" altLang="en-US" sz="800">
                <a:solidFill>
                  <a:srgbClr val="D4D4D4"/>
                </a:solidFill>
                <a:ea typeface="宋体" charset="0"/>
              </a:rPr>
              <a:t>；</a:t>
            </a:r>
            <a:r>
              <a:rPr lang="en-US" altLang="zh-CN" sz="800">
                <a:solidFill>
                  <a:srgbClr val="D4D4D4"/>
                </a:solidFill>
              </a:rPr>
              <a:t> **</a:t>
            </a:r>
            <a:r>
              <a:rPr lang="zh-CN" altLang="en-US" sz="800">
                <a:solidFill>
                  <a:srgbClr val="D4D4D4"/>
                </a:solidFill>
              </a:rPr>
              <a:t>西南、西北区域拖后腿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：西南完成率仅</a:t>
            </a:r>
            <a:r>
              <a:rPr lang="en-US" altLang="zh-CN" sz="800">
                <a:solidFill>
                  <a:srgbClr val="D4D4D4"/>
                </a:solidFill>
              </a:rPr>
              <a:t>65%</a:t>
            </a:r>
            <a:r>
              <a:rPr lang="zh-CN" altLang="en-US" sz="800">
                <a:solidFill>
                  <a:srgbClr val="D4D4D4"/>
                </a:solidFill>
              </a:rPr>
              <a:t>，西北仅</a:t>
            </a:r>
            <a:r>
              <a:rPr lang="en-US" altLang="zh-CN" sz="800">
                <a:solidFill>
                  <a:srgbClr val="D4D4D4"/>
                </a:solidFill>
              </a:rPr>
              <a:t>48%</a:t>
            </a:r>
            <a:r>
              <a:rPr lang="zh-CN" altLang="en-US" sz="800">
                <a:solidFill>
                  <a:srgbClr val="D4D4D4"/>
                </a:solidFill>
              </a:rPr>
              <a:t>，两地合计缺口约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400</a:t>
            </a:r>
            <a:r>
              <a:rPr lang="zh-CN" altLang="en-US" sz="800">
                <a:solidFill>
                  <a:srgbClr val="D4D4D4"/>
                </a:solidFill>
              </a:rPr>
              <a:t>万；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南北差距显著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：华东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华南占比</a:t>
            </a:r>
            <a:r>
              <a:rPr lang="en-US" altLang="zh-CN" sz="800">
                <a:solidFill>
                  <a:srgbClr val="D4D4D4"/>
                </a:solidFill>
              </a:rPr>
              <a:t>61.4%</a:t>
            </a:r>
            <a:r>
              <a:rPr lang="zh-CN" altLang="en-US" sz="800">
                <a:solidFill>
                  <a:srgbClr val="D4D4D4"/>
                </a:solidFill>
              </a:rPr>
              <a:t>，而西南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西北仅占</a:t>
            </a:r>
            <a:r>
              <a:rPr lang="en-US" altLang="zh-CN" sz="800">
                <a:solidFill>
                  <a:srgbClr val="D4D4D4"/>
                </a:solidFill>
              </a:rPr>
              <a:t>20.8%</a:t>
            </a:r>
            <a:r>
              <a:rPr lang="zh-CN" altLang="en-US" sz="800">
                <a:solidFill>
                  <a:srgbClr val="D4D4D4"/>
                </a:solidFill>
              </a:rPr>
              <a:t>达成。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### 3. Pipeline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质量有待提升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**Pipeline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总额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5,621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，但预计成交仅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1,987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万，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转化率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35.3%**</a:t>
            </a:r>
            <a:r>
              <a:rPr lang="zh-CN" altLang="en-US" sz="800">
                <a:solidFill>
                  <a:srgbClr val="D4D4D4"/>
                </a:solidFill>
                <a:ea typeface="宋体" charset="0"/>
                <a:sym typeface="+mn-ea"/>
              </a:rPr>
              <a:t>；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赢单率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32.4%**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虽高于行业均值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25%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，但环比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下降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2.1%**</a:t>
            </a:r>
            <a:r>
              <a:rPr lang="zh-CN" altLang="en-US" sz="800">
                <a:solidFill>
                  <a:srgbClr val="D4D4D4"/>
                </a:solidFill>
                <a:ea typeface="宋体" charset="0"/>
                <a:sym typeface="+mn-ea"/>
              </a:rPr>
              <a:t>；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新增合同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86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单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，距离目标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98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单还差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12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单</a:t>
            </a:r>
            <a:endParaRPr lang="zh-CN" altLang="en-US" sz="800">
              <a:solidFill>
                <a:srgbClr val="D4D4D4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7236460" y="182880"/>
            <a:ext cx="892175" cy="444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看一张运营看板，说出关键结论</a:t>
            </a:r>
            <a:endParaRPr lang="en-US" sz="1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65675" y="987425"/>
            <a:ext cx="3992245" cy="3766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noAutofit/>
          </a:bodyPr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⚠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️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个潜在风险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###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区域业绩分化加剧，增长可持续性存疑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西南战队营收下滑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8%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，西北战队仅完成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48%**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，两大区域合计缺口约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400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万。如果这种分化趋势持续，将严重影响公司整体增长目标的实现。特别是考虑到：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西南区域连续两个季度负增长、西北区域基数小但增长乏力、过度依赖华东单区域增长风险集中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🎯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个建议动作：立即启动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区域振兴计划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，重点扶持西南西北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具体措施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1.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资源倾斜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：将华东区域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20%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的销售资源（经验丰富的销售经理、技术支持）调配至西南、西北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2.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产品本地化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：针对西南西北市场特点，推出更适合当地企业的产品包和价格策略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3.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渠道建设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：在两地各新增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2-3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家核心代理商，建立本地化服务网络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4.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时间目标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Q2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结束前，西南区域完成率提升至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85%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，西北提升至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75%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预期效果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：通过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个月的集中投入，预计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Q2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两地合计可新增营收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300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万，全年弥补缺口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400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万，确保整体增长目标</a:t>
            </a:r>
            <a:endParaRPr kumimoji="0" lang="zh-CN" altLang="en-US" sz="800" b="0" i="0" u="none" strike="noStrike" cap="none" spc="0" normalizeH="0" baseline="0">
              <a:ln>
                <a:noFill/>
              </a:ln>
              <a:solidFill>
                <a:srgbClr val="D4D4D4"/>
              </a:solidFill>
              <a:effectLst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75895" y="828675"/>
            <a:ext cx="883285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32385" y="915670"/>
            <a:ext cx="4728845" cy="443293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📊</a:t>
            </a:r>
            <a:r>
              <a:rPr lang="en-US" altLang="zh-CN" sz="800">
                <a:solidFill>
                  <a:srgbClr val="D4D4D4"/>
                </a:solidFill>
              </a:rPr>
              <a:t> 3</a:t>
            </a:r>
            <a:r>
              <a:rPr lang="zh-CN" altLang="en-US" sz="800">
                <a:solidFill>
                  <a:srgbClr val="D4D4D4"/>
                </a:solidFill>
              </a:rPr>
              <a:t>个关键结论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1. **</a:t>
            </a:r>
            <a:r>
              <a:rPr lang="zh-CN" altLang="en-US" sz="800">
                <a:solidFill>
                  <a:srgbClr val="D4D4D4"/>
                </a:solidFill>
              </a:rPr>
              <a:t>季度营收接近目标但新增合同滞后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营收表现优异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：季度营收</a:t>
            </a:r>
            <a:r>
              <a:rPr lang="en-US" altLang="zh-CN" sz="800">
                <a:solidFill>
                  <a:srgbClr val="D4D4D4"/>
                </a:solidFill>
              </a:rPr>
              <a:t>2,847</a:t>
            </a:r>
            <a:r>
              <a:rPr lang="zh-CN" altLang="en-US" sz="800">
                <a:solidFill>
                  <a:srgbClr val="D4D4D4"/>
                </a:solidFill>
              </a:rPr>
              <a:t>万，完成季度目标</a:t>
            </a:r>
            <a:r>
              <a:rPr lang="en-US" altLang="zh-CN" sz="800">
                <a:solidFill>
                  <a:srgbClr val="D4D4D4"/>
                </a:solidFill>
              </a:rPr>
              <a:t>3,000</a:t>
            </a:r>
            <a:r>
              <a:rPr lang="zh-CN" altLang="en-US" sz="800">
                <a:solidFill>
                  <a:srgbClr val="D4D4D4"/>
                </a:solidFill>
              </a:rPr>
              <a:t>万的</a:t>
            </a:r>
            <a:r>
              <a:rPr lang="en-US" altLang="zh-CN" sz="800">
                <a:solidFill>
                  <a:srgbClr val="D4D4D4"/>
                </a:solidFill>
              </a:rPr>
              <a:t>94.9%</a:t>
            </a:r>
            <a:r>
              <a:rPr lang="zh-CN" altLang="en-US" sz="800">
                <a:solidFill>
                  <a:srgbClr val="D4D4D4"/>
                </a:solidFill>
              </a:rPr>
              <a:t>，环比增长</a:t>
            </a:r>
            <a:r>
              <a:rPr lang="en-US" altLang="zh-CN" sz="800">
                <a:solidFill>
                  <a:srgbClr val="D4D4D4"/>
                </a:solidFill>
              </a:rPr>
              <a:t>18.3%； **</a:t>
            </a:r>
            <a:r>
              <a:rPr lang="zh-CN" altLang="en-US" sz="800">
                <a:solidFill>
                  <a:srgbClr val="D4D4D4"/>
                </a:solidFill>
              </a:rPr>
              <a:t>合同数量不足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：新增合同</a:t>
            </a:r>
            <a:r>
              <a:rPr lang="en-US" altLang="zh-CN" sz="800">
                <a:solidFill>
                  <a:srgbClr val="D4D4D4"/>
                </a:solidFill>
              </a:rPr>
              <a:t>86</a:t>
            </a:r>
            <a:r>
              <a:rPr lang="zh-CN" altLang="en-US" sz="800">
                <a:solidFill>
                  <a:srgbClr val="D4D4D4"/>
                </a:solidFill>
              </a:rPr>
              <a:t>个，仅完成目标</a:t>
            </a:r>
            <a:r>
              <a:rPr lang="en-US" altLang="zh-CN" sz="800">
                <a:solidFill>
                  <a:srgbClr val="D4D4D4"/>
                </a:solidFill>
              </a:rPr>
              <a:t>98</a:t>
            </a:r>
            <a:r>
              <a:rPr lang="zh-CN" altLang="en-US" sz="800">
                <a:solidFill>
                  <a:srgbClr val="D4D4D4"/>
                </a:solidFill>
              </a:rPr>
              <a:t>个的</a:t>
            </a:r>
            <a:r>
              <a:rPr lang="en-US" altLang="zh-CN" sz="800">
                <a:solidFill>
                  <a:srgbClr val="D4D4D4"/>
                </a:solidFill>
              </a:rPr>
              <a:t>73.5%</a:t>
            </a:r>
            <a:r>
              <a:rPr lang="zh-CN" altLang="en-US" sz="800">
                <a:solidFill>
                  <a:srgbClr val="D4D4D4"/>
                </a:solidFill>
              </a:rPr>
              <a:t>，存在</a:t>
            </a:r>
            <a:r>
              <a:rPr lang="en-US" altLang="zh-CN" sz="800">
                <a:solidFill>
                  <a:srgbClr val="D4D4D4"/>
                </a:solidFill>
              </a:rPr>
              <a:t>22</a:t>
            </a:r>
            <a:r>
              <a:rPr lang="zh-CN" altLang="en-US" sz="800">
                <a:solidFill>
                  <a:srgbClr val="D4D4D4"/>
                </a:solidFill>
              </a:rPr>
              <a:t>个合同的缺口</a:t>
            </a:r>
            <a:r>
              <a:rPr lang="en-US" altLang="zh-CN" sz="800">
                <a:solidFill>
                  <a:srgbClr val="D4D4D4"/>
                </a:solidFill>
              </a:rPr>
              <a:t>； **</a:t>
            </a:r>
            <a:r>
              <a:rPr lang="zh-CN" altLang="en-US" sz="800">
                <a:solidFill>
                  <a:srgbClr val="D4D4D4"/>
                </a:solidFill>
              </a:rPr>
              <a:t>客单价提升显著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：平均客单价</a:t>
            </a:r>
            <a:r>
              <a:rPr lang="en-US" altLang="zh-CN" sz="800">
                <a:solidFill>
                  <a:srgbClr val="D4D4D4"/>
                </a:solidFill>
              </a:rPr>
              <a:t>33.1</a:t>
            </a:r>
            <a:r>
              <a:rPr lang="zh-CN" altLang="en-US" sz="800">
                <a:solidFill>
                  <a:srgbClr val="D4D4D4"/>
                </a:solidFill>
              </a:rPr>
              <a:t>万，环比增长</a:t>
            </a:r>
            <a:r>
              <a:rPr lang="en-US" altLang="zh-CN" sz="800">
                <a:solidFill>
                  <a:srgbClr val="D4D4D4"/>
                </a:solidFill>
              </a:rPr>
              <a:t>15.3%</a:t>
            </a:r>
            <a:r>
              <a:rPr lang="zh-CN" altLang="en-US" sz="800">
                <a:solidFill>
                  <a:srgbClr val="D4D4D4"/>
                </a:solidFill>
              </a:rPr>
              <a:t>，说明大客户策略见效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2. **</a:t>
            </a:r>
            <a:r>
              <a:rPr lang="zh-CN" altLang="en-US" sz="800">
                <a:solidFill>
                  <a:srgbClr val="D4D4D4"/>
                </a:solidFill>
              </a:rPr>
              <a:t>区域业绩分化严重，西南团队表现堪忧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华东战队领跑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：完成</a:t>
            </a:r>
            <a:r>
              <a:rPr lang="en-US" altLang="zh-CN" sz="800">
                <a:solidFill>
                  <a:srgbClr val="D4D4D4"/>
                </a:solidFill>
              </a:rPr>
              <a:t>986</a:t>
            </a:r>
            <a:r>
              <a:rPr lang="zh-CN" altLang="en-US" sz="800">
                <a:solidFill>
                  <a:srgbClr val="D4D4D4"/>
                </a:solidFill>
              </a:rPr>
              <a:t>万业绩，超额完成</a:t>
            </a:r>
            <a:r>
              <a:rPr lang="en-US" altLang="zh-CN" sz="800">
                <a:solidFill>
                  <a:srgbClr val="D4D4D4"/>
                </a:solidFill>
              </a:rPr>
              <a:t>8%</a:t>
            </a:r>
            <a:r>
              <a:rPr lang="zh-CN" altLang="en-US" sz="800">
                <a:solidFill>
                  <a:srgbClr val="D4D4D4"/>
                </a:solidFill>
              </a:rPr>
              <a:t>（</a:t>
            </a:r>
            <a:r>
              <a:rPr lang="en-US" altLang="zh-CN" sz="800">
                <a:solidFill>
                  <a:srgbClr val="D4D4D4"/>
                </a:solidFill>
              </a:rPr>
              <a:t>108%</a:t>
            </a:r>
            <a:r>
              <a:rPr lang="zh-CN" altLang="en-US" sz="800">
                <a:solidFill>
                  <a:srgbClr val="D4D4D4"/>
                </a:solidFill>
              </a:rPr>
              <a:t>完成率），同比增长</a:t>
            </a:r>
            <a:r>
              <a:rPr lang="en-US" altLang="zh-CN" sz="800">
                <a:solidFill>
                  <a:srgbClr val="D4D4D4"/>
                </a:solidFill>
              </a:rPr>
              <a:t>21%； **</a:t>
            </a:r>
            <a:r>
              <a:rPr lang="zh-CN" altLang="en-US" sz="800">
                <a:solidFill>
                  <a:srgbClr val="D4D4D4"/>
                </a:solidFill>
              </a:rPr>
              <a:t>西南团队落后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：仅完成</a:t>
            </a:r>
            <a:r>
              <a:rPr lang="en-US" altLang="zh-CN" sz="800">
                <a:solidFill>
                  <a:srgbClr val="D4D4D4"/>
                </a:solidFill>
              </a:rPr>
              <a:t>378</a:t>
            </a:r>
            <a:r>
              <a:rPr lang="zh-CN" altLang="en-US" sz="800">
                <a:solidFill>
                  <a:srgbClr val="D4D4D4"/>
                </a:solidFill>
              </a:rPr>
              <a:t>万业绩，完成率</a:t>
            </a:r>
            <a:r>
              <a:rPr lang="en-US" altLang="zh-CN" sz="800">
                <a:solidFill>
                  <a:srgbClr val="D4D4D4"/>
                </a:solidFill>
              </a:rPr>
              <a:t>65%</a:t>
            </a:r>
            <a:r>
              <a:rPr lang="zh-CN" altLang="en-US" sz="800">
                <a:solidFill>
                  <a:srgbClr val="D4D4D4"/>
                </a:solidFill>
              </a:rPr>
              <a:t>，同比下降</a:t>
            </a:r>
            <a:r>
              <a:rPr lang="en-US" altLang="zh-CN" sz="800">
                <a:solidFill>
                  <a:srgbClr val="D4D4D4"/>
                </a:solidFill>
              </a:rPr>
              <a:t>8%</a:t>
            </a:r>
            <a:r>
              <a:rPr lang="zh-CN" altLang="en-US" sz="800">
                <a:solidFill>
                  <a:srgbClr val="D4D4D4"/>
                </a:solidFill>
              </a:rPr>
              <a:t>，是唯一负增长区域</a:t>
            </a:r>
            <a:r>
              <a:rPr lang="en-US" altLang="zh-CN" sz="800">
                <a:solidFill>
                  <a:srgbClr val="D4D4D4"/>
                </a:solidFill>
              </a:rPr>
              <a:t>； **</a:t>
            </a:r>
            <a:r>
              <a:rPr lang="zh-CN" altLang="en-US" sz="800">
                <a:solidFill>
                  <a:srgbClr val="D4D4D4"/>
                </a:solidFill>
              </a:rPr>
              <a:t>业绩差距悬殊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：最高（华东</a:t>
            </a:r>
            <a:r>
              <a:rPr lang="en-US" altLang="zh-CN" sz="800">
                <a:solidFill>
                  <a:srgbClr val="D4D4D4"/>
                </a:solidFill>
              </a:rPr>
              <a:t>986</a:t>
            </a:r>
            <a:r>
              <a:rPr lang="zh-CN" altLang="en-US" sz="800">
                <a:solidFill>
                  <a:srgbClr val="D4D4D4"/>
                </a:solidFill>
              </a:rPr>
              <a:t>万）与最低（西南</a:t>
            </a:r>
            <a:r>
              <a:rPr lang="en-US" altLang="zh-CN" sz="800">
                <a:solidFill>
                  <a:srgbClr val="D4D4D4"/>
                </a:solidFill>
              </a:rPr>
              <a:t>378</a:t>
            </a:r>
            <a:r>
              <a:rPr lang="zh-CN" altLang="en-US" sz="800">
                <a:solidFill>
                  <a:srgbClr val="D4D4D4"/>
                </a:solidFill>
              </a:rPr>
              <a:t>万）相差</a:t>
            </a:r>
            <a:r>
              <a:rPr lang="en-US" altLang="zh-CN" sz="800">
                <a:solidFill>
                  <a:srgbClr val="D4D4D4"/>
                </a:solidFill>
              </a:rPr>
              <a:t>608</a:t>
            </a:r>
            <a:r>
              <a:rPr lang="zh-CN" altLang="en-US" sz="800">
                <a:solidFill>
                  <a:srgbClr val="D4D4D4"/>
                </a:solidFill>
              </a:rPr>
              <a:t>万，区域发展不平衡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3. **</a:t>
            </a:r>
            <a:r>
              <a:rPr lang="zh-CN" altLang="en-US" sz="800">
                <a:solidFill>
                  <a:srgbClr val="D4D4D4"/>
                </a:solidFill>
              </a:rPr>
              <a:t>销售漏斗转化效率有待提升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线索数量充足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2,847</a:t>
            </a:r>
            <a:r>
              <a:rPr lang="zh-CN" altLang="en-US" sz="800">
                <a:solidFill>
                  <a:srgbClr val="D4D4D4"/>
                </a:solidFill>
              </a:rPr>
              <a:t>个线索进入漏斗</a:t>
            </a:r>
            <a:r>
              <a:rPr lang="en-US" altLang="zh-CN" sz="800">
                <a:solidFill>
                  <a:srgbClr val="D4D4D4"/>
                </a:solidFill>
              </a:rPr>
              <a:t>； **</a:t>
            </a:r>
            <a:r>
              <a:rPr lang="zh-CN" altLang="en-US" sz="800">
                <a:solidFill>
                  <a:srgbClr val="D4D4D4"/>
                </a:solidFill>
              </a:rPr>
              <a:t>转化率偏低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：整体转化率仅</a:t>
            </a:r>
            <a:r>
              <a:rPr lang="en-US" altLang="zh-CN" sz="800">
                <a:solidFill>
                  <a:srgbClr val="D4D4D4"/>
                </a:solidFill>
              </a:rPr>
              <a:t>3.0%</a:t>
            </a:r>
            <a:r>
              <a:rPr lang="zh-CN" altLang="en-US" sz="800">
                <a:solidFill>
                  <a:srgbClr val="D4D4D4"/>
                </a:solidFill>
              </a:rPr>
              <a:t>，从线索到成交的转化链条存在效率问题</a:t>
            </a:r>
            <a:r>
              <a:rPr lang="en-US" altLang="zh-CN" sz="800">
                <a:solidFill>
                  <a:srgbClr val="D4D4D4"/>
                </a:solidFill>
              </a:rPr>
              <a:t>； **</a:t>
            </a:r>
            <a:r>
              <a:rPr lang="zh-CN" altLang="en-US" sz="800">
                <a:solidFill>
                  <a:srgbClr val="D4D4D4"/>
                </a:solidFill>
              </a:rPr>
              <a:t>谈判阶段流失严重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：从谈判阶段</a:t>
            </a:r>
            <a:r>
              <a:rPr lang="en-US" altLang="zh-CN" sz="800">
                <a:solidFill>
                  <a:srgbClr val="D4D4D4"/>
                </a:solidFill>
              </a:rPr>
              <a:t>(156)</a:t>
            </a:r>
            <a:r>
              <a:rPr lang="zh-CN" altLang="en-US" sz="800">
                <a:solidFill>
                  <a:srgbClr val="D4D4D4"/>
                </a:solidFill>
              </a:rPr>
              <a:t>到成交</a:t>
            </a:r>
            <a:r>
              <a:rPr lang="en-US" altLang="zh-CN" sz="800">
                <a:solidFill>
                  <a:srgbClr val="D4D4D4"/>
                </a:solidFill>
              </a:rPr>
              <a:t>(86)</a:t>
            </a:r>
            <a:r>
              <a:rPr lang="zh-CN" altLang="en-US" sz="800">
                <a:solidFill>
                  <a:srgbClr val="D4D4D4"/>
                </a:solidFill>
              </a:rPr>
              <a:t>流失</a:t>
            </a:r>
            <a:r>
              <a:rPr lang="en-US" altLang="zh-CN" sz="800">
                <a:solidFill>
                  <a:srgbClr val="D4D4D4"/>
                </a:solidFill>
              </a:rPr>
              <a:t>45%</a:t>
            </a:r>
            <a:r>
              <a:rPr lang="zh-CN" altLang="en-US" sz="800">
                <a:solidFill>
                  <a:srgbClr val="D4D4D4"/>
                </a:solidFill>
              </a:rPr>
              <a:t>，说明商务谈判能力需要加强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看一张运营看板，说出关键结论</a:t>
            </a:r>
            <a:endParaRPr lang="en-US" sz="1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572000" y="1059815"/>
            <a:ext cx="4378325" cy="3636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noAutofit/>
          </a:bodyPr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⚠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️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个潜在风险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###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客户流失风险集中爆发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**3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家重要客户面临流失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：总金额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105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万（腾云科技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万、智联网络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32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万、华创数据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28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最长无响应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天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：深圳市腾云科技续费沟通无响应已达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天，流失风险极高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竞品威胁加剧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：杭州智联网络正在评估竞品方案，存在被挖角风险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预算削减影响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：北京华创数据预算削减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50%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，可能无法维持现有合作规模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🎯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个建议动作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###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立即启动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客户挽留专项计划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1.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高层介入重点客户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：安排销售总监级别人物亲自拜访腾云科技，解决续费障碍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，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为面临预算削减的华创数据提供阶梯价格方案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2.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竞品防御策略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：针对智联网络制定差异化价值方案，突出与竞品的比较优势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，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提供短期试用延长期或增值服务捆绑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3. 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建立预警机制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：设置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天无响应自动预警，避免类似腾云科技的情况再次发生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，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对西南团队提供专项培训和资源支持，扭转业绩下滑趋势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数据支撑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：当前流失风险客户总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ARR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达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105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万，占季度营收的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3.7%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，及时挽留可避免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Q2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业绩受到重大影响。</a:t>
            </a: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D4D4D4"/>
              </a:solidFill>
              <a:effectLst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/>
          <a:srcRect t="18492" b="18492"/>
          <a:stretch>
            <a:fillRect/>
          </a:stretch>
        </p:blipFill>
        <p:spPr>
          <a:xfrm>
            <a:off x="6779260" y="-12700"/>
            <a:ext cx="1978660" cy="8413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53035" y="828675"/>
            <a:ext cx="885571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17805" y="843280"/>
            <a:ext cx="4460875" cy="466407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</a:t>
            </a:r>
            <a:r>
              <a:rPr lang="zh-CN" altLang="en-US" sz="800">
                <a:solidFill>
                  <a:srgbClr val="D4D4D4"/>
                </a:solidFill>
              </a:rPr>
              <a:t>一、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个关键结论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**</a:t>
            </a:r>
            <a:r>
              <a:rPr lang="zh-CN" altLang="en-US" sz="800">
                <a:solidFill>
                  <a:srgbClr val="D4D4D4"/>
                </a:solidFill>
              </a:rPr>
              <a:t>整体营收表现接近目标且增长显著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Q1</a:t>
            </a:r>
            <a:r>
              <a:rPr lang="zh-CN" altLang="en-US" sz="800">
                <a:solidFill>
                  <a:srgbClr val="D4D4D4"/>
                </a:solidFill>
              </a:rPr>
              <a:t>季度营收达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2,847</a:t>
            </a:r>
            <a:r>
              <a:rPr lang="zh-CN" altLang="en-US" sz="800">
                <a:solidFill>
                  <a:srgbClr val="D4D4D4"/>
                </a:solidFill>
              </a:rPr>
              <a:t>万，完成季度目标（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3,000</a:t>
            </a:r>
            <a:r>
              <a:rPr lang="zh-CN" altLang="en-US" sz="800">
                <a:solidFill>
                  <a:srgbClr val="D4D4D4"/>
                </a:solidFill>
              </a:rPr>
              <a:t>万）的</a:t>
            </a:r>
            <a:r>
              <a:rPr lang="en-US" altLang="zh-CN" sz="800">
                <a:solidFill>
                  <a:srgbClr val="D4D4D4"/>
                </a:solidFill>
              </a:rPr>
              <a:t>94.9%</a:t>
            </a:r>
            <a:r>
              <a:rPr lang="zh-CN" altLang="en-US" sz="800">
                <a:solidFill>
                  <a:srgbClr val="D4D4D4"/>
                </a:solidFill>
              </a:rPr>
              <a:t>，较</a:t>
            </a:r>
            <a:r>
              <a:rPr lang="en-US" altLang="zh-CN" sz="800">
                <a:solidFill>
                  <a:srgbClr val="D4D4D4"/>
                </a:solidFill>
              </a:rPr>
              <a:t>Q4</a:t>
            </a:r>
            <a:r>
              <a:rPr lang="zh-CN" altLang="en-US" sz="800">
                <a:solidFill>
                  <a:srgbClr val="D4D4D4"/>
                </a:solidFill>
              </a:rPr>
              <a:t>环比增长</a:t>
            </a:r>
            <a:r>
              <a:rPr lang="en-US" altLang="zh-CN" sz="800">
                <a:solidFill>
                  <a:srgbClr val="D4D4D4"/>
                </a:solidFill>
              </a:rPr>
              <a:t>18.3%</a:t>
            </a:r>
            <a:r>
              <a:rPr lang="zh-CN" altLang="en-US" sz="800">
                <a:solidFill>
                  <a:srgbClr val="D4D4D4"/>
                </a:solidFill>
              </a:rPr>
              <a:t>；平均客单价提升至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33.1</a:t>
            </a:r>
            <a:r>
              <a:rPr lang="zh-CN" altLang="en-US" sz="800">
                <a:solidFill>
                  <a:srgbClr val="D4D4D4"/>
                </a:solidFill>
              </a:rPr>
              <a:t>万，较上季度（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28.7</a:t>
            </a:r>
            <a:r>
              <a:rPr lang="zh-CN" altLang="en-US" sz="800">
                <a:solidFill>
                  <a:srgbClr val="D4D4D4"/>
                </a:solidFill>
              </a:rPr>
              <a:t>万）增长</a:t>
            </a:r>
            <a:r>
              <a:rPr lang="en-US" altLang="zh-CN" sz="800">
                <a:solidFill>
                  <a:srgbClr val="D4D4D4"/>
                </a:solidFill>
              </a:rPr>
              <a:t>15.3%</a:t>
            </a:r>
            <a:r>
              <a:rPr lang="zh-CN" altLang="en-US" sz="800">
                <a:solidFill>
                  <a:srgbClr val="D4D4D4"/>
                </a:solidFill>
              </a:rPr>
              <a:t>，营收质量与规模同步提升。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**</a:t>
            </a:r>
            <a:r>
              <a:rPr lang="zh-CN" altLang="en-US" sz="800">
                <a:solidFill>
                  <a:srgbClr val="D4D4D4"/>
                </a:solidFill>
              </a:rPr>
              <a:t>区域业绩分化明显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：华东战队表现最优，营收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986</a:t>
            </a:r>
            <a:r>
              <a:rPr lang="zh-CN" altLang="en-US" sz="800">
                <a:solidFill>
                  <a:srgbClr val="D4D4D4"/>
                </a:solidFill>
              </a:rPr>
              <a:t>万，完成率</a:t>
            </a:r>
            <a:r>
              <a:rPr lang="en-US" altLang="zh-CN" sz="800">
                <a:solidFill>
                  <a:srgbClr val="D4D4D4"/>
                </a:solidFill>
              </a:rPr>
              <a:t>108%</a:t>
            </a:r>
            <a:r>
              <a:rPr lang="zh-CN" altLang="en-US" sz="800">
                <a:solidFill>
                  <a:srgbClr val="D4D4D4"/>
                </a:solidFill>
              </a:rPr>
              <a:t>，环比增长</a:t>
            </a:r>
            <a:r>
              <a:rPr lang="en-US" altLang="zh-CN" sz="800">
                <a:solidFill>
                  <a:srgbClr val="D4D4D4"/>
                </a:solidFill>
              </a:rPr>
              <a:t>21%</a:t>
            </a:r>
            <a:r>
              <a:rPr lang="zh-CN" altLang="en-US" sz="800">
                <a:solidFill>
                  <a:srgbClr val="D4D4D4"/>
                </a:solidFill>
              </a:rPr>
              <a:t>；华南战队营收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756</a:t>
            </a:r>
            <a:r>
              <a:rPr lang="zh-CN" altLang="en-US" sz="800">
                <a:solidFill>
                  <a:srgbClr val="D4D4D4"/>
                </a:solidFill>
              </a:rPr>
              <a:t>万，完成率</a:t>
            </a:r>
            <a:r>
              <a:rPr lang="en-US" altLang="zh-CN" sz="800">
                <a:solidFill>
                  <a:srgbClr val="D4D4D4"/>
                </a:solidFill>
              </a:rPr>
              <a:t>92%</a:t>
            </a:r>
            <a:r>
              <a:rPr lang="zh-CN" altLang="en-US" sz="800">
                <a:solidFill>
                  <a:srgbClr val="D4D4D4"/>
                </a:solidFill>
              </a:rPr>
              <a:t>，环比增长</a:t>
            </a:r>
            <a:r>
              <a:rPr lang="en-US" altLang="zh-CN" sz="800">
                <a:solidFill>
                  <a:srgbClr val="D4D4D4"/>
                </a:solidFill>
              </a:rPr>
              <a:t>15%</a:t>
            </a:r>
            <a:r>
              <a:rPr lang="zh-CN" altLang="en-US" sz="800">
                <a:solidFill>
                  <a:srgbClr val="D4D4D4"/>
                </a:solidFill>
              </a:rPr>
              <a:t>；华北（完成率</a:t>
            </a:r>
            <a:r>
              <a:rPr lang="en-US" altLang="zh-CN" sz="800">
                <a:solidFill>
                  <a:srgbClr val="D4D4D4"/>
                </a:solidFill>
              </a:rPr>
              <a:t>78%</a:t>
            </a:r>
            <a:r>
              <a:rPr lang="zh-CN" altLang="en-US" sz="800">
                <a:solidFill>
                  <a:srgbClr val="D4D4D4"/>
                </a:solidFill>
              </a:rPr>
              <a:t>）、西南（完成率</a:t>
            </a:r>
            <a:r>
              <a:rPr lang="en-US" altLang="zh-CN" sz="800">
                <a:solidFill>
                  <a:srgbClr val="D4D4D4"/>
                </a:solidFill>
              </a:rPr>
              <a:t>65%</a:t>
            </a:r>
            <a:r>
              <a:rPr lang="zh-CN" altLang="en-US" sz="800">
                <a:solidFill>
                  <a:srgbClr val="D4D4D4"/>
                </a:solidFill>
              </a:rPr>
              <a:t>）战队未达目标，尤其是西南战队营收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378</a:t>
            </a:r>
            <a:r>
              <a:rPr lang="zh-CN" altLang="en-US" sz="800">
                <a:solidFill>
                  <a:srgbClr val="D4D4D4"/>
                </a:solidFill>
              </a:rPr>
              <a:t>万，环比下降</a:t>
            </a:r>
            <a:r>
              <a:rPr lang="en-US" altLang="zh-CN" sz="800">
                <a:solidFill>
                  <a:srgbClr val="D4D4D4"/>
                </a:solidFill>
              </a:rPr>
              <a:t>8%</a:t>
            </a:r>
            <a:r>
              <a:rPr lang="zh-CN" altLang="en-US" sz="800">
                <a:solidFill>
                  <a:srgbClr val="D4D4D4"/>
                </a:solidFill>
              </a:rPr>
              <a:t>，拖慢整体区域进度。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**</a:t>
            </a:r>
            <a:r>
              <a:rPr lang="zh-CN" altLang="en-US" sz="800">
                <a:solidFill>
                  <a:srgbClr val="D4D4D4"/>
                </a:solidFill>
              </a:rPr>
              <a:t>销售漏斗转化效率偏低但产品线结构稳定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：销售漏斗整体转化率仅</a:t>
            </a:r>
            <a:r>
              <a:rPr lang="en-US" altLang="zh-CN" sz="800">
                <a:solidFill>
                  <a:srgbClr val="D4D4D4"/>
                </a:solidFill>
              </a:rPr>
              <a:t>3.0%</a:t>
            </a:r>
            <a:r>
              <a:rPr lang="zh-CN" altLang="en-US" sz="800">
                <a:solidFill>
                  <a:srgbClr val="D4D4D4"/>
                </a:solidFill>
              </a:rPr>
              <a:t>（线索</a:t>
            </a:r>
            <a:r>
              <a:rPr lang="en-US" altLang="zh-CN" sz="800">
                <a:solidFill>
                  <a:srgbClr val="D4D4D4"/>
                </a:solidFill>
              </a:rPr>
              <a:t>2847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成交</a:t>
            </a:r>
            <a:r>
              <a:rPr lang="en-US" altLang="zh-CN" sz="800">
                <a:solidFill>
                  <a:srgbClr val="D4D4D4"/>
                </a:solidFill>
              </a:rPr>
              <a:t>86</a:t>
            </a:r>
            <a:r>
              <a:rPr lang="zh-CN" altLang="en-US" sz="800">
                <a:solidFill>
                  <a:srgbClr val="D4D4D4"/>
                </a:solidFill>
              </a:rPr>
              <a:t>），但产品线占比中企业版（</a:t>
            </a:r>
            <a:r>
              <a:rPr lang="en-US" altLang="zh-CN" sz="800">
                <a:solidFill>
                  <a:srgbClr val="D4D4D4"/>
                </a:solidFill>
              </a:rPr>
              <a:t>45%</a:t>
            </a:r>
            <a:r>
              <a:rPr lang="zh-CN" altLang="en-US" sz="800">
                <a:solidFill>
                  <a:srgbClr val="D4D4D4"/>
                </a:solidFill>
              </a:rPr>
              <a:t>）、专业版（</a:t>
            </a:r>
            <a:r>
              <a:rPr lang="en-US" altLang="zh-CN" sz="800">
                <a:solidFill>
                  <a:srgbClr val="D4D4D4"/>
                </a:solidFill>
              </a:rPr>
              <a:t>27%</a:t>
            </a:r>
            <a:r>
              <a:rPr lang="zh-CN" altLang="en-US" sz="800">
                <a:solidFill>
                  <a:srgbClr val="D4D4D4"/>
                </a:solidFill>
              </a:rPr>
              <a:t>）合计占</a:t>
            </a:r>
            <a:r>
              <a:rPr lang="en-US" altLang="zh-CN" sz="800">
                <a:solidFill>
                  <a:srgbClr val="D4D4D4"/>
                </a:solidFill>
              </a:rPr>
              <a:t>72%</a:t>
            </a:r>
            <a:r>
              <a:rPr lang="zh-CN" altLang="en-US" sz="800">
                <a:solidFill>
                  <a:srgbClr val="D4D4D4"/>
                </a:solidFill>
              </a:rPr>
              <a:t>，核心产品营收贡献度高，结构相对健康。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</a:t>
            </a:r>
            <a:r>
              <a:rPr lang="zh-CN" altLang="en-US" sz="800">
                <a:solidFill>
                  <a:srgbClr val="D4D4D4"/>
                </a:solidFill>
              </a:rPr>
              <a:t>二、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个潜在风险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客户流失风险可能导致营收缺口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：有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家核心客户存在流失风险，涉及年营收（</a:t>
            </a:r>
            <a:r>
              <a:rPr lang="en-US" altLang="zh-CN" sz="800">
                <a:solidFill>
                  <a:srgbClr val="D4D4D4"/>
                </a:solidFill>
              </a:rPr>
              <a:t>ARR</a:t>
            </a:r>
            <a:r>
              <a:rPr lang="zh-CN" altLang="en-US" sz="800">
                <a:solidFill>
                  <a:srgbClr val="D4D4D4"/>
                </a:solidFill>
              </a:rPr>
              <a:t>）合计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105</a:t>
            </a:r>
            <a:r>
              <a:rPr lang="zh-CN" altLang="en-US" sz="800">
                <a:solidFill>
                  <a:srgbClr val="D4D4D4"/>
                </a:solidFill>
              </a:rPr>
              <a:t>万（腾云科技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45</a:t>
            </a:r>
            <a:r>
              <a:rPr lang="zh-CN" altLang="en-US" sz="800">
                <a:solidFill>
                  <a:srgbClr val="D4D4D4"/>
                </a:solidFill>
              </a:rPr>
              <a:t>万、智联网络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32</a:t>
            </a:r>
            <a:r>
              <a:rPr lang="zh-CN" altLang="en-US" sz="800">
                <a:solidFill>
                  <a:srgbClr val="D4D4D4"/>
                </a:solidFill>
              </a:rPr>
              <a:t>万、华创数据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28</a:t>
            </a:r>
            <a:r>
              <a:rPr lang="zh-CN" altLang="en-US" sz="800">
                <a:solidFill>
                  <a:srgbClr val="D4D4D4"/>
                </a:solidFill>
              </a:rPr>
              <a:t>万）；同时赢单率环比下降</a:t>
            </a:r>
            <a:r>
              <a:rPr lang="en-US" altLang="zh-CN" sz="800">
                <a:solidFill>
                  <a:srgbClr val="D4D4D4"/>
                </a:solidFill>
              </a:rPr>
              <a:t>2.1%</a:t>
            </a:r>
            <a:r>
              <a:rPr lang="zh-CN" altLang="en-US" sz="800">
                <a:solidFill>
                  <a:srgbClr val="D4D4D4"/>
                </a:solidFill>
              </a:rPr>
              <a:t>（当前</a:t>
            </a:r>
            <a:r>
              <a:rPr lang="en-US" altLang="zh-CN" sz="800">
                <a:solidFill>
                  <a:srgbClr val="D4D4D4"/>
                </a:solidFill>
              </a:rPr>
              <a:t>32.4%</a:t>
            </a:r>
            <a:r>
              <a:rPr lang="zh-CN" altLang="en-US" sz="800">
                <a:solidFill>
                  <a:srgbClr val="D4D4D4"/>
                </a:solidFill>
              </a:rPr>
              <a:t>），若流失客户未及时挽回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赢单率持续走低，可能导致</a:t>
            </a:r>
            <a:r>
              <a:rPr lang="en-US" altLang="zh-CN" sz="800">
                <a:solidFill>
                  <a:srgbClr val="D4D4D4"/>
                </a:solidFill>
              </a:rPr>
              <a:t>Q2</a:t>
            </a:r>
            <a:r>
              <a:rPr lang="zh-CN" altLang="en-US" sz="800">
                <a:solidFill>
                  <a:srgbClr val="D4D4D4"/>
                </a:solidFill>
              </a:rPr>
              <a:t>营收目标达成压力增大。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看一张运营看板，说出关键结论</a:t>
            </a:r>
            <a:endParaRPr lang="en-US" sz="1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65675" y="1518920"/>
            <a:ext cx="3992245" cy="3636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noAutofit/>
          </a:bodyPr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###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三、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个建议动作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针对西南战队及流失高风险客户制定专项行动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1.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对西南战队（完成率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65%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、营收环比降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8%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），拆解其未达成目标的核心原因（如线索质量、销售能力、区域资源配置），调拨华东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/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华南战队的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TOP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销售进行驻场支持，聚焦西南区域智能制造、政府机构等高价值行业（合计占营收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70%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）拓展线索；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2.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针对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家流失高风险客户，由华东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/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华南战队的金牌销售联合客户成功团队，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48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小时内启动一对一的客户回访，明确流失核心原因（如竞品替代、预算削减），定制个性化续费方案（如分期付费、增值服务包），优先挽回腾云科技（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ARR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）这一高价值客户。</a:t>
            </a: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D4D4D4"/>
              </a:solidFill>
              <a:effectLst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12" name="图片 11" descr="a2cd0c0c-9919-48fc-9ac9-c92965dbd647"/>
          <p:cNvPicPr>
            <a:picLocks noChangeAspect="1"/>
          </p:cNvPicPr>
          <p:nvPr/>
        </p:nvPicPr>
        <p:blipFill>
          <a:blip r:embed="rId1"/>
          <a:srcRect l="11737" t="25728" r="8930" b="27605"/>
          <a:stretch>
            <a:fillRect/>
          </a:stretch>
        </p:blipFill>
        <p:spPr>
          <a:xfrm>
            <a:off x="6732270" y="-92710"/>
            <a:ext cx="1968500" cy="7715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53035" y="828675"/>
            <a:ext cx="885571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06400" y="987425"/>
            <a:ext cx="4206240" cy="327914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关键结论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营收基本锁定季度目标：</a:t>
            </a:r>
            <a:r>
              <a:rPr lang="en-US" altLang="zh-CN" sz="800">
                <a:solidFill>
                  <a:srgbClr val="D4D4D4"/>
                </a:solidFill>
              </a:rPr>
              <a:t>Q1</a:t>
            </a:r>
            <a:r>
              <a:rPr lang="zh-CN" altLang="en-US" sz="800">
                <a:solidFill>
                  <a:srgbClr val="D4D4D4"/>
                </a:solidFill>
              </a:rPr>
              <a:t>营收达到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2,847</a:t>
            </a:r>
            <a:r>
              <a:rPr lang="zh-CN" altLang="en-US" sz="800">
                <a:solidFill>
                  <a:srgbClr val="D4D4D4"/>
                </a:solidFill>
              </a:rPr>
              <a:t>万，已完成目标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3,000</a:t>
            </a:r>
            <a:r>
              <a:rPr lang="zh-CN" altLang="en-US" sz="800">
                <a:solidFill>
                  <a:srgbClr val="D4D4D4"/>
                </a:solidFill>
              </a:rPr>
              <a:t>万的</a:t>
            </a:r>
            <a:r>
              <a:rPr lang="en-US" altLang="zh-CN" sz="800">
                <a:solidFill>
                  <a:srgbClr val="D4D4D4"/>
                </a:solidFill>
              </a:rPr>
              <a:t> 94.9%</a:t>
            </a:r>
            <a:r>
              <a:rPr lang="zh-CN" altLang="en-US" sz="800">
                <a:solidFill>
                  <a:srgbClr val="D4D4D4"/>
                </a:solidFill>
              </a:rPr>
              <a:t>，且较上季度增长</a:t>
            </a:r>
            <a:r>
              <a:rPr lang="en-US" altLang="zh-CN" sz="800">
                <a:solidFill>
                  <a:srgbClr val="D4D4D4"/>
                </a:solidFill>
              </a:rPr>
              <a:t> 18.3%</a:t>
            </a:r>
            <a:r>
              <a:rPr lang="zh-CN" altLang="en-US" sz="800">
                <a:solidFill>
                  <a:srgbClr val="D4D4D4"/>
                </a:solidFill>
              </a:rPr>
              <a:t>；从月度节奏看，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月实际已超过月目标，说明季度末冲刺有效。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增长质量在提升，主要靠大单拉动：平均客单价升至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33.1</a:t>
            </a:r>
            <a:r>
              <a:rPr lang="zh-CN" altLang="en-US" sz="800">
                <a:solidFill>
                  <a:srgbClr val="D4D4D4"/>
                </a:solidFill>
              </a:rPr>
              <a:t>万，同比上季度提升</a:t>
            </a:r>
            <a:r>
              <a:rPr lang="en-US" altLang="zh-CN" sz="800">
                <a:solidFill>
                  <a:srgbClr val="D4D4D4"/>
                </a:solidFill>
              </a:rPr>
              <a:t> 15.3%</a:t>
            </a:r>
            <a:r>
              <a:rPr lang="zh-CN" altLang="en-US" sz="800">
                <a:solidFill>
                  <a:srgbClr val="D4D4D4"/>
                </a:solidFill>
              </a:rPr>
              <a:t>；同时</a:t>
            </a:r>
            <a:r>
              <a:rPr lang="en-US" altLang="zh-CN" sz="800">
                <a:solidFill>
                  <a:srgbClr val="D4D4D4"/>
                </a:solidFill>
              </a:rPr>
              <a:t> 50</a:t>
            </a:r>
            <a:r>
              <a:rPr lang="zh-CN" altLang="en-US" sz="800">
                <a:solidFill>
                  <a:srgbClr val="D4D4D4"/>
                </a:solidFill>
              </a:rPr>
              <a:t>万以上合同仅</a:t>
            </a:r>
            <a:r>
              <a:rPr lang="en-US" altLang="zh-CN" sz="800">
                <a:solidFill>
                  <a:srgbClr val="D4D4D4"/>
                </a:solidFill>
              </a:rPr>
              <a:t> 21 </a:t>
            </a:r>
            <a:r>
              <a:rPr lang="zh-CN" altLang="en-US" sz="800">
                <a:solidFill>
                  <a:srgbClr val="D4D4D4"/>
                </a:solidFill>
              </a:rPr>
              <a:t>单，占</a:t>
            </a:r>
            <a:r>
              <a:rPr lang="en-US" altLang="zh-CN" sz="800">
                <a:solidFill>
                  <a:srgbClr val="D4D4D4"/>
                </a:solidFill>
              </a:rPr>
              <a:t> 86 </a:t>
            </a:r>
            <a:r>
              <a:rPr lang="zh-CN" altLang="en-US" sz="800">
                <a:solidFill>
                  <a:srgbClr val="D4D4D4"/>
                </a:solidFill>
              </a:rPr>
              <a:t>单的</a:t>
            </a:r>
            <a:r>
              <a:rPr lang="en-US" altLang="zh-CN" sz="800">
                <a:solidFill>
                  <a:srgbClr val="D4D4D4"/>
                </a:solidFill>
              </a:rPr>
              <a:t> 24.4%</a:t>
            </a:r>
            <a:r>
              <a:rPr lang="zh-CN" altLang="en-US" sz="800">
                <a:solidFill>
                  <a:srgbClr val="D4D4D4"/>
                </a:solidFill>
              </a:rPr>
              <a:t>，却贡献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1,705</a:t>
            </a:r>
            <a:r>
              <a:rPr lang="zh-CN" altLang="en-US" sz="800">
                <a:solidFill>
                  <a:srgbClr val="D4D4D4"/>
                </a:solidFill>
              </a:rPr>
              <a:t>万，占总营收约</a:t>
            </a:r>
            <a:r>
              <a:rPr lang="en-US" altLang="zh-CN" sz="800">
                <a:solidFill>
                  <a:srgbClr val="D4D4D4"/>
                </a:solidFill>
              </a:rPr>
              <a:t> 59.9%</a:t>
            </a:r>
            <a:r>
              <a:rPr lang="zh-CN" altLang="en-US" sz="800">
                <a:solidFill>
                  <a:srgbClr val="D4D4D4"/>
                </a:solidFill>
              </a:rPr>
              <a:t>，说明收入增长明显由中大单驱动。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业绩结构分化明显，增长集中在少数区域：华东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986</a:t>
            </a:r>
            <a:r>
              <a:rPr lang="zh-CN" altLang="en-US" sz="800">
                <a:solidFill>
                  <a:srgbClr val="D4D4D4"/>
                </a:solidFill>
              </a:rPr>
              <a:t>万、完成率</a:t>
            </a:r>
            <a:r>
              <a:rPr lang="en-US" altLang="zh-CN" sz="800">
                <a:solidFill>
                  <a:srgbClr val="D4D4D4"/>
                </a:solidFill>
              </a:rPr>
              <a:t> 108%</a:t>
            </a:r>
            <a:r>
              <a:rPr lang="zh-CN" altLang="en-US" sz="800">
                <a:solidFill>
                  <a:srgbClr val="D4D4D4"/>
                </a:solidFill>
              </a:rPr>
              <a:t>，华南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756</a:t>
            </a:r>
            <a:r>
              <a:rPr lang="zh-CN" altLang="en-US" sz="800">
                <a:solidFill>
                  <a:srgbClr val="D4D4D4"/>
                </a:solidFill>
              </a:rPr>
              <a:t>万、完成率</a:t>
            </a:r>
            <a:r>
              <a:rPr lang="en-US" altLang="zh-CN" sz="800">
                <a:solidFill>
                  <a:srgbClr val="D4D4D4"/>
                </a:solidFill>
              </a:rPr>
              <a:t> 92%</a:t>
            </a:r>
            <a:r>
              <a:rPr lang="zh-CN" altLang="en-US" sz="800">
                <a:solidFill>
                  <a:srgbClr val="D4D4D4"/>
                </a:solidFill>
              </a:rPr>
              <a:t>，两区合计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1,742</a:t>
            </a:r>
            <a:r>
              <a:rPr lang="zh-CN" altLang="en-US" sz="800">
                <a:solidFill>
                  <a:srgbClr val="D4D4D4"/>
                </a:solidFill>
              </a:rPr>
              <a:t>万，占总营收约</a:t>
            </a:r>
            <a:r>
              <a:rPr lang="en-US" altLang="zh-CN" sz="800">
                <a:solidFill>
                  <a:srgbClr val="D4D4D4"/>
                </a:solidFill>
              </a:rPr>
              <a:t> 61.2%</a:t>
            </a:r>
            <a:r>
              <a:rPr lang="zh-CN" altLang="en-US" sz="800">
                <a:solidFill>
                  <a:srgbClr val="D4D4D4"/>
                </a:solidFill>
              </a:rPr>
              <a:t>；但西南仅</a:t>
            </a:r>
            <a:r>
              <a:rPr lang="en-US" altLang="zh-CN" sz="800">
                <a:solidFill>
                  <a:srgbClr val="D4D4D4"/>
                </a:solidFill>
              </a:rPr>
              <a:t> 65%</a:t>
            </a:r>
            <a:r>
              <a:rPr lang="zh-CN" altLang="en-US" sz="800">
                <a:solidFill>
                  <a:srgbClr val="D4D4D4"/>
                </a:solidFill>
              </a:rPr>
              <a:t>、西北仅</a:t>
            </a:r>
            <a:r>
              <a:rPr lang="en-US" altLang="zh-CN" sz="800">
                <a:solidFill>
                  <a:srgbClr val="D4D4D4"/>
                </a:solidFill>
              </a:rPr>
              <a:t> 48%</a:t>
            </a:r>
            <a:r>
              <a:rPr lang="zh-CN" altLang="en-US" sz="800">
                <a:solidFill>
                  <a:srgbClr val="D4D4D4"/>
                </a:solidFill>
              </a:rPr>
              <a:t>、华北</a:t>
            </a:r>
            <a:r>
              <a:rPr lang="en-US" altLang="zh-CN" sz="800">
                <a:solidFill>
                  <a:srgbClr val="D4D4D4"/>
                </a:solidFill>
              </a:rPr>
              <a:t> 78%</a:t>
            </a:r>
            <a:r>
              <a:rPr lang="zh-CN" altLang="en-US" sz="800">
                <a:solidFill>
                  <a:srgbClr val="D4D4D4"/>
                </a:solidFill>
              </a:rPr>
              <a:t>，说明当前增长主要由华东拉动，尾部区域拖累整体扩张效率。</a:t>
            </a:r>
            <a:r>
              <a:rPr lang="en-US" altLang="zh-CN" sz="800">
                <a:solidFill>
                  <a:srgbClr val="D4D4D4"/>
                </a:solidFill>
              </a:rPr>
              <a:t>[</a:t>
            </a:r>
            <a:endParaRPr lang="en-US" altLang="zh-CN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看一张运营看板，说出关键结论</a:t>
            </a:r>
            <a:endParaRPr lang="en-US" sz="1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787900" y="1374775"/>
            <a:ext cx="3992245" cy="3636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noAutofit/>
          </a:bodyPr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潜在风险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漏斗转化偏低，后续补量能力不足：当前线索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2,847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条，最终成交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86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单，整体转化率仅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3.0%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；同时赢单率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32.4%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虽高于行业均值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25%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，但已较上月下降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2.1%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，说明如果高价值项目推进稍有延迟，后续营收补位会变难。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建议动作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**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-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立即启动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“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大单收口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”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专项：优先盯紧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Top 5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活跃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deal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中处于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“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即将签约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/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商务谈判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/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方案确认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”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的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4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个项目，合计金额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749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万；按当前距离季度目标仅差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153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万计算，只要其中任意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个中型单或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1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个大单按期落单，就足以超额达成季度目标，管理层应直接介入审批、法务和商务条款推进。</a:t>
            </a: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D4D4D4"/>
              </a:solidFill>
              <a:effectLst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13" name="图片 12"/>
          <p:cNvPicPr/>
          <p:nvPr/>
        </p:nvPicPr>
        <p:blipFill>
          <a:blip r:embed="rId1"/>
          <a:srcRect l="10598" t="31005" r="10579" b="26624"/>
          <a:stretch>
            <a:fillRect/>
          </a:stretch>
        </p:blipFill>
        <p:spPr>
          <a:xfrm>
            <a:off x="7020560" y="80645"/>
            <a:ext cx="1386840" cy="6597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53035" y="828675"/>
            <a:ext cx="885571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51460" y="935990"/>
            <a:ext cx="4587240" cy="420243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 </a:t>
            </a:r>
            <a:r>
              <a:rPr lang="zh-CN" altLang="en-US" sz="800">
                <a:solidFill>
                  <a:srgbClr val="D4D4D4"/>
                </a:solidFill>
              </a:rPr>
              <a:t>个关键结论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客单价驱动增长，而非单量增长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  <a:ea typeface="宋体" charset="0"/>
              </a:rPr>
              <a:t>：</a:t>
            </a:r>
            <a:r>
              <a:rPr lang="zh-CN" altLang="en-US" sz="800">
                <a:solidFill>
                  <a:srgbClr val="D4D4D4"/>
                </a:solidFill>
              </a:rPr>
              <a:t>季度营收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2,847</a:t>
            </a:r>
            <a:r>
              <a:rPr lang="zh-CN" altLang="en-US" sz="800">
                <a:solidFill>
                  <a:srgbClr val="D4D4D4"/>
                </a:solidFill>
              </a:rPr>
              <a:t>万（达成率</a:t>
            </a:r>
            <a:r>
              <a:rPr lang="en-US" altLang="zh-CN" sz="800">
                <a:solidFill>
                  <a:srgbClr val="D4D4D4"/>
                </a:solidFill>
              </a:rPr>
              <a:t> 94.9%</a:t>
            </a:r>
            <a:r>
              <a:rPr lang="zh-CN" altLang="en-US" sz="800">
                <a:solidFill>
                  <a:srgbClr val="D4D4D4"/>
                </a:solidFill>
              </a:rPr>
              <a:t>，同比</a:t>
            </a:r>
            <a:r>
              <a:rPr lang="en-US" altLang="zh-CN" sz="800">
                <a:solidFill>
                  <a:srgbClr val="D4D4D4"/>
                </a:solidFill>
              </a:rPr>
              <a:t>  +18.3%</a:t>
            </a:r>
            <a:r>
              <a:rPr lang="zh-CN" altLang="en-US" sz="800">
                <a:solidFill>
                  <a:srgbClr val="D4D4D4"/>
                </a:solidFill>
              </a:rPr>
              <a:t>），但新增合同仅完成</a:t>
            </a:r>
            <a:r>
              <a:rPr lang="en-US" altLang="zh-CN" sz="800">
                <a:solidFill>
                  <a:srgbClr val="D4D4D4"/>
                </a:solidFill>
              </a:rPr>
              <a:t> 72/98</a:t>
            </a:r>
            <a:r>
              <a:rPr lang="zh-CN" altLang="en-US" sz="800">
                <a:solidFill>
                  <a:srgbClr val="D4D4D4"/>
                </a:solidFill>
              </a:rPr>
              <a:t>单（</a:t>
            </a:r>
            <a:r>
              <a:rPr lang="en-US" altLang="zh-CN" sz="800">
                <a:solidFill>
                  <a:srgbClr val="D4D4D4"/>
                </a:solidFill>
              </a:rPr>
              <a:t>73.5%</a:t>
            </a:r>
            <a:r>
              <a:rPr lang="zh-CN" altLang="en-US" sz="800">
                <a:solidFill>
                  <a:srgbClr val="D4D4D4"/>
                </a:solidFill>
              </a:rPr>
              <a:t>）。真正拉动营收的是客单价从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28.7</a:t>
            </a:r>
            <a:r>
              <a:rPr lang="zh-CN" altLang="en-US" sz="800">
                <a:solidFill>
                  <a:srgbClr val="D4D4D4"/>
                </a:solidFill>
              </a:rPr>
              <a:t>万提升至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33.1</a:t>
            </a:r>
            <a:r>
              <a:rPr lang="zh-CN" altLang="en-US" sz="800">
                <a:solidFill>
                  <a:srgbClr val="D4D4D4"/>
                </a:solidFill>
              </a:rPr>
              <a:t>万（</a:t>
            </a:r>
            <a:r>
              <a:rPr lang="en-US" altLang="zh-CN" sz="800">
                <a:solidFill>
                  <a:srgbClr val="D4D4D4"/>
                </a:solidFill>
              </a:rPr>
              <a:t>+15.3%</a:t>
            </a:r>
            <a:r>
              <a:rPr lang="zh-CN" altLang="en-US" sz="800">
                <a:solidFill>
                  <a:srgbClr val="D4D4D4"/>
                </a:solidFill>
              </a:rPr>
              <a:t>）。</a:t>
            </a:r>
            <a:r>
              <a:rPr lang="en-US" altLang="zh-CN" sz="800">
                <a:solidFill>
                  <a:srgbClr val="D4D4D4"/>
                </a:solidFill>
              </a:rPr>
              <a:t>21</a:t>
            </a:r>
            <a:r>
              <a:rPr lang="zh-CN" altLang="en-US" sz="800">
                <a:solidFill>
                  <a:srgbClr val="D4D4D4"/>
                </a:solidFill>
              </a:rPr>
              <a:t>单大单（</a:t>
            </a:r>
            <a:r>
              <a:rPr lang="en-US" altLang="zh-CN" sz="800">
                <a:solidFill>
                  <a:srgbClr val="D4D4D4"/>
                </a:solidFill>
              </a:rPr>
              <a:t>50</a:t>
            </a:r>
            <a:r>
              <a:rPr lang="zh-CN" altLang="en-US" sz="800">
                <a:solidFill>
                  <a:srgbClr val="D4D4D4"/>
                </a:solidFill>
              </a:rPr>
              <a:t>万以上）贡献了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1,705</a:t>
            </a:r>
            <a:r>
              <a:rPr lang="zh-CN" altLang="en-US" sz="800">
                <a:solidFill>
                  <a:srgbClr val="D4D4D4"/>
                </a:solidFill>
              </a:rPr>
              <a:t>万，占总营收的</a:t>
            </a:r>
            <a:r>
              <a:rPr lang="en-US" altLang="zh-CN" sz="800">
                <a:solidFill>
                  <a:srgbClr val="D4D4D4"/>
                </a:solidFill>
              </a:rPr>
              <a:t>60%</a:t>
            </a:r>
            <a:r>
              <a:rPr lang="zh-CN" altLang="en-US" sz="800">
                <a:solidFill>
                  <a:srgbClr val="D4D4D4"/>
                </a:solidFill>
              </a:rPr>
              <a:t>。增长质量高但依赖大客户，结构性风险存在。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区域业绩严重分化，华东一家独大华东战队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986</a:t>
            </a:r>
            <a:r>
              <a:rPr lang="zh-CN" altLang="en-US" sz="800">
                <a:solidFill>
                  <a:srgbClr val="D4D4D4"/>
                </a:solidFill>
              </a:rPr>
              <a:t>万（完成率</a:t>
            </a:r>
            <a:r>
              <a:rPr lang="en-US" altLang="zh-CN" sz="800">
                <a:solidFill>
                  <a:srgbClr val="D4D4D4"/>
                </a:solidFill>
              </a:rPr>
              <a:t>108%</a:t>
            </a:r>
            <a:r>
              <a:rPr lang="zh-CN" altLang="en-US" sz="800">
                <a:solidFill>
                  <a:srgbClr val="D4D4D4"/>
                </a:solidFill>
              </a:rPr>
              <a:t>）几乎等于西南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西北之和（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593</a:t>
            </a:r>
            <a:r>
              <a:rPr lang="zh-CN" altLang="en-US" sz="800">
                <a:solidFill>
                  <a:srgbClr val="D4D4D4"/>
                </a:solidFill>
              </a:rPr>
              <a:t>万）。西北仅完成</a:t>
            </a:r>
            <a:r>
              <a:rPr lang="en-US" altLang="zh-CN" sz="800">
                <a:solidFill>
                  <a:srgbClr val="D4D4D4"/>
                </a:solidFill>
              </a:rPr>
              <a:t> 48%</a:t>
            </a:r>
            <a:r>
              <a:rPr lang="zh-CN" altLang="en-US" sz="800">
                <a:solidFill>
                  <a:srgbClr val="D4D4D4"/>
                </a:solidFill>
              </a:rPr>
              <a:t>，缺口</a:t>
            </a:r>
            <a:r>
              <a:rPr lang="en-US" altLang="zh-CN" sz="800">
                <a:solidFill>
                  <a:srgbClr val="D4D4D4"/>
                </a:solidFill>
              </a:rPr>
              <a:t> 52</a:t>
            </a:r>
            <a:r>
              <a:rPr lang="zh-CN" altLang="en-US" sz="800">
                <a:solidFill>
                  <a:srgbClr val="D4D4D4"/>
                </a:solidFill>
              </a:rPr>
              <a:t>万，排名最末的刘洋（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67</a:t>
            </a:r>
            <a:r>
              <a:rPr lang="zh-CN" altLang="en-US" sz="800">
                <a:solidFill>
                  <a:srgbClr val="D4D4D4"/>
                </a:solidFill>
              </a:rPr>
              <a:t>万）仅为</a:t>
            </a:r>
            <a:r>
              <a:rPr lang="en-US" altLang="zh-CN" sz="800">
                <a:solidFill>
                  <a:srgbClr val="D4D4D4"/>
                </a:solidFill>
              </a:rPr>
              <a:t> Top1 </a:t>
            </a:r>
            <a:r>
              <a:rPr lang="zh-CN" altLang="en-US" sz="800">
                <a:solidFill>
                  <a:srgbClr val="D4D4D4"/>
                </a:solidFill>
              </a:rPr>
              <a:t>陈思远（</a:t>
            </a:r>
            <a:r>
              <a:rPr lang="" altLang="en-US" sz="800">
                <a:solidFill>
                  <a:srgbClr val="D4D4D4"/>
                </a:solidFill>
              </a:rPr>
              <a:t>¥</a:t>
            </a:r>
            <a:r>
              <a:rPr lang="en-US" altLang="zh-CN" sz="800">
                <a:solidFill>
                  <a:srgbClr val="D4D4D4"/>
                </a:solidFill>
              </a:rPr>
              <a:t>186</a:t>
            </a:r>
            <a:r>
              <a:rPr lang="zh-CN" altLang="en-US" sz="800">
                <a:solidFill>
                  <a:srgbClr val="D4D4D4"/>
                </a:solidFill>
              </a:rPr>
              <a:t>万）的</a:t>
            </a:r>
            <a:r>
              <a:rPr lang="en-US" altLang="zh-CN" sz="800">
                <a:solidFill>
                  <a:srgbClr val="D4D4D4"/>
                </a:solidFill>
              </a:rPr>
              <a:t> 36%</a:t>
            </a:r>
            <a:r>
              <a:rPr lang="zh-CN" altLang="en-US" sz="800">
                <a:solidFill>
                  <a:srgbClr val="D4D4D4"/>
                </a:solidFill>
              </a:rPr>
              <a:t>。四个区域中两个低于</a:t>
            </a:r>
            <a:r>
              <a:rPr lang="en-US" altLang="zh-CN" sz="800">
                <a:solidFill>
                  <a:srgbClr val="D4D4D4"/>
                </a:solidFill>
              </a:rPr>
              <a:t>80%</a:t>
            </a:r>
            <a:r>
              <a:rPr lang="zh-CN" altLang="en-US" sz="800">
                <a:solidFill>
                  <a:srgbClr val="D4D4D4"/>
                </a:solidFill>
              </a:rPr>
              <a:t>，团队能力差距已构成系统性问题。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3. </a:t>
            </a:r>
            <a:r>
              <a:rPr lang="zh-CN" altLang="en-US" sz="800">
                <a:solidFill>
                  <a:srgbClr val="D4D4D4"/>
                </a:solidFill>
              </a:rPr>
              <a:t>漏斗转化率偏低，方案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谈判环节是最大瓶颈线索</a:t>
            </a:r>
            <a:r>
              <a:rPr lang="en-US" altLang="zh-CN" sz="800">
                <a:solidFill>
                  <a:srgbClr val="D4D4D4"/>
                </a:solidFill>
              </a:rPr>
              <a:t> 2,847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成交</a:t>
            </a:r>
            <a:r>
              <a:rPr lang="en-US" altLang="zh-CN" sz="800">
                <a:solidFill>
                  <a:srgbClr val="D4D4D4"/>
                </a:solidFill>
              </a:rPr>
              <a:t> 86</a:t>
            </a:r>
            <a:r>
              <a:rPr lang="zh-CN" altLang="en-US" sz="800">
                <a:solidFill>
                  <a:srgbClr val="D4D4D4"/>
                </a:solidFill>
              </a:rPr>
              <a:t>，整体转化率仅</a:t>
            </a:r>
            <a:r>
              <a:rPr lang="en-US" altLang="zh-CN" sz="800">
                <a:solidFill>
                  <a:srgbClr val="D4D4D4"/>
                </a:solidFill>
              </a:rPr>
              <a:t>3.0%</a:t>
            </a:r>
            <a:r>
              <a:rPr lang="zh-CN" altLang="en-US" sz="800">
                <a:solidFill>
                  <a:srgbClr val="D4D4D4"/>
                </a:solidFill>
              </a:rPr>
              <a:t>。具体看：线索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商机</a:t>
            </a:r>
            <a:r>
              <a:rPr lang="en-US" altLang="zh-CN" sz="800">
                <a:solidFill>
                  <a:srgbClr val="D4D4D4"/>
                </a:solidFill>
              </a:rPr>
              <a:t> 31.3%</a:t>
            </a:r>
            <a:r>
              <a:rPr lang="zh-CN" altLang="en-US" sz="800">
                <a:solidFill>
                  <a:srgbClr val="D4D4D4"/>
                </a:solidFill>
              </a:rPr>
              <a:t>（尚可），商机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方案</a:t>
            </a:r>
            <a:r>
              <a:rPr lang="en-US" altLang="zh-CN" sz="800">
                <a:solidFill>
                  <a:srgbClr val="D4D4D4"/>
                </a:solidFill>
              </a:rPr>
              <a:t>36.5%</a:t>
            </a:r>
            <a:r>
              <a:rPr lang="zh-CN" altLang="en-US" sz="800">
                <a:solidFill>
                  <a:srgbClr val="D4D4D4"/>
                </a:solidFill>
              </a:rPr>
              <a:t>（正常），方案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谈判仅</a:t>
            </a:r>
            <a:r>
              <a:rPr lang="en-US" altLang="zh-CN" sz="800">
                <a:solidFill>
                  <a:srgbClr val="D4D4D4"/>
                </a:solidFill>
              </a:rPr>
              <a:t> 47.8%</a:t>
            </a:r>
            <a:r>
              <a:rPr lang="zh-CN" altLang="en-US" sz="800">
                <a:solidFill>
                  <a:srgbClr val="D4D4D4"/>
                </a:solidFill>
              </a:rPr>
              <a:t>（</a:t>
            </a:r>
            <a:r>
              <a:rPr lang="en-US" altLang="zh-CN" sz="800">
                <a:solidFill>
                  <a:srgbClr val="D4D4D4"/>
                </a:solidFill>
              </a:rPr>
              <a:t>326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156</a:t>
            </a:r>
            <a:r>
              <a:rPr lang="zh-CN" altLang="en-US" sz="800">
                <a:solidFill>
                  <a:srgbClr val="D4D4D4"/>
                </a:solidFill>
              </a:rPr>
              <a:t>），近半数方案未进入谈判。说明方案匹配度或竞争力存在短板。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---</a:t>
            </a:r>
            <a:r>
              <a:rPr lang="zh-CN" altLang="en-US" sz="800">
                <a:solidFill>
                  <a:srgbClr val="D4D4D4"/>
                </a:solidFill>
              </a:rPr>
              <a:t>挽回。</a:t>
            </a: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看一张运营看板，说出关键结论</a:t>
            </a:r>
            <a:endParaRPr lang="en-US" sz="1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838700" y="1137285"/>
            <a:ext cx="3948430" cy="3636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noAutofit/>
          </a:bodyPr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  1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个潜在风险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  <a:sym typeface="+mn-ea"/>
              </a:rPr>
              <a:t>客户流失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+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赢单率下滑的叠加风险；赢单率已从上月下滑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2.1%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（当前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32.4%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），同时有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家客户出现流失预警（合计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ARR  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105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万），其中杭州智联正在评估竞品方案。更值得警惕的是，与腾讯云的竞争胜负比仅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44%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（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4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赢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负），而看板上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个大单出现延期（预算审批周期延长）。如果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Q1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最后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天无法推动浙江大华（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280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万）签约落地，季度目标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3,000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万将确定性无法完成（当前缺口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153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万）。</a:t>
            </a:r>
            <a:endParaRPr lang="en-US" altLang="zh-CN" sz="800">
              <a:solidFill>
                <a:srgbClr val="D4D4D4"/>
              </a:solidFill>
              <a:sym typeface="+mn-ea"/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  <a:sym typeface="+mn-ea"/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  1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个建议动作；立即由销售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VP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亲自介入浙江大华（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280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万，即将签约）和比亚迪半导体（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185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万，商务谈判）两单。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  <a:sym typeface="+mn-ea"/>
              </a:rPr>
              <a:t> 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理由：距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Q1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结束仅剩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天，营收缺口</a:t>
            </a:r>
            <a:r>
              <a:rPr lang="en-US" altLang="en-US" sz="800">
                <a:solidFill>
                  <a:srgbClr val="D4D4D4"/>
                </a:solidFill>
                <a:sym typeface="+mn-ea"/>
              </a:rPr>
              <a:t>¥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153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万。浙江大华已在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即将签约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"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阶段且陈思远刚完成合同沟通（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10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分钟前），这是最有可能在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Q1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内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close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的单子。只要推动这一单签约，缺口即可缩小至零。同时安排高层对接比亚迪，为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Q2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开局储备确定性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pipeline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。不要分散精力在西北补缺口上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——48%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完成率已无法在</a:t>
            </a:r>
            <a:r>
              <a:rPr lang="en-US" altLang="zh-CN" sz="800">
                <a:solidFill>
                  <a:srgbClr val="D4D4D4"/>
                </a:solidFill>
                <a:sym typeface="+mn-ea"/>
              </a:rPr>
              <a:t> 3 </a:t>
            </a:r>
            <a:r>
              <a:rPr lang="zh-CN" altLang="en-US" sz="800">
                <a:solidFill>
                  <a:srgbClr val="D4D4D4"/>
                </a:solidFill>
                <a:sym typeface="+mn-ea"/>
              </a:rPr>
              <a:t>天内</a:t>
            </a: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D4D4D4"/>
              </a:solidFill>
              <a:effectLst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15" name="图片 14" descr="3abbf33c-82b2-40f6-a154-17e804b9678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025" y="51435"/>
            <a:ext cx="1565275" cy="8845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4537"/>
            <a:ext cx="914400" cy="272951"/>
          </a:xfrm>
          <a:prstGeom prst="roundRect">
            <a:avLst>
              <a:gd name="adj" fmla="val 27917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5288"/>
            <a:ext cx="621792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3215" y="1635760"/>
            <a:ext cx="3544570" cy="1190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让</a:t>
            </a:r>
            <a:r>
              <a:rPr lang="en-US" altLang="zh-CN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AI Agent</a:t>
            </a:r>
            <a:r>
              <a:rPr lang="zh-CN" alt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规划一个</a:t>
            </a:r>
            <a:endParaRPr lang="zh-CN" altLang="en-US" sz="2000" b="1" dirty="0">
              <a:solidFill>
                <a:srgbClr val="111827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  <a:p>
            <a:pPr marL="0" indent="0" algn="ctr">
              <a:buNone/>
            </a:pPr>
            <a:endParaRPr lang="zh-CN" altLang="en-US" sz="2000" b="1" dirty="0">
              <a:solidFill>
                <a:srgbClr val="111827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  <a:p>
            <a:pPr marL="0" indent="0" algn="ctr">
              <a:buNone/>
            </a:pPr>
            <a:r>
              <a:rPr lang="zh-CN" altLang="en-US" sz="20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任务执行路径和方法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077335" y="-730885"/>
            <a:ext cx="5081270" cy="7673340"/>
          </a:xfrm>
          <a:prstGeom prst="roundRect">
            <a:avLst>
              <a:gd name="adj" fmla="val 13966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0" y="195580"/>
            <a:ext cx="4124960" cy="532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【任务】帮我写一份《中国制造业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AI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应用现状与趋势》行业分析报告的写作的执行计划。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【约束】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面向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CEO/CFO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等高管读者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篇幅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8000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字左右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需要数据支撑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天后要交初稿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【要求】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请作为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AI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助手，规划出你完成这个任务的具体执行计划。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【输出格式】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##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执行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Plan</a:t>
            </a:r>
            <a:endParaRPr lang="en-US" sz="1100" dirty="0">
              <a:solidFill>
                <a:schemeClr val="bg1">
                  <a:lumMod val="50000"/>
                </a:schemeClr>
              </a:solidFill>
              <a:ea typeface="Arial" panose="020B0704020202020204" pitchFamily="34" charset="-122"/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### Step 1: [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任务名称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]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目标：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需要调用的工具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/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数据源：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预计产出：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前置依赖：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### Step 2: ...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...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##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关键决策点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1. ...  2. ...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##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风险与备选方案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-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风险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1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：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... </a:t>
            </a:r>
            <a:r>
              <a:rPr lang="en-US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→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备选：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...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cs typeface="+mn-lt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  ##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lt"/>
                <a:sym typeface="+mn-ea"/>
              </a:rPr>
              <a:t>你认为最难的一步是什么？为什么？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cs typeface="+mn-lt"/>
              <a:sym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8370" y="3164840"/>
            <a:ext cx="280987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评判标准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7405" y="3558540"/>
            <a:ext cx="2692400" cy="1219200"/>
          </a:xfrm>
          <a:prstGeom prst="rect">
            <a:avLst/>
          </a:prstGeom>
          <a:noFill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步骤完整性</a:t>
            </a:r>
            <a:endParaRPr lang="zh-CN" alt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可操作性</a:t>
            </a:r>
            <a:endParaRPr lang="zh-CN" alt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时间约束：是否合理拆解</a:t>
            </a:r>
            <a:r>
              <a:rPr lang="en-US" altLang="zh-CN" sz="1200" dirty="0"/>
              <a:t>3</a:t>
            </a:r>
            <a:r>
              <a:rPr lang="zh-CN" altLang="en-US" sz="1200" dirty="0"/>
              <a:t>天排期</a:t>
            </a:r>
            <a:endParaRPr lang="zh-CN" altLang="en-US" sz="1200" dirty="0"/>
          </a:p>
          <a:p>
            <a:pPr marL="127000" indent="-127000" algn="l">
              <a:lnSpc>
                <a:spcPts val="2400"/>
              </a:lnSpc>
              <a:buSzPct val="100000"/>
              <a:buChar char="•"/>
            </a:pPr>
            <a:r>
              <a:rPr lang="zh-CN" altLang="en-US" sz="1200" dirty="0"/>
              <a:t>风险与备选配对</a:t>
            </a:r>
            <a:endParaRPr lang="zh-CN" altLang="en-US" sz="1200" dirty="0"/>
          </a:p>
        </p:txBody>
      </p:sp>
      <p:pic>
        <p:nvPicPr>
          <p:cNvPr id="10" name="Image 0" descr="/tmp/pptx_workspace/images/icon_scan_eye_te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044" y="1059964"/>
            <a:ext cx="406301" cy="40630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263015" y="3653790"/>
            <a:ext cx="3048000" cy="2768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37160" y="828675"/>
            <a:ext cx="8871585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51460" y="987425"/>
            <a:ext cx="4206240" cy="3698176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 </a:t>
            </a:r>
            <a:r>
              <a:rPr lang="zh-CN" altLang="en-US" sz="800">
                <a:solidFill>
                  <a:srgbClr val="D4D4D4"/>
                </a:solidFill>
              </a:rPr>
              <a:t>《中国制造业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应用现状与趋势》行业分析报告写作执行计划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执行</a:t>
            </a:r>
            <a:r>
              <a:rPr lang="en-US" altLang="zh-CN" sz="800">
                <a:solidFill>
                  <a:srgbClr val="D4D4D4"/>
                </a:solidFill>
              </a:rPr>
              <a:t>Plan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1: </a:t>
            </a:r>
            <a:r>
              <a:rPr lang="zh-CN" altLang="en-US" sz="800">
                <a:solidFill>
                  <a:srgbClr val="D4D4D4"/>
                </a:solidFill>
              </a:rPr>
              <a:t>需求分析与结构规划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：明确报告定位、核心受众偏好、关键信息需求，设计完整报告框架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（搜索同类高管报告结构参考）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SearchCodebase</a:t>
            </a:r>
            <a:r>
              <a:rPr lang="zh-CN" altLang="en-US" sz="800">
                <a:solidFill>
                  <a:srgbClr val="D4D4D4"/>
                </a:solidFill>
              </a:rPr>
              <a:t>（检索是否有历史报告模板或客户偏好文档）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预计产出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报告大纲（含章节、核心论点、数据需求清单）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高管关注焦点清单（投资回报、竞争格局、落地路径、风险评估）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前置依赖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：无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时间预算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：第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天上午（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2: </a:t>
            </a:r>
            <a:r>
              <a:rPr lang="zh-CN" altLang="en-US" sz="800">
                <a:solidFill>
                  <a:srgbClr val="D4D4D4"/>
                </a:solidFill>
              </a:rPr>
              <a:t>宏观行业数据收集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：获取中国制造业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应用的规模、增长率、政策环境等基础数据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（工信部数据、中国智能制造</a:t>
            </a:r>
            <a:r>
              <a:rPr lang="en-US" altLang="zh-CN" sz="800">
                <a:solidFill>
                  <a:srgbClr val="D4D4D4"/>
                </a:solidFill>
              </a:rPr>
              <a:t>2025</a:t>
            </a:r>
            <a:r>
              <a:rPr lang="zh-CN" altLang="en-US" sz="800">
                <a:solidFill>
                  <a:srgbClr val="D4D4D4"/>
                </a:solidFill>
              </a:rPr>
              <a:t>政策文件）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（麦肯锡、</a:t>
            </a:r>
            <a:r>
              <a:rPr lang="en-US" altLang="zh-CN" sz="800">
                <a:solidFill>
                  <a:srgbClr val="D4D4D4"/>
                </a:solidFill>
              </a:rPr>
              <a:t>IDC</a:t>
            </a:r>
            <a:r>
              <a:rPr lang="zh-CN" altLang="en-US" sz="800">
                <a:solidFill>
                  <a:srgbClr val="D4D4D4"/>
                </a:solidFill>
              </a:rPr>
              <a:t>、</a:t>
            </a:r>
            <a:r>
              <a:rPr lang="en-US" altLang="zh-CN" sz="800">
                <a:solidFill>
                  <a:srgbClr val="D4D4D4"/>
                </a:solidFill>
              </a:rPr>
              <a:t>Gartner</a:t>
            </a:r>
            <a:r>
              <a:rPr lang="zh-CN" altLang="en-US" sz="800">
                <a:solidFill>
                  <a:srgbClr val="D4D4D4"/>
                </a:solidFill>
              </a:rPr>
              <a:t>对中国制造业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报告）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（国家统计局制造业数据）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预计产出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市场规模及增速（</a:t>
            </a:r>
            <a:r>
              <a:rPr lang="en-US" altLang="zh-CN" sz="800">
                <a:solidFill>
                  <a:srgbClr val="D4D4D4"/>
                </a:solidFill>
              </a:rPr>
              <a:t>2022-2025</a:t>
            </a:r>
            <a:r>
              <a:rPr lang="zh-CN" altLang="en-US" sz="800">
                <a:solidFill>
                  <a:srgbClr val="D4D4D4"/>
                </a:solidFill>
              </a:rPr>
              <a:t>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政策支持力度汇总（补贴、试点城市、专项行动）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渗透率按细分行业（汽车、电子、装备制造等）分布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前置依赖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Step 1</a:t>
            </a:r>
            <a:r>
              <a:rPr lang="zh-CN" altLang="en-US" sz="800">
                <a:solidFill>
                  <a:srgbClr val="D4D4D4"/>
                </a:solidFill>
              </a:rPr>
              <a:t>完成的报告框架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时间预算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：第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天下午（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3: </a:t>
            </a:r>
            <a:r>
              <a:rPr lang="zh-CN" altLang="en-US" sz="800">
                <a:solidFill>
                  <a:srgbClr val="D4D4D4"/>
                </a:solidFill>
              </a:rPr>
              <a:t>企业应用案例与竞争格局调研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：收集头部企业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落地案例，提炼成功要素与失败教训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（华为、海尔、富士康、比亚迪等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应用案例）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（美的、三一重工、沈阳机床智能制造案例）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（国际对标：西门子、博世、德国工业</a:t>
            </a:r>
            <a:r>
              <a:rPr lang="en-US" altLang="zh-CN" sz="800">
                <a:solidFill>
                  <a:srgbClr val="D4D4D4"/>
                </a:solidFill>
              </a:rPr>
              <a:t>4.0</a:t>
            </a:r>
            <a:r>
              <a:rPr lang="zh-CN" altLang="en-US" sz="800">
                <a:solidFill>
                  <a:srgbClr val="D4D4D4"/>
                </a:solidFill>
              </a:rPr>
              <a:t>案例）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预计产出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- 10-15</a:t>
            </a:r>
            <a:r>
              <a:rPr lang="zh-CN" altLang="en-US" sz="800">
                <a:solidFill>
                  <a:srgbClr val="D4D4D4"/>
                </a:solidFill>
              </a:rPr>
              <a:t>个典型案例摘要（含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数据）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头部企业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部署进度对比表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竞争格局地图（国际</a:t>
            </a:r>
            <a:r>
              <a:rPr lang="en-US" altLang="zh-CN" sz="800">
                <a:solidFill>
                  <a:srgbClr val="D4D4D4"/>
                </a:solidFill>
              </a:rPr>
              <a:t>vs</a:t>
            </a:r>
            <a:r>
              <a:rPr lang="zh-CN" altLang="en-US" sz="800">
                <a:solidFill>
                  <a:srgbClr val="D4D4D4"/>
                </a:solidFill>
              </a:rPr>
              <a:t>本土供应商）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前置依赖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Step 1</a:t>
            </a:r>
            <a:r>
              <a:rPr lang="zh-CN" altLang="en-US" sz="800">
                <a:solidFill>
                  <a:srgbClr val="D4D4D4"/>
                </a:solidFill>
              </a:rPr>
              <a:t>的框架确定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时间预算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：第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天上午（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4: </a:t>
            </a:r>
            <a:r>
              <a:rPr lang="zh-CN" altLang="en-US" sz="800">
                <a:solidFill>
                  <a:srgbClr val="D4D4D4"/>
                </a:solidFill>
              </a:rPr>
              <a:t>供应商与技术生态研究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：梳理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技术供应商格局，帮助高管理解选型决策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（国内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平台：百度智能云、阿里云、华为云、腾讯云制造业方案）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（工业软件供应商：</a:t>
            </a:r>
            <a:r>
              <a:rPr lang="en-US" altLang="zh-CN" sz="800">
                <a:solidFill>
                  <a:srgbClr val="D4D4D4"/>
                </a:solidFill>
              </a:rPr>
              <a:t>SAP</a:t>
            </a:r>
            <a:r>
              <a:rPr lang="zh-CN" altLang="en-US" sz="800">
                <a:solidFill>
                  <a:srgbClr val="D4D4D4"/>
                </a:solidFill>
              </a:rPr>
              <a:t>、</a:t>
            </a:r>
            <a:r>
              <a:rPr lang="en-US" altLang="zh-CN" sz="800">
                <a:solidFill>
                  <a:srgbClr val="D4D4D4"/>
                </a:solidFill>
              </a:rPr>
              <a:t>Oracle</a:t>
            </a:r>
            <a:r>
              <a:rPr lang="zh-CN" altLang="en-US" sz="800">
                <a:solidFill>
                  <a:srgbClr val="D4D4D4"/>
                </a:solidFill>
              </a:rPr>
              <a:t>、用友、金蝶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布局）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（垂直领域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公司：创新奇智、旷视、树根互联等）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预计产出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平台供应商能力对比矩阵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不同规模企业的解决方案推荐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技术路线选择指南（云</a:t>
            </a:r>
            <a:r>
              <a:rPr lang="en-US" altLang="zh-CN" sz="800">
                <a:solidFill>
                  <a:srgbClr val="D4D4D4"/>
                </a:solidFill>
              </a:rPr>
              <a:t>vs</a:t>
            </a:r>
            <a:r>
              <a:rPr lang="zh-CN" altLang="en-US" sz="800">
                <a:solidFill>
                  <a:srgbClr val="D4D4D4"/>
                </a:solidFill>
              </a:rPr>
              <a:t>边、机器视觉</a:t>
            </a:r>
            <a:r>
              <a:rPr lang="en-US" altLang="zh-CN" sz="800">
                <a:solidFill>
                  <a:srgbClr val="D4D4D4"/>
                </a:solidFill>
              </a:rPr>
              <a:t>vs</a:t>
            </a:r>
            <a:r>
              <a:rPr lang="zh-CN" altLang="en-US" sz="800">
                <a:solidFill>
                  <a:srgbClr val="D4D4D4"/>
                </a:solidFill>
              </a:rPr>
              <a:t>预测性维护等）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前置依赖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Step 1</a:t>
            </a:r>
            <a:r>
              <a:rPr lang="zh-CN" altLang="en-US" sz="800">
                <a:solidFill>
                  <a:srgbClr val="D4D4D4"/>
                </a:solidFill>
              </a:rPr>
              <a:t>框架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时间预算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：第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天下午（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5: </a:t>
            </a:r>
            <a:r>
              <a:rPr lang="zh-CN" altLang="en-US" sz="800">
                <a:solidFill>
                  <a:srgbClr val="D4D4D4"/>
                </a:solidFill>
              </a:rPr>
              <a:t>趋势预测与挑战分析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：形成前瞻性观点，识别落地障碍与应对策略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</a:t>
            </a:r>
            <a:r>
              <a:rPr lang="en-US" altLang="zh-CN" sz="800">
                <a:solidFill>
                  <a:srgbClr val="D4D4D4"/>
                </a:solidFill>
              </a:rPr>
              <a:t>2025-2030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趋势预测报告）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常见失败原因、行业痛点调研）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</a:t>
            </a:r>
            <a:r>
              <a:rPr lang="zh-CN" altLang="en-US" sz="800">
                <a:solidFill>
                  <a:srgbClr val="D4D4D4"/>
                </a:solidFill>
              </a:rPr>
              <a:t>（生成式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在制造业应用前景）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预计产出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- 3-5</a:t>
            </a:r>
            <a:r>
              <a:rPr lang="zh-CN" altLang="en-US" sz="800">
                <a:solidFill>
                  <a:srgbClr val="D4D4D4"/>
                </a:solidFill>
              </a:rPr>
              <a:t>个关键趋势判断（含时间轴）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TOP 5</a:t>
            </a:r>
            <a:r>
              <a:rPr lang="zh-CN" altLang="en-US" sz="800">
                <a:solidFill>
                  <a:srgbClr val="D4D4D4"/>
                </a:solidFill>
              </a:rPr>
              <a:t>落地挑战及解法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新兴机会点（具身智能、工业大模型等）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前置依赖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Step 2</a:t>
            </a:r>
            <a:r>
              <a:rPr lang="zh-CN" altLang="en-US" sz="800">
                <a:solidFill>
                  <a:srgbClr val="D4D4D4"/>
                </a:solidFill>
              </a:rPr>
              <a:t>、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、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数据收集完成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时间预算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：第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天下午（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6: </a:t>
            </a:r>
            <a:r>
              <a:rPr lang="zh-CN" altLang="en-US" sz="800">
                <a:solidFill>
                  <a:srgbClr val="D4D4D4"/>
                </a:solidFill>
              </a:rPr>
              <a:t>报告初稿撰写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：完成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字左右完整初稿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本地文档编辑器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1-5</a:t>
            </a:r>
            <a:r>
              <a:rPr lang="zh-CN" altLang="en-US" sz="800">
                <a:solidFill>
                  <a:srgbClr val="D4D4D4"/>
                </a:solidFill>
              </a:rPr>
              <a:t>所有产出素材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预计产出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完整初稿（含执行摘要、</a:t>
            </a:r>
            <a:r>
              <a:rPr lang="en-US" altLang="zh-CN" sz="800">
                <a:solidFill>
                  <a:srgbClr val="D4D4D4"/>
                </a:solidFill>
              </a:rPr>
              <a:t>8-10</a:t>
            </a:r>
            <a:r>
              <a:rPr lang="zh-CN" altLang="en-US" sz="800">
                <a:solidFill>
                  <a:srgbClr val="D4D4D4"/>
                </a:solidFill>
              </a:rPr>
              <a:t>个章节）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数据图表清单（待可视化团队处理）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前置依赖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Step 1-5</a:t>
            </a:r>
            <a:r>
              <a:rPr lang="zh-CN" altLang="en-US" sz="800">
                <a:solidFill>
                  <a:srgbClr val="D4D4D4"/>
                </a:solidFill>
              </a:rPr>
              <a:t>全部完成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时间预算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：第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天全天（</a:t>
            </a:r>
            <a:r>
              <a:rPr lang="en-US" altLang="zh-CN" sz="800">
                <a:solidFill>
                  <a:srgbClr val="D4D4D4"/>
                </a:solidFill>
              </a:rPr>
              <a:t>8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7: </a:t>
            </a:r>
            <a:r>
              <a:rPr lang="zh-CN" altLang="en-US" sz="800">
                <a:solidFill>
                  <a:srgbClr val="D4D4D4"/>
                </a:solidFill>
              </a:rPr>
              <a:t>自审与修改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目标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：内部检查数据准确性、逻辑连贯性、高管可读性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人工自审清单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同行交叉评审（如有）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预计产出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修订版初稿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待确认数据列表（需外部确认项标注）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前置依赖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Step 6</a:t>
            </a:r>
            <a:r>
              <a:rPr lang="zh-CN" altLang="en-US" sz="800">
                <a:solidFill>
                  <a:srgbClr val="D4D4D4"/>
                </a:solidFill>
              </a:rPr>
              <a:t>初稿完成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时间预算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：第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天下午（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关键决策点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**</a:t>
            </a:r>
            <a:r>
              <a:rPr lang="zh-CN" altLang="en-US" sz="800">
                <a:solidFill>
                  <a:srgbClr val="D4D4D4"/>
                </a:solidFill>
              </a:rPr>
              <a:t>数据来源优先级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：如多个数据源数据冲突，以工信部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国家统计局官方数据为准；国际数据参考</a:t>
            </a:r>
            <a:r>
              <a:rPr lang="en-US" altLang="zh-CN" sz="800">
                <a:solidFill>
                  <a:srgbClr val="D4D4D4"/>
                </a:solidFill>
              </a:rPr>
              <a:t>IDC/Gartner</a:t>
            </a:r>
            <a:r>
              <a:rPr lang="zh-CN" altLang="en-US" sz="800">
                <a:solidFill>
                  <a:srgbClr val="D4D4D4"/>
                </a:solidFill>
              </a:rPr>
              <a:t>等权威机构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**</a:t>
            </a:r>
            <a:r>
              <a:rPr lang="zh-CN" altLang="en-US" sz="800">
                <a:solidFill>
                  <a:srgbClr val="D4D4D4"/>
                </a:solidFill>
              </a:rPr>
              <a:t>案例深度</a:t>
            </a:r>
            <a:r>
              <a:rPr lang="en-US" altLang="zh-CN" sz="800">
                <a:solidFill>
                  <a:srgbClr val="D4D4D4"/>
                </a:solidFill>
              </a:rPr>
              <a:t>vs</a:t>
            </a:r>
            <a:r>
              <a:rPr lang="zh-CN" altLang="en-US" sz="800">
                <a:solidFill>
                  <a:srgbClr val="D4D4D4"/>
                </a:solidFill>
              </a:rPr>
              <a:t>广度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字篇幅限制下，选择</a:t>
            </a:r>
            <a:r>
              <a:rPr lang="en-US" altLang="zh-CN" sz="800">
                <a:solidFill>
                  <a:srgbClr val="D4D4D4"/>
                </a:solidFill>
              </a:rPr>
              <a:t>5</a:t>
            </a:r>
            <a:r>
              <a:rPr lang="zh-CN" altLang="en-US" sz="800">
                <a:solidFill>
                  <a:srgbClr val="D4D4D4"/>
                </a:solidFill>
              </a:rPr>
              <a:t>个深度案例</a:t>
            </a:r>
            <a:r>
              <a:rPr lang="en-US" altLang="zh-CN" sz="800">
                <a:solidFill>
                  <a:srgbClr val="D4D4D4"/>
                </a:solidFill>
              </a:rPr>
              <a:t> &gt; </a:t>
            </a:r>
            <a:r>
              <a:rPr lang="zh-CN" altLang="en-US" sz="800">
                <a:solidFill>
                  <a:srgbClr val="D4D4D4"/>
                </a:solidFill>
              </a:rPr>
              <a:t>多个浅案例，确保每个案例有具体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数字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**</a:t>
            </a:r>
            <a:r>
              <a:rPr lang="zh-CN" altLang="en-US" sz="800">
                <a:solidFill>
                  <a:srgbClr val="D4D4D4"/>
                </a:solidFill>
              </a:rPr>
              <a:t>本土化</a:t>
            </a:r>
            <a:r>
              <a:rPr lang="en-US" altLang="zh-CN" sz="800">
                <a:solidFill>
                  <a:srgbClr val="D4D4D4"/>
                </a:solidFill>
              </a:rPr>
              <a:t>vs</a:t>
            </a:r>
            <a:r>
              <a:rPr lang="zh-CN" altLang="en-US" sz="800">
                <a:solidFill>
                  <a:srgbClr val="D4D4D4"/>
                </a:solidFill>
              </a:rPr>
              <a:t>国际化视角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：高管报告需平衡国际竞争对标与本土市场特殊性，建议本土案例占</a:t>
            </a:r>
            <a:r>
              <a:rPr lang="en-US" altLang="zh-CN" sz="800">
                <a:solidFill>
                  <a:srgbClr val="D4D4D4"/>
                </a:solidFill>
              </a:rPr>
              <a:t>70%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4. **</a:t>
            </a:r>
            <a:r>
              <a:rPr lang="zh-CN" altLang="en-US" sz="800">
                <a:solidFill>
                  <a:srgbClr val="D4D4D4"/>
                </a:solidFill>
              </a:rPr>
              <a:t>技术深度把控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：受众为非技术高管，技术章节需用业务语言（如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缺陷检测效率提升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而非</a:t>
            </a:r>
            <a:r>
              <a:rPr lang="en-US" altLang="zh-CN" sz="800">
                <a:solidFill>
                  <a:srgbClr val="D4D4D4"/>
                </a:solidFill>
              </a:rPr>
              <a:t>"CV</a:t>
            </a:r>
            <a:r>
              <a:rPr lang="zh-CN" altLang="en-US" sz="800">
                <a:solidFill>
                  <a:srgbClr val="D4D4D4"/>
                </a:solidFill>
              </a:rPr>
              <a:t>算法准确率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风险与备选方案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1**</a:t>
            </a:r>
            <a:r>
              <a:rPr lang="zh-CN" altLang="en-US" sz="800">
                <a:solidFill>
                  <a:srgbClr val="D4D4D4"/>
                </a:solidFill>
              </a:rPr>
              <a:t>：关键数据（如最新市场规模）难以获取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**</a:t>
            </a:r>
            <a:r>
              <a:rPr lang="zh-CN" altLang="en-US" sz="800">
                <a:solidFill>
                  <a:srgbClr val="D4D4D4"/>
                </a:solidFill>
              </a:rPr>
              <a:t>备选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：采用估算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标注数据来源的方式，引用行业协会或券商报告作为替代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2**</a:t>
            </a:r>
            <a:r>
              <a:rPr lang="zh-CN" altLang="en-US" sz="800">
                <a:solidFill>
                  <a:srgbClr val="D4D4D4"/>
                </a:solidFill>
              </a:rPr>
              <a:t>：案例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数据不完整或不公开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**</a:t>
            </a:r>
            <a:r>
              <a:rPr lang="zh-CN" altLang="en-US" sz="800">
                <a:solidFill>
                  <a:srgbClr val="D4D4D4"/>
                </a:solidFill>
              </a:rPr>
              <a:t>备选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：引用行业平均水平，并在报告中注明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基于行业均值估算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3**</a:t>
            </a:r>
            <a:r>
              <a:rPr lang="zh-CN" altLang="en-US" sz="800">
                <a:solidFill>
                  <a:srgbClr val="D4D4D4"/>
                </a:solidFill>
              </a:rPr>
              <a:t>：三天内无法完成高质量初稿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**</a:t>
            </a:r>
            <a:r>
              <a:rPr lang="zh-CN" altLang="en-US" sz="800">
                <a:solidFill>
                  <a:srgbClr val="D4D4D4"/>
                </a:solidFill>
              </a:rPr>
              <a:t>备选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：优先保证核心章节（执行摘要、市场现状、趋势判断）质量，可将案例章节精简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**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4**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生成内容存在幻觉风险，引用不实数据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**</a:t>
            </a:r>
            <a:r>
              <a:rPr lang="zh-CN" altLang="en-US" sz="800">
                <a:solidFill>
                  <a:srgbClr val="D4D4D4"/>
                </a:solidFill>
              </a:rPr>
              <a:t>备选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：所有数据需交叉验证，至少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个独立来源确认；涉及关键决策数据标注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待客户确认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你认为最难的一步是什么？为什么？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最难的一步是</a:t>
            </a:r>
            <a:r>
              <a:rPr lang="en-US" altLang="zh-CN" sz="800">
                <a:solidFill>
                  <a:srgbClr val="D4D4D4"/>
                </a:solidFill>
              </a:rPr>
              <a:t> Step 6</a:t>
            </a:r>
            <a:r>
              <a:rPr lang="zh-CN" altLang="en-US" sz="800">
                <a:solidFill>
                  <a:srgbClr val="D4D4D4"/>
                </a:solidFill>
              </a:rPr>
              <a:t>（报告初稿撰写）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原因如下：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**</a:t>
            </a:r>
            <a:r>
              <a:rPr lang="zh-CN" altLang="en-US" sz="800">
                <a:solidFill>
                  <a:srgbClr val="D4D4D4"/>
                </a:solidFill>
              </a:rPr>
              <a:t>多源信息整合难度高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：需要将政策数据、市场规模、企业案例、技术供应商信息融合为连贯叙事，任何割裂都会降低可读性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**</a:t>
            </a:r>
            <a:r>
              <a:rPr lang="zh-CN" altLang="en-US" sz="800">
                <a:solidFill>
                  <a:srgbClr val="D4D4D4"/>
                </a:solidFill>
              </a:rPr>
              <a:t>高管阅读习惯匹配难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时间极有限，需要在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字内同时做到：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- </a:t>
            </a:r>
            <a:r>
              <a:rPr lang="zh-CN" altLang="en-US" sz="800">
                <a:solidFill>
                  <a:srgbClr val="D4D4D4"/>
                </a:solidFill>
              </a:rPr>
              <a:t>结论先行（</a:t>
            </a:r>
            <a:r>
              <a:rPr lang="en-US" altLang="zh-CN" sz="800">
                <a:solidFill>
                  <a:srgbClr val="D4D4D4"/>
                </a:solidFill>
              </a:rPr>
              <a:t>Executive Summary</a:t>
            </a:r>
            <a:r>
              <a:rPr lang="zh-CN" altLang="en-US" sz="800">
                <a:solidFill>
                  <a:srgbClr val="D4D4D4"/>
                </a:solidFill>
              </a:rPr>
              <a:t>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- </a:t>
            </a:r>
            <a:r>
              <a:rPr lang="zh-CN" altLang="en-US" sz="800">
                <a:solidFill>
                  <a:srgbClr val="D4D4D4"/>
                </a:solidFill>
              </a:rPr>
              <a:t>数据驱动但不过度技术化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- </a:t>
            </a:r>
            <a:r>
              <a:rPr lang="zh-CN" altLang="en-US" sz="800">
                <a:solidFill>
                  <a:srgbClr val="D4D4D4"/>
                </a:solidFill>
              </a:rPr>
              <a:t>兼顾战略洞察与可操作建议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**</a:t>
            </a:r>
            <a:r>
              <a:rPr lang="zh-CN" altLang="en-US" sz="800">
                <a:solidFill>
                  <a:srgbClr val="D4D4D4"/>
                </a:solidFill>
              </a:rPr>
              <a:t>数据</a:t>
            </a:r>
            <a:r>
              <a:rPr lang="en-US" altLang="zh-CN" sz="800">
                <a:solidFill>
                  <a:srgbClr val="D4D4D4"/>
                </a:solidFill>
              </a:rPr>
              <a:t>-</a:t>
            </a:r>
            <a:r>
              <a:rPr lang="zh-CN" altLang="en-US" sz="800">
                <a:solidFill>
                  <a:srgbClr val="D4D4D4"/>
                </a:solidFill>
              </a:rPr>
              <a:t>观点平衡难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字既要展示数据支撑（增强可信度），又要避免变成数据堆砌，需要精心设计信息密度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4. **</a:t>
            </a:r>
            <a:r>
              <a:rPr lang="zh-CN" altLang="en-US" sz="800">
                <a:solidFill>
                  <a:srgbClr val="D4D4D4"/>
                </a:solidFill>
              </a:rPr>
              <a:t>趋势判断需胆识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：不仅汇总已有数据，还需给出前瞻性判断，这要求在有限调研时间内形成有力观点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建议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：将</a:t>
            </a:r>
            <a:r>
              <a:rPr lang="en-US" altLang="zh-CN" sz="800">
                <a:solidFill>
                  <a:srgbClr val="D4D4D4"/>
                </a:solidFill>
              </a:rPr>
              <a:t>Step 6</a:t>
            </a:r>
            <a:r>
              <a:rPr lang="zh-CN" altLang="en-US" sz="800">
                <a:solidFill>
                  <a:srgbClr val="D4D4D4"/>
                </a:solidFill>
              </a:rPr>
              <a:t>拆解为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先写摘要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再写正文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最后补图表说明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，用倒序写作法提高效率。</a:t>
            </a: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altLang="zh-CN" sz="1800" dirty="0"/>
              <a:t>AI Agent</a:t>
            </a:r>
            <a:r>
              <a:rPr lang="zh-CN" altLang="en-US" sz="1800" dirty="0"/>
              <a:t>任务规划</a:t>
            </a:r>
            <a:endParaRPr lang="zh-CN" altLang="en-US" sz="1800" dirty="0"/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7164705" y="67310"/>
            <a:ext cx="1163955" cy="6870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75895" y="828675"/>
            <a:ext cx="883285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85750" y="987425"/>
            <a:ext cx="4206240" cy="2567051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执行</a:t>
            </a:r>
            <a:r>
              <a:rPr lang="en-US" altLang="zh-CN" sz="800">
                <a:solidFill>
                  <a:srgbClr val="D4D4D4"/>
                </a:solidFill>
              </a:rPr>
              <a:t>Plan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1: </a:t>
            </a:r>
            <a:r>
              <a:rPr lang="zh-CN" altLang="en-US" sz="800">
                <a:solidFill>
                  <a:srgbClr val="D4D4D4"/>
                </a:solidFill>
              </a:rPr>
              <a:t>需求分析与报告框架设计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目标：明确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关注的核心问题，设计报告整体框架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"2024</a:t>
            </a:r>
            <a:r>
              <a:rPr lang="zh-CN" altLang="en-US" sz="800">
                <a:solidFill>
                  <a:srgbClr val="D4D4D4"/>
                </a:solidFill>
              </a:rPr>
              <a:t>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投资</a:t>
            </a:r>
            <a:r>
              <a:rPr lang="en-US" altLang="zh-CN" sz="800">
                <a:solidFill>
                  <a:srgbClr val="D4D4D4"/>
                </a:solidFill>
              </a:rPr>
              <a:t> CEO</a:t>
            </a:r>
            <a:r>
              <a:rPr lang="zh-CN" altLang="en-US" sz="800">
                <a:solidFill>
                  <a:srgbClr val="D4D4D4"/>
                </a:solidFill>
              </a:rPr>
              <a:t>关注点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制造业数字化转型</a:t>
            </a:r>
            <a:r>
              <a:rPr lang="en-US" altLang="zh-CN" sz="800">
                <a:solidFill>
                  <a:srgbClr val="D4D4D4"/>
                </a:solidFill>
              </a:rPr>
              <a:t> ROI </a:t>
            </a:r>
            <a:r>
              <a:rPr lang="zh-CN" altLang="en-US" sz="800">
                <a:solidFill>
                  <a:srgbClr val="D4D4D4"/>
                </a:solidFill>
              </a:rPr>
              <a:t>案例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</a:t>
            </a:r>
            <a:r>
              <a:rPr lang="en-US" altLang="zh-CN" sz="800">
                <a:solidFill>
                  <a:srgbClr val="D4D4D4"/>
                </a:solidFill>
              </a:rPr>
              <a:t> KPI</a:t>
            </a:r>
            <a:r>
              <a:rPr lang="zh-CN" altLang="en-US" sz="800">
                <a:solidFill>
                  <a:srgbClr val="D4D4D4"/>
                </a:solidFill>
              </a:rPr>
              <a:t>指标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预计产出：报告大纲（</a:t>
            </a:r>
            <a:r>
              <a:rPr lang="en-US" altLang="zh-CN" sz="800">
                <a:solidFill>
                  <a:srgbClr val="D4D4D4"/>
                </a:solidFill>
              </a:rPr>
              <a:t>8</a:t>
            </a:r>
            <a:r>
              <a:rPr lang="zh-CN" altLang="en-US" sz="800">
                <a:solidFill>
                  <a:srgbClr val="D4D4D4"/>
                </a:solidFill>
              </a:rPr>
              <a:t>个主要章节）</a:t>
            </a:r>
            <a:r>
              <a:rPr lang="en-US" altLang="zh-CN" sz="800">
                <a:solidFill>
                  <a:srgbClr val="D4D4D4"/>
                </a:solidFill>
              </a:rPr>
              <a:t>+ </a:t>
            </a:r>
            <a:r>
              <a:rPr lang="zh-CN" altLang="en-US" sz="800">
                <a:solidFill>
                  <a:srgbClr val="D4D4D4"/>
                </a:solidFill>
              </a:rPr>
              <a:t>关键问题清单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前置依赖：无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2: </a:t>
            </a:r>
            <a:r>
              <a:rPr lang="zh-CN" altLang="en-US" sz="800">
                <a:solidFill>
                  <a:srgbClr val="D4D4D4"/>
                </a:solidFill>
              </a:rPr>
              <a:t>数据收集与权威数据源识别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目标：收集</a:t>
            </a:r>
            <a:r>
              <a:rPr lang="en-US" altLang="zh-CN" sz="800">
                <a:solidFill>
                  <a:srgbClr val="D4D4D4"/>
                </a:solidFill>
              </a:rPr>
              <a:t>2023-2024</a:t>
            </a:r>
            <a:r>
              <a:rPr lang="zh-CN" altLang="en-US" sz="800">
                <a:solidFill>
                  <a:srgbClr val="D4D4D4"/>
                </a:solidFill>
              </a:rPr>
              <a:t>年制造业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应用的权威数据和案例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工信部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</a:t>
            </a:r>
            <a:r>
              <a:rPr lang="en-US" altLang="zh-CN" sz="800">
                <a:solidFill>
                  <a:srgbClr val="D4D4D4"/>
                </a:solidFill>
              </a:rPr>
              <a:t> 2024</a:t>
            </a:r>
            <a:r>
              <a:rPr lang="zh-CN" altLang="en-US" sz="800">
                <a:solidFill>
                  <a:srgbClr val="D4D4D4"/>
                </a:solidFill>
              </a:rPr>
              <a:t>统计报告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"IDC </a:t>
            </a:r>
            <a:r>
              <a:rPr lang="zh-CN" altLang="en-US" sz="800">
                <a:solidFill>
                  <a:srgbClr val="D4D4D4"/>
                </a:solidFill>
              </a:rPr>
              <a:t>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支出预测</a:t>
            </a:r>
            <a:r>
              <a:rPr lang="en-US" altLang="zh-CN" sz="800">
                <a:solidFill>
                  <a:srgbClr val="D4D4D4"/>
                </a:solidFill>
              </a:rPr>
              <a:t> 2024"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德勤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普华永道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调研报告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阿里巴巴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腾讯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华为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案例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预计产出：数据清单（</a:t>
            </a:r>
            <a:r>
              <a:rPr lang="en-US" altLang="zh-CN" sz="800">
                <a:solidFill>
                  <a:srgbClr val="D4D4D4"/>
                </a:solidFill>
              </a:rPr>
              <a:t>50+</a:t>
            </a:r>
            <a:r>
              <a:rPr lang="zh-CN" altLang="en-US" sz="800">
                <a:solidFill>
                  <a:srgbClr val="D4D4D4"/>
                </a:solidFill>
              </a:rPr>
              <a:t>核心数据点）</a:t>
            </a:r>
            <a:r>
              <a:rPr lang="en-US" altLang="zh-CN" sz="800">
                <a:solidFill>
                  <a:srgbClr val="D4D4D4"/>
                </a:solidFill>
              </a:rPr>
              <a:t>+ </a:t>
            </a:r>
            <a:r>
              <a:rPr lang="zh-CN" altLang="en-US" sz="800">
                <a:solidFill>
                  <a:srgbClr val="D4D4D4"/>
                </a:solidFill>
              </a:rPr>
              <a:t>权威报告库（</a:t>
            </a:r>
            <a:r>
              <a:rPr lang="en-US" altLang="zh-CN" sz="800">
                <a:solidFill>
                  <a:srgbClr val="D4D4D4"/>
                </a:solidFill>
              </a:rPr>
              <a:t>20+</a:t>
            </a:r>
            <a:r>
              <a:rPr lang="zh-CN" altLang="en-US" sz="800">
                <a:solidFill>
                  <a:srgbClr val="D4D4D4"/>
                </a:solidFill>
              </a:rPr>
              <a:t>份）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1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3: </a:t>
            </a:r>
            <a:r>
              <a:rPr lang="zh-CN" altLang="en-US" sz="800">
                <a:solidFill>
                  <a:srgbClr val="D4D4D4"/>
                </a:solidFill>
              </a:rPr>
              <a:t>行业细分分析与标杆案例研究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目标：深度分析汽车、电子、钢铁、纺织等细分行业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应用情况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汽车制造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质检</a:t>
            </a:r>
            <a:r>
              <a:rPr lang="en-US" altLang="zh-CN" sz="800">
                <a:solidFill>
                  <a:srgbClr val="D4D4D4"/>
                </a:solidFill>
              </a:rPr>
              <a:t> 2024</a:t>
            </a:r>
            <a:r>
              <a:rPr lang="zh-CN" altLang="en-US" sz="800">
                <a:solidFill>
                  <a:srgbClr val="D4D4D4"/>
                </a:solidFill>
              </a:rPr>
              <a:t>案例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电子制造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预测性维护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钢铁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能源管理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效益数据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纺织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个性化定制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成功案例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5</a:t>
            </a:r>
            <a:r>
              <a:rPr lang="zh-CN" altLang="en-US" sz="800">
                <a:solidFill>
                  <a:srgbClr val="D4D4D4"/>
                </a:solidFill>
              </a:rPr>
              <a:t>个细分行业分析报告</a:t>
            </a:r>
            <a:r>
              <a:rPr lang="en-US" altLang="zh-CN" sz="800">
                <a:solidFill>
                  <a:srgbClr val="D4D4D4"/>
                </a:solidFill>
              </a:rPr>
              <a:t> + 15</a:t>
            </a:r>
            <a:r>
              <a:rPr lang="zh-CN" altLang="en-US" sz="800">
                <a:solidFill>
                  <a:srgbClr val="D4D4D4"/>
                </a:solidFill>
              </a:rPr>
              <a:t>个标杆案例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2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4: ROI</a:t>
            </a:r>
            <a:r>
              <a:rPr lang="zh-CN" altLang="en-US" sz="800">
                <a:solidFill>
                  <a:srgbClr val="D4D4D4"/>
                </a:solidFill>
              </a:rPr>
              <a:t>分析与商业价值量化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目标：量化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应用的投资回报率，提供</a:t>
            </a:r>
            <a:r>
              <a:rPr lang="en-US" altLang="zh-CN" sz="800">
                <a:solidFill>
                  <a:srgbClr val="D4D4D4"/>
                </a:solidFill>
              </a:rPr>
              <a:t>CFO</a:t>
            </a:r>
            <a:r>
              <a:rPr lang="zh-CN" altLang="en-US" sz="800">
                <a:solidFill>
                  <a:srgbClr val="D4D4D4"/>
                </a:solidFill>
              </a:rPr>
              <a:t>关注的财务数据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投资回报率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统计数据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"AI</a:t>
            </a:r>
            <a:r>
              <a:rPr lang="zh-CN" altLang="en-US" sz="800">
                <a:solidFill>
                  <a:srgbClr val="D4D4D4"/>
                </a:solidFill>
              </a:rPr>
              <a:t>质检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成本节约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具体案例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预测性维护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减少停机时间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效益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分析模型</a:t>
            </a:r>
            <a:r>
              <a:rPr lang="en-US" altLang="zh-CN" sz="800">
                <a:solidFill>
                  <a:srgbClr val="D4D4D4"/>
                </a:solidFill>
              </a:rPr>
              <a:t> + 20</a:t>
            </a:r>
            <a:r>
              <a:rPr lang="zh-CN" altLang="en-US" sz="800">
                <a:solidFill>
                  <a:srgbClr val="D4D4D4"/>
                </a:solidFill>
              </a:rPr>
              <a:t>个量化效益案例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3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5: </a:t>
            </a:r>
            <a:r>
              <a:rPr lang="zh-CN" altLang="en-US" sz="800">
                <a:solidFill>
                  <a:srgbClr val="D4D4D4"/>
                </a:solidFill>
              </a:rPr>
              <a:t>趋势预测与战略建议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目标：基于数据预测</a:t>
            </a:r>
            <a:r>
              <a:rPr lang="en-US" altLang="zh-CN" sz="800">
                <a:solidFill>
                  <a:srgbClr val="D4D4D4"/>
                </a:solidFill>
              </a:rPr>
              <a:t>2025-2027</a:t>
            </a:r>
            <a:r>
              <a:rPr lang="zh-CN" altLang="en-US" sz="800">
                <a:solidFill>
                  <a:srgbClr val="D4D4D4"/>
                </a:solidFill>
              </a:rPr>
              <a:t>年发展趋势，提出战略建议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"2025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技术趋势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预测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生成式</a:t>
            </a:r>
            <a:r>
              <a:rPr lang="en-US" altLang="zh-CN" sz="800">
                <a:solidFill>
                  <a:srgbClr val="D4D4D4"/>
                </a:solidFill>
              </a:rPr>
              <a:t>AI </a:t>
            </a:r>
            <a:r>
              <a:rPr lang="zh-CN" altLang="en-US" sz="800">
                <a:solidFill>
                  <a:srgbClr val="D4D4D4"/>
                </a:solidFill>
              </a:rPr>
              <a:t>制造业应用场景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数字孪生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工业元宇宙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发展预测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年趋势预测报告</a:t>
            </a:r>
            <a:r>
              <a:rPr lang="en-US" altLang="zh-CN" sz="800">
                <a:solidFill>
                  <a:srgbClr val="D4D4D4"/>
                </a:solidFill>
              </a:rPr>
              <a:t> + 10</a:t>
            </a:r>
            <a:r>
              <a:rPr lang="zh-CN" altLang="en-US" sz="800">
                <a:solidFill>
                  <a:srgbClr val="D4D4D4"/>
                </a:solidFill>
              </a:rPr>
              <a:t>条战略建议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4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6: </a:t>
            </a:r>
            <a:r>
              <a:rPr lang="zh-CN" altLang="en-US" sz="800">
                <a:solidFill>
                  <a:srgbClr val="D4D4D4"/>
                </a:solidFill>
              </a:rPr>
              <a:t>报告撰写与可视化设计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目标：完成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字报告正文，设计</a:t>
            </a:r>
            <a:r>
              <a:rPr lang="en-US" altLang="zh-CN" sz="800">
                <a:solidFill>
                  <a:srgbClr val="D4D4D4"/>
                </a:solidFill>
              </a:rPr>
              <a:t>20</a:t>
            </a:r>
            <a:r>
              <a:rPr lang="zh-CN" altLang="en-US" sz="800">
                <a:solidFill>
                  <a:srgbClr val="D4D4D4"/>
                </a:solidFill>
              </a:rPr>
              <a:t>个核心图表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整合前</a:t>
            </a:r>
            <a:r>
              <a:rPr lang="en-US" altLang="zh-CN" sz="800">
                <a:solidFill>
                  <a:srgbClr val="D4D4D4"/>
                </a:solidFill>
              </a:rPr>
              <a:t>5</a:t>
            </a:r>
            <a:r>
              <a:rPr lang="zh-CN" altLang="en-US" sz="800">
                <a:solidFill>
                  <a:srgbClr val="D4D4D4"/>
                </a:solidFill>
              </a:rPr>
              <a:t>步所有数据和分析结果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图表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数据可视化最佳实践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预计产出：完整报告（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字）</a:t>
            </a:r>
            <a:r>
              <a:rPr lang="en-US" altLang="zh-CN" sz="800">
                <a:solidFill>
                  <a:srgbClr val="D4D4D4"/>
                </a:solidFill>
              </a:rPr>
              <a:t>+ 20</a:t>
            </a:r>
            <a:r>
              <a:rPr lang="zh-CN" altLang="en-US" sz="800">
                <a:solidFill>
                  <a:srgbClr val="D4D4D4"/>
                </a:solidFill>
              </a:rPr>
              <a:t>个专业图表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5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7: </a:t>
            </a:r>
            <a:r>
              <a:rPr lang="zh-CN" altLang="en-US" sz="800">
                <a:solidFill>
                  <a:srgbClr val="D4D4D4"/>
                </a:solidFill>
              </a:rPr>
              <a:t>高管摘要与关键信息提炼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目标：撰写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页高管摘要，突出关键数据和行动建议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基于</a:t>
            </a:r>
            <a:r>
              <a:rPr lang="en-US" altLang="zh-CN" sz="800">
                <a:solidFill>
                  <a:srgbClr val="D4D4D4"/>
                </a:solidFill>
              </a:rPr>
              <a:t>Step 6</a:t>
            </a:r>
            <a:r>
              <a:rPr lang="zh-CN" altLang="en-US" sz="800">
                <a:solidFill>
                  <a:srgbClr val="D4D4D4"/>
                </a:solidFill>
              </a:rPr>
              <a:t>完整报告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WebSearch: </a:t>
            </a:r>
            <a:r>
              <a:rPr lang="zh-CN" altLang="en-US" sz="800">
                <a:solidFill>
                  <a:srgbClr val="D4D4D4"/>
                </a:solidFill>
              </a:rPr>
              <a:t>搜索</a:t>
            </a:r>
            <a:r>
              <a:rPr lang="en-US" altLang="zh-CN" sz="800">
                <a:solidFill>
                  <a:srgbClr val="D4D4D4"/>
                </a:solidFill>
              </a:rPr>
              <a:t>"CEO</a:t>
            </a:r>
            <a:r>
              <a:rPr lang="zh-CN" altLang="en-US" sz="800">
                <a:solidFill>
                  <a:srgbClr val="D4D4D4"/>
                </a:solidFill>
              </a:rPr>
              <a:t>决策报告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写作技巧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页高管摘要</a:t>
            </a:r>
            <a:r>
              <a:rPr lang="en-US" altLang="zh-CN" sz="800">
                <a:solidFill>
                  <a:srgbClr val="D4D4D4"/>
                </a:solidFill>
              </a:rPr>
              <a:t> + 10</a:t>
            </a:r>
            <a:r>
              <a:rPr lang="zh-CN" altLang="en-US" sz="800">
                <a:solidFill>
                  <a:srgbClr val="D4D4D4"/>
                </a:solidFill>
              </a:rPr>
              <a:t>个关键决策点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6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8: </a:t>
            </a:r>
            <a:r>
              <a:rPr lang="zh-CN" altLang="en-US" sz="800">
                <a:solidFill>
                  <a:srgbClr val="D4D4D4"/>
                </a:solidFill>
              </a:rPr>
              <a:t>质量检查与最终优化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目标：确保数据准确性，优化表达，符合高管阅读习惯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交叉验证所有数据来源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检查逻辑一致性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预计产出：最终报告</a:t>
            </a:r>
            <a:r>
              <a:rPr lang="en-US" altLang="zh-CN" sz="800">
                <a:solidFill>
                  <a:srgbClr val="D4D4D4"/>
                </a:solidFill>
              </a:rPr>
              <a:t> + </a:t>
            </a:r>
            <a:r>
              <a:rPr lang="zh-CN" altLang="en-US" sz="800">
                <a:solidFill>
                  <a:srgbClr val="D4D4D4"/>
                </a:solidFill>
              </a:rPr>
              <a:t>数据来源清单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7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关键决策点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**</a:t>
            </a:r>
            <a:r>
              <a:rPr lang="zh-CN" altLang="en-US" sz="800">
                <a:solidFill>
                  <a:srgbClr val="D4D4D4"/>
                </a:solidFill>
              </a:rPr>
              <a:t>数据权威性</a:t>
            </a:r>
            <a:r>
              <a:rPr lang="en-US" altLang="zh-CN" sz="800">
                <a:solidFill>
                  <a:srgbClr val="D4D4D4"/>
                </a:solidFill>
              </a:rPr>
              <a:t> vs </a:t>
            </a:r>
            <a:r>
              <a:rPr lang="zh-CN" altLang="en-US" sz="800">
                <a:solidFill>
                  <a:srgbClr val="D4D4D4"/>
                </a:solidFill>
              </a:rPr>
              <a:t>时效性权衡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：优先选择工信部、</a:t>
            </a:r>
            <a:r>
              <a:rPr lang="en-US" altLang="zh-CN" sz="800">
                <a:solidFill>
                  <a:srgbClr val="D4D4D4"/>
                </a:solidFill>
              </a:rPr>
              <a:t>IDC</a:t>
            </a:r>
            <a:r>
              <a:rPr lang="zh-CN" altLang="en-US" sz="800">
                <a:solidFill>
                  <a:srgbClr val="D4D4D4"/>
                </a:solidFill>
              </a:rPr>
              <a:t>、德勤等权威机构</a:t>
            </a:r>
            <a:r>
              <a:rPr lang="en-US" altLang="zh-CN" sz="800">
                <a:solidFill>
                  <a:srgbClr val="D4D4D4"/>
                </a:solidFill>
              </a:rPr>
              <a:t>2024</a:t>
            </a:r>
            <a:r>
              <a:rPr lang="zh-CN" altLang="en-US" sz="800">
                <a:solidFill>
                  <a:srgbClr val="D4D4D4"/>
                </a:solidFill>
              </a:rPr>
              <a:t>年数据，如缺乏则采用</a:t>
            </a:r>
            <a:r>
              <a:rPr lang="en-US" altLang="zh-CN" sz="800">
                <a:solidFill>
                  <a:srgbClr val="D4D4D4"/>
                </a:solidFill>
              </a:rPr>
              <a:t>2023</a:t>
            </a:r>
            <a:r>
              <a:rPr lang="zh-CN" altLang="en-US" sz="800">
                <a:solidFill>
                  <a:srgbClr val="D4D4D4"/>
                </a:solidFill>
              </a:rPr>
              <a:t>年数据并注明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**</a:t>
            </a:r>
            <a:r>
              <a:rPr lang="zh-CN" altLang="en-US" sz="800">
                <a:solidFill>
                  <a:srgbClr val="D4D4D4"/>
                </a:solidFill>
              </a:rPr>
              <a:t>案例选择标准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：优先选择上市公司、行业龙头、有具体量化数据的案例，避免空洞的概念性案例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**</a:t>
            </a:r>
            <a:r>
              <a:rPr lang="zh-CN" altLang="en-US" sz="800">
                <a:solidFill>
                  <a:srgbClr val="D4D4D4"/>
                </a:solidFill>
              </a:rPr>
              <a:t>技术深度把握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：技术描述要通俗易懂，避免过多技术术语，重点突出商业价值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风险与备选方案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：权威数据获取困难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备选：采用多个来源交叉验证，明确标注数据置信度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：案例企业不愿透露具体数据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备选：采用公开财报、行业会议资料，或匿名化处理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：时间紧张无法深度调研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备选：采用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快调研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深分析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模式，重点分析已有数据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：趋势预测准确性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备选：采用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情景分析法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，给出乐观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中性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悲观三种预测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你认为最难的一步是什么？为什么？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最难的是</a:t>
            </a:r>
            <a:r>
              <a:rPr lang="en-US" altLang="zh-CN" sz="800">
                <a:solidFill>
                  <a:srgbClr val="D4D4D4"/>
                </a:solidFill>
              </a:rPr>
              <a:t>Step 4</a:t>
            </a:r>
            <a:r>
              <a:rPr lang="zh-CN" altLang="en-US" sz="800">
                <a:solidFill>
                  <a:srgbClr val="D4D4D4"/>
                </a:solidFill>
              </a:rPr>
              <a:t>（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分析与商业价值量化）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，原因如下：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**</a:t>
            </a:r>
            <a:r>
              <a:rPr lang="zh-CN" altLang="en-US" sz="800">
                <a:solidFill>
                  <a:srgbClr val="D4D4D4"/>
                </a:solidFill>
              </a:rPr>
              <a:t>数据稀缺性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：大多数企业不愿公开具体的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投资回报数据，尤其是失败案例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**</a:t>
            </a:r>
            <a:r>
              <a:rPr lang="zh-CN" altLang="en-US" sz="800">
                <a:solidFill>
                  <a:srgbClr val="D4D4D4"/>
                </a:solidFill>
              </a:rPr>
              <a:t>归因复杂性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：制造业效益提升往往是多因素作用，很难将收益完全归因于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**</a:t>
            </a:r>
            <a:r>
              <a:rPr lang="zh-CN" altLang="en-US" sz="800">
                <a:solidFill>
                  <a:srgbClr val="D4D4D4"/>
                </a:solidFill>
              </a:rPr>
              <a:t>时间跨度长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投资回报通常需要</a:t>
            </a:r>
            <a:r>
              <a:rPr lang="en-US" altLang="zh-CN" sz="800">
                <a:solidFill>
                  <a:srgbClr val="D4D4D4"/>
                </a:solidFill>
              </a:rPr>
              <a:t>2-3</a:t>
            </a:r>
            <a:r>
              <a:rPr lang="zh-CN" altLang="en-US" sz="800">
                <a:solidFill>
                  <a:srgbClr val="D4D4D4"/>
                </a:solidFill>
              </a:rPr>
              <a:t>年才能充分体现，短期数据可能不具代表性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4. **</a:t>
            </a:r>
            <a:r>
              <a:rPr lang="zh-CN" altLang="en-US" sz="800">
                <a:solidFill>
                  <a:srgbClr val="D4D4D4"/>
                </a:solidFill>
              </a:rPr>
              <a:t>行业差异性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：不同制造业细分行业的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差异巨大，难以建立通用模型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应对策略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采用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总拥有成本（</a:t>
            </a:r>
            <a:r>
              <a:rPr lang="en-US" altLang="zh-CN" sz="800">
                <a:solidFill>
                  <a:srgbClr val="D4D4D4"/>
                </a:solidFill>
              </a:rPr>
              <a:t>TCO</a:t>
            </a:r>
            <a:r>
              <a:rPr lang="zh-CN" altLang="en-US" sz="800">
                <a:solidFill>
                  <a:srgbClr val="D4D4D4"/>
                </a:solidFill>
              </a:rPr>
              <a:t>）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分析方法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重点收集有对比数据的前后案例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建立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软收益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硬收益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双重评估体系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明确标注数据来源和计算假设</a:t>
            </a:r>
            <a:endParaRPr lang="zh-CN" altLang="en-US" sz="800">
              <a:solidFill>
                <a:srgbClr val="D4D4D4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7236460" y="182880"/>
            <a:ext cx="892175" cy="444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altLang="zh-CN" sz="1800" dirty="0"/>
              <a:t>AI Agent</a:t>
            </a:r>
            <a:r>
              <a:rPr lang="zh-CN" altLang="en-US" sz="1800" dirty="0"/>
              <a:t>任务规划</a:t>
            </a:r>
            <a:endParaRPr lang="zh-CN" altLang="en-US" sz="1800" dirty="0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75895" y="828675"/>
            <a:ext cx="883285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611505" y="987425"/>
            <a:ext cx="4728845" cy="17591405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 </a:t>
            </a:r>
            <a:r>
              <a:rPr lang="zh-CN" altLang="en-US" sz="800">
                <a:solidFill>
                  <a:srgbClr val="D4D4D4"/>
                </a:solidFill>
              </a:rPr>
              <a:t>《中国制造业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应用现状与趋势》行业分析报告执行计划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执行</a:t>
            </a:r>
            <a:r>
              <a:rPr lang="en-US" altLang="zh-CN" sz="800">
                <a:solidFill>
                  <a:srgbClr val="D4D4D4"/>
                </a:solidFill>
              </a:rPr>
              <a:t>Plan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1: </a:t>
            </a:r>
            <a:r>
              <a:rPr lang="zh-CN" altLang="en-US" sz="800">
                <a:solidFill>
                  <a:srgbClr val="D4D4D4"/>
                </a:solidFill>
              </a:rPr>
              <a:t>行业背景与市场调研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目标：收集中国制造业整体概况、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技术发展现状、政策环境等基础信息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数据源：国家统计局数据、工信部报告、学术论文数据库、行业白皮书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预计产出：制造业规模数据、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技术成熟度曲线、政策支持框架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前置依赖：无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2: </a:t>
            </a:r>
            <a:r>
              <a:rPr lang="zh-CN" altLang="en-US" sz="800">
                <a:solidFill>
                  <a:srgbClr val="D4D4D4"/>
                </a:solidFill>
              </a:rPr>
              <a:t>数据收集与验证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目标：获取权威的制造业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应用数据，包括渗透率、投资规模、应用场景分布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r>
              <a:rPr lang="en-US" altLang="zh-CN" sz="800">
                <a:solidFill>
                  <a:srgbClr val="D4D4D4"/>
                </a:solidFill>
              </a:rPr>
              <a:t>IDC/Gartner</a:t>
            </a:r>
            <a:r>
              <a:rPr lang="zh-CN" altLang="en-US" sz="800">
                <a:solidFill>
                  <a:srgbClr val="D4D4D4"/>
                </a:solidFill>
              </a:rPr>
              <a:t>报告、上市公司财报、行业协会数据、专家访谈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预计产出：量化数据表格、应用场景分类矩阵、投资趋势图表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1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3: </a:t>
            </a:r>
            <a:r>
              <a:rPr lang="zh-CN" altLang="en-US" sz="800">
                <a:solidFill>
                  <a:srgbClr val="D4D4D4"/>
                </a:solidFill>
              </a:rPr>
              <a:t>典型案例研究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目标：深入分析</a:t>
            </a:r>
            <a:r>
              <a:rPr lang="en-US" altLang="zh-CN" sz="800">
                <a:solidFill>
                  <a:srgbClr val="D4D4D4"/>
                </a:solidFill>
              </a:rPr>
              <a:t>3-5</a:t>
            </a:r>
            <a:r>
              <a:rPr lang="zh-CN" altLang="en-US" sz="800">
                <a:solidFill>
                  <a:srgbClr val="D4D4D4"/>
                </a:solidFill>
              </a:rPr>
              <a:t>个典型制造业企业的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应用成功案例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数据源：企业官网、年报、案例研究、专业媒体报导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预计产出：案例深度分析、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测算、实施路径总结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2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4: </a:t>
            </a:r>
            <a:r>
              <a:rPr lang="zh-CN" altLang="en-US" sz="800">
                <a:solidFill>
                  <a:srgbClr val="D4D4D4"/>
                </a:solidFill>
              </a:rPr>
              <a:t>趋势分析与预测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目标：基于现有数据预测未来</a:t>
            </a:r>
            <a:r>
              <a:rPr lang="en-US" altLang="zh-CN" sz="800">
                <a:solidFill>
                  <a:srgbClr val="D4D4D4"/>
                </a:solidFill>
              </a:rPr>
              <a:t>3-5</a:t>
            </a:r>
            <a:r>
              <a:rPr lang="zh-CN" altLang="en-US" sz="800">
                <a:solidFill>
                  <a:srgbClr val="D4D4D4"/>
                </a:solidFill>
              </a:rPr>
              <a:t>年制造业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发展趋势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数据源：历史数据回归分析、技术发展曲线、专家观点汇总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预计产出：趋势预测模型、发展路径图、关键时间节点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3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5: </a:t>
            </a:r>
            <a:r>
              <a:rPr lang="zh-CN" altLang="en-US" sz="800">
                <a:solidFill>
                  <a:srgbClr val="D4D4D4"/>
                </a:solidFill>
              </a:rPr>
              <a:t>初稿撰写与结构化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目标：按照高管阅读习惯组织内容，确保逻辑清晰、数据支撑充分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r>
              <a:rPr lang="en-US" altLang="zh-CN" sz="800">
                <a:solidFill>
                  <a:srgbClr val="D4D4D4"/>
                </a:solidFill>
              </a:rPr>
              <a:t>Word/Pages</a:t>
            </a:r>
            <a:r>
              <a:rPr lang="zh-CN" altLang="en-US" sz="800">
                <a:solidFill>
                  <a:srgbClr val="D4D4D4"/>
                </a:solidFill>
              </a:rPr>
              <a:t>文档工具、图表制作软件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字初稿，包含执行摘要、正文、结论建议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4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6: </a:t>
            </a:r>
            <a:r>
              <a:rPr lang="zh-CN" altLang="en-US" sz="800">
                <a:solidFill>
                  <a:srgbClr val="D4D4D4"/>
                </a:solidFill>
              </a:rPr>
              <a:t>数据可视化优化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目标：将关键数据转化为高管易理解的图表和</a:t>
            </a:r>
            <a:r>
              <a:rPr lang="en-US" altLang="zh-CN" sz="800">
                <a:solidFill>
                  <a:srgbClr val="D4D4D4"/>
                </a:solidFill>
              </a:rPr>
              <a:t>infographic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r>
              <a:rPr lang="en-US" altLang="zh-CN" sz="800">
                <a:solidFill>
                  <a:srgbClr val="D4D4D4"/>
                </a:solidFill>
              </a:rPr>
              <a:t>Tableau/Power BI</a:t>
            </a:r>
            <a:r>
              <a:rPr lang="zh-CN" altLang="en-US" sz="800">
                <a:solidFill>
                  <a:srgbClr val="D4D4D4"/>
                </a:solidFill>
              </a:rPr>
              <a:t>、图表设计工具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10-15</a:t>
            </a:r>
            <a:r>
              <a:rPr lang="zh-CN" altLang="en-US" sz="800">
                <a:solidFill>
                  <a:srgbClr val="D4D4D4"/>
                </a:solidFill>
              </a:rPr>
              <a:t>个专业数据可视化图表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5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7: </a:t>
            </a:r>
            <a:r>
              <a:rPr lang="zh-CN" altLang="en-US" sz="800">
                <a:solidFill>
                  <a:srgbClr val="D4D4D4"/>
                </a:solidFill>
              </a:rPr>
              <a:t>专业审校与润色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目标：确保报告专业性、数据准确性、语言精炼度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数据源：同行评审、专业编辑、数据验证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预计产出：最终审校版报告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Step 6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时间安排（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天倒计时）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Day 1: 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r>
              <a:rPr lang="en-US" altLang="zh-CN" sz="800">
                <a:solidFill>
                  <a:srgbClr val="D4D4D4"/>
                </a:solidFill>
              </a:rPr>
              <a:t>Step 1-3</a:t>
            </a:r>
            <a:r>
              <a:rPr lang="zh-CN" altLang="en-US" sz="800">
                <a:solidFill>
                  <a:srgbClr val="D4D4D4"/>
                </a:solidFill>
              </a:rPr>
              <a:t>（行业调研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数据收集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案例研究）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Day 2: 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r>
              <a:rPr lang="en-US" altLang="zh-CN" sz="800">
                <a:solidFill>
                  <a:srgbClr val="D4D4D4"/>
                </a:solidFill>
              </a:rPr>
              <a:t>Step 4-5</a:t>
            </a:r>
            <a:r>
              <a:rPr lang="zh-CN" altLang="en-US" sz="800">
                <a:solidFill>
                  <a:srgbClr val="D4D4D4"/>
                </a:solidFill>
              </a:rPr>
              <a:t>（趋势分析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初稿撰写）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Day 3: 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r>
              <a:rPr lang="en-US" altLang="zh-CN" sz="800">
                <a:solidFill>
                  <a:srgbClr val="D4D4D4"/>
                </a:solidFill>
              </a:rPr>
              <a:t>Step 6-7</a:t>
            </a:r>
            <a:r>
              <a:rPr lang="zh-CN" altLang="en-US" sz="800">
                <a:solidFill>
                  <a:srgbClr val="D4D4D4"/>
                </a:solidFill>
              </a:rPr>
              <a:t>（可视化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审校润色）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关键决策点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数据源选择：优先选择国家统计局、工信部等官方数据，确保权威性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案例代表性：选择不同细分行业（汽车、电子、机械等）的典型案例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</a:t>
            </a:r>
            <a:r>
              <a:rPr lang="zh-CN" altLang="en-US" sz="800">
                <a:solidFill>
                  <a:srgbClr val="D4D4D4"/>
                </a:solidFill>
              </a:rPr>
              <a:t>预测方法论：采用组合预测方法（时间序列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专家德尔菲法）提高准确性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4. </a:t>
            </a:r>
            <a:r>
              <a:rPr lang="zh-CN" altLang="en-US" sz="800">
                <a:solidFill>
                  <a:srgbClr val="D4D4D4"/>
                </a:solidFill>
              </a:rPr>
              <a:t>读者定位：始终以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决策视角组织内容，强调投资回报和战略价值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风险与备选方案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：数据获取困难或数据质量不佳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备选：采用多个数据源交叉验证，优先使用公开上市公司数据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：案例信息不够详细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备选：增加专家访谈或使用行业分析机构购买的报告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：预测偏差较大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备选：采用保守预测，增加敏感性分析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：时间紧张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备选：优先完成核心章节，可视化部分可适当简化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你认为最难的一步是什么？为什么？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最难的是</a:t>
            </a:r>
            <a:r>
              <a:rPr lang="en-US" altLang="zh-CN" sz="800">
                <a:solidFill>
                  <a:srgbClr val="D4D4D4"/>
                </a:solidFill>
              </a:rPr>
              <a:t>Step 2</a:t>
            </a:r>
            <a:r>
              <a:rPr lang="zh-CN" altLang="en-US" sz="800">
                <a:solidFill>
                  <a:srgbClr val="D4D4D4"/>
                </a:solidFill>
              </a:rPr>
              <a:t>的数据收集与验证</a:t>
            </a:r>
            <a:r>
              <a:rPr lang="en-US" altLang="zh-CN" sz="800">
                <a:solidFill>
                  <a:srgbClr val="D4D4D4"/>
                </a:solidFill>
              </a:rPr>
              <a:t>**</a:t>
            </a:r>
            <a:r>
              <a:rPr lang="zh-CN" altLang="en-US" sz="800">
                <a:solidFill>
                  <a:srgbClr val="D4D4D4"/>
                </a:solidFill>
              </a:rPr>
              <a:t>。原因如下：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应用数据相对分散，不同统计口径差异较大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需要区分</a:t>
            </a:r>
            <a:r>
              <a:rPr lang="en-US" altLang="zh-CN" sz="800">
                <a:solidFill>
                  <a:srgbClr val="D4D4D4"/>
                </a:solidFill>
              </a:rPr>
              <a:t>"AI</a:t>
            </a:r>
            <a:r>
              <a:rPr lang="zh-CN" altLang="en-US" sz="800">
                <a:solidFill>
                  <a:srgbClr val="D4D4D4"/>
                </a:solidFill>
              </a:rPr>
              <a:t>概念应用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与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实际产生价值的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</a:t>
            </a:r>
            <a:r>
              <a:rPr lang="zh-CN" altLang="en-US" sz="800">
                <a:solidFill>
                  <a:srgbClr val="D4D4D4"/>
                </a:solidFill>
              </a:rPr>
              <a:t>数据真实性验证需要多源交叉比对，耗时较长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4. </a:t>
            </a:r>
            <a:r>
              <a:rPr lang="zh-CN" altLang="en-US" sz="800">
                <a:solidFill>
                  <a:srgbClr val="D4D4D4"/>
                </a:solidFill>
              </a:rPr>
              <a:t>高管读者对数据准确性要求极高，任何误差都可能影响报告可信度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5. </a:t>
            </a:r>
            <a:r>
              <a:rPr lang="zh-CN" altLang="en-US" sz="800">
                <a:solidFill>
                  <a:srgbClr val="D4D4D4"/>
                </a:solidFill>
              </a:rPr>
              <a:t>需要平衡数据的时效性、权威性和可获得性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建议解决方案：建立数据质量评估框架，优先使用经过审计的上市公司数据，辅以行业协会的调研数据作为补充。</a:t>
            </a: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4</a:t>
            </a:r>
            <a:endParaRPr lang="en-US" sz="1100" dirty="0"/>
          </a:p>
        </p:txBody>
      </p:sp>
      <p:pic>
        <p:nvPicPr>
          <p:cNvPr id="10" name="图片 9"/>
          <p:cNvPicPr/>
          <p:nvPr/>
        </p:nvPicPr>
        <p:blipFill>
          <a:blip r:embed="rId1"/>
          <a:srcRect t="18492" b="18492"/>
          <a:stretch>
            <a:fillRect/>
          </a:stretch>
        </p:blipFill>
        <p:spPr>
          <a:xfrm>
            <a:off x="6779260" y="-12700"/>
            <a:ext cx="1978660" cy="8413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"/>
          <p:cNvSpPr/>
          <p:nvPr/>
        </p:nvSpPr>
        <p:spPr>
          <a:xfrm>
            <a:off x="395506" y="3094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100" dirty="0"/>
          </a:p>
        </p:txBody>
      </p:sp>
      <p:sp>
        <p:nvSpPr>
          <p:cNvPr id="13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结果对比：</a:t>
            </a:r>
            <a:r>
              <a:rPr lang="en-US" altLang="zh-CN" sz="1800" dirty="0"/>
              <a:t>AI Agent</a:t>
            </a:r>
            <a:r>
              <a:rPr lang="zh-CN" altLang="en-US" sz="1800" dirty="0"/>
              <a:t>任务规划</a:t>
            </a:r>
            <a:endParaRPr lang="zh-CN" altLang="en-US" sz="1800" dirty="0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53035" y="828675"/>
            <a:ext cx="885571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06400" y="987425"/>
            <a:ext cx="4206240" cy="3628898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文件名：</a:t>
            </a:r>
            <a:r>
              <a:rPr lang="en-US" altLang="zh-CN" sz="800">
                <a:solidFill>
                  <a:srgbClr val="D4D4D4"/>
                </a:solidFill>
              </a:rPr>
              <a:t>plan.md</a:t>
            </a:r>
            <a:r>
              <a:rPr lang="zh-CN" altLang="en-US" sz="800">
                <a:solidFill>
                  <a:srgbClr val="D4D4D4"/>
                </a:solidFill>
              </a:rPr>
              <a:t>，存放路径：</a:t>
            </a:r>
            <a:r>
              <a:rPr lang="en-US" altLang="zh-CN" sz="800">
                <a:solidFill>
                  <a:srgbClr val="D4D4D4"/>
                </a:solidFill>
              </a:rPr>
              <a:t>/Users/fangchen/Desktop/</a:t>
            </a:r>
            <a:r>
              <a:rPr lang="zh-CN" altLang="en-US" sz="800">
                <a:solidFill>
                  <a:srgbClr val="D4D4D4"/>
                </a:solidFill>
              </a:rPr>
              <a:t>课程录制事件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附件</a:t>
            </a:r>
            <a:r>
              <a:rPr lang="en-US" altLang="zh-CN" sz="800">
                <a:solidFill>
                  <a:srgbClr val="D4D4D4"/>
                </a:solidFill>
              </a:rPr>
              <a:t>/chapter2/round5/gpt5.4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核心约束：面向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等高管读者（侧重战略价值、投入产出、风险管控）、篇幅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字左右、数据支撑、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天交付初稿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执行</a:t>
            </a:r>
            <a:r>
              <a:rPr lang="en-US" altLang="zh-CN" sz="800">
                <a:solidFill>
                  <a:srgbClr val="D4D4D4"/>
                </a:solidFill>
              </a:rPr>
              <a:t>Plan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1: </a:t>
            </a:r>
            <a:r>
              <a:rPr lang="zh-CN" altLang="en-US" sz="800">
                <a:solidFill>
                  <a:srgbClr val="D4D4D4"/>
                </a:solidFill>
              </a:rPr>
              <a:t>需求拆解与框架搭建（第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09:00-12:00</a:t>
            </a:r>
            <a:r>
              <a:rPr lang="zh-CN" altLang="en-US" sz="800">
                <a:solidFill>
                  <a:srgbClr val="D4D4D4"/>
                </a:solidFill>
              </a:rPr>
              <a:t>，耗时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目标：明确高管读者核心需求（关注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对制造业的战略价值、落地成效、投入回报、风险及未来布局方向），搭建逻辑清晰、贴合高管阅读习惯的报告框架，明确各章节字数分配，确保覆盖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现状</a:t>
            </a:r>
            <a:r>
              <a:rPr lang="en-US" altLang="zh-CN" sz="800">
                <a:solidFill>
                  <a:srgbClr val="D4D4D4"/>
                </a:solidFill>
              </a:rPr>
              <a:t>-</a:t>
            </a:r>
            <a:r>
              <a:rPr lang="zh-CN" altLang="en-US" sz="800">
                <a:solidFill>
                  <a:srgbClr val="D4D4D4"/>
                </a:solidFill>
              </a:rPr>
              <a:t>问题</a:t>
            </a:r>
            <a:r>
              <a:rPr lang="en-US" altLang="zh-CN" sz="800">
                <a:solidFill>
                  <a:srgbClr val="D4D4D4"/>
                </a:solidFill>
              </a:rPr>
              <a:t>-</a:t>
            </a:r>
            <a:r>
              <a:rPr lang="zh-CN" altLang="en-US" sz="800">
                <a:solidFill>
                  <a:srgbClr val="D4D4D4"/>
                </a:solidFill>
              </a:rPr>
              <a:t>趋势</a:t>
            </a:r>
            <a:r>
              <a:rPr lang="en-US" altLang="zh-CN" sz="800">
                <a:solidFill>
                  <a:srgbClr val="D4D4D4"/>
                </a:solidFill>
              </a:rPr>
              <a:t>-</a:t>
            </a:r>
            <a:r>
              <a:rPr lang="zh-CN" altLang="en-US" sz="800">
                <a:solidFill>
                  <a:srgbClr val="D4D4D4"/>
                </a:solidFill>
              </a:rPr>
              <a:t>建议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核心逻辑，总篇幅贴合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字要求。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数据源：过往制造业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行业报告（参考高管版报告框架）、中国信通院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工信部关于制造业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的政策文件（提炼核心导向）、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关注的行业分析报告核心模块（如战略洞察、财务影响、风险管控）。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预计产出：报告详细框架（含各章节标题、核心内容方向、字数分配）、高管关注重点标注（每章节需突出的核心信息，如投入产出比、政策红利、风险点）。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前置依赖：明确报告核心约束（篇幅、读者、数据要求），确认无额外补充需求。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2: </a:t>
            </a:r>
            <a:r>
              <a:rPr lang="zh-CN" altLang="en-US" sz="800">
                <a:solidFill>
                  <a:srgbClr val="D4D4D4"/>
                </a:solidFill>
              </a:rPr>
              <a:t>核心数据与资料搜集（第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13:30-18:00</a:t>
            </a:r>
            <a:r>
              <a:rPr lang="zh-CN" altLang="en-US" sz="800">
                <a:solidFill>
                  <a:srgbClr val="D4D4D4"/>
                </a:solidFill>
              </a:rPr>
              <a:t>，耗时</a:t>
            </a:r>
            <a:r>
              <a:rPr lang="en-US" altLang="zh-CN" sz="800">
                <a:solidFill>
                  <a:srgbClr val="D4D4D4"/>
                </a:solidFill>
              </a:rPr>
              <a:t>4.5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目标：搜集足量、权威、最新的数据及案例，支撑报告各章节观点，确保数据贴合高管需求（如市场规模、投入回报率、头部企业应用成效、政策支持力度），避免无效数据堆砌。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权威机构数据：中国信通院《制造业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应用发展报告》、工信部统计数据、艾瑞咨询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易观分析相关行业报告、麦肯锡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波士顿咨询制造业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专题报告（高管视角）；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企业案例：头部制造业企业（如华为、格力、三一重工）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应用案例（侧重投入、成效、财务影响）；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</a:t>
            </a:r>
            <a:r>
              <a:rPr lang="zh-CN" altLang="en-US" sz="800">
                <a:solidFill>
                  <a:srgbClr val="D4D4D4"/>
                </a:solidFill>
              </a:rPr>
              <a:t>政策数据：近期制造业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扶持政策、税收优惠、产业基金相关信息；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4. </a:t>
            </a:r>
            <a:r>
              <a:rPr lang="zh-CN" altLang="en-US" sz="800">
                <a:solidFill>
                  <a:srgbClr val="D4D4D4"/>
                </a:solidFill>
              </a:rPr>
              <a:t>工具：企查查（企业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投入相关信息）、知网（核心期刊相关研究）、行业协会官网（中国制造业协会、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产业协会）。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预计产出：分类整理的数据表格（含数据来源、时间、核心指标）、案例素材库（按应用场景分类，如生产制造、质量检测、供应链管理）、政策摘要（提炼对企业的实际价值）。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前置依赖：完成报告框架搭建，明确各章节需用到的数据、案例类型。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3: </a:t>
            </a:r>
            <a:r>
              <a:rPr lang="zh-CN" altLang="en-US" sz="800">
                <a:solidFill>
                  <a:srgbClr val="D4D4D4"/>
                </a:solidFill>
              </a:rPr>
              <a:t>报告正文撰写（第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19:30-22:30 + </a:t>
            </a:r>
            <a:r>
              <a:rPr lang="zh-CN" altLang="en-US" sz="800">
                <a:solidFill>
                  <a:srgbClr val="D4D4D4"/>
                </a:solidFill>
              </a:rPr>
              <a:t>第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09:00-18:00</a:t>
            </a:r>
            <a:r>
              <a:rPr lang="zh-CN" altLang="en-US" sz="800">
                <a:solidFill>
                  <a:srgbClr val="D4D4D4"/>
                </a:solidFill>
              </a:rPr>
              <a:t>，合计</a:t>
            </a:r>
            <a:r>
              <a:rPr lang="en-US" altLang="zh-CN" sz="800">
                <a:solidFill>
                  <a:srgbClr val="D4D4D4"/>
                </a:solidFill>
              </a:rPr>
              <a:t>12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目标：按照搭建的框架，结合搜集的资料，完成报告正文撰写，突出高管关注重点，控制各章节字数，确保逻辑连贯、数据支撑到位，语言简洁专业（避免技术化晦涩表述，侧重战略和财务视角）。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数据源：报告框架、数据表格、案例素材库、政策摘要，</a:t>
            </a:r>
            <a:r>
              <a:rPr lang="en-US" altLang="zh-CN" sz="800">
                <a:solidFill>
                  <a:srgbClr val="D4D4D4"/>
                </a:solidFill>
              </a:rPr>
              <a:t>WPS</a:t>
            </a:r>
            <a:r>
              <a:rPr lang="zh-CN" altLang="en-US" sz="800">
                <a:solidFill>
                  <a:srgbClr val="D4D4D4"/>
                </a:solidFill>
              </a:rPr>
              <a:t>（撰写、字数统计）。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预计产出：报告初稿正文（含封面、目录、各章节内容），字数控制在</a:t>
            </a:r>
            <a:r>
              <a:rPr lang="en-US" altLang="zh-CN" sz="800">
                <a:solidFill>
                  <a:srgbClr val="D4D4D4"/>
                </a:solidFill>
              </a:rPr>
              <a:t>7800-8200</a:t>
            </a:r>
            <a:r>
              <a:rPr lang="zh-CN" altLang="en-US" sz="800">
                <a:solidFill>
                  <a:srgbClr val="D4D4D4"/>
                </a:solidFill>
              </a:rPr>
              <a:t>字，确保每个核心观点均有数据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案例支撑，贴合高管阅读逻辑（先结论、后论据，重点突出投入回报和战略价值）。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前置依赖：完成数据与资料搜集，确保数据准确、案例贴合主题。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4: </a:t>
            </a:r>
            <a:r>
              <a:rPr lang="zh-CN" altLang="en-US" sz="800">
                <a:solidFill>
                  <a:srgbClr val="D4D4D4"/>
                </a:solidFill>
              </a:rPr>
              <a:t>数据校验与内容优化（第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19:30-22:00</a:t>
            </a:r>
            <a:r>
              <a:rPr lang="zh-CN" altLang="en-US" sz="800">
                <a:solidFill>
                  <a:srgbClr val="D4D4D4"/>
                </a:solidFill>
              </a:rPr>
              <a:t>，耗时</a:t>
            </a:r>
            <a:r>
              <a:rPr lang="en-US" altLang="zh-CN" sz="800">
                <a:solidFill>
                  <a:srgbClr val="D4D4D4"/>
                </a:solidFill>
              </a:rPr>
              <a:t>2.5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目标：校验所有数据的准确性、权威性，修正数据错误或来源模糊的内容；优化行文逻辑，删除冗余表述，强化高管关注的核心内容（如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应用的成本节约、效率提升、风险规避），调整章节衔接，确保篇幅达标。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数据源：初稿正文、原始数据来源（复核数据准确性）、高管视角核心关注点标注。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预计产出：优化后初稿（数据准确、逻辑流畅、重点突出、字数达标），数据来源标注清晰。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前置依赖：完成报告正文撰写，确保初稿内容完整。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5: </a:t>
            </a:r>
            <a:r>
              <a:rPr lang="zh-CN" altLang="en-US" sz="800">
                <a:solidFill>
                  <a:srgbClr val="D4D4D4"/>
                </a:solidFill>
              </a:rPr>
              <a:t>格式规范与初稿审核（第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09:00-11:30</a:t>
            </a:r>
            <a:r>
              <a:rPr lang="zh-CN" altLang="en-US" sz="800">
                <a:solidFill>
                  <a:srgbClr val="D4D4D4"/>
                </a:solidFill>
              </a:rPr>
              <a:t>，耗时</a:t>
            </a:r>
            <a:r>
              <a:rPr lang="en-US" altLang="zh-CN" sz="800">
                <a:solidFill>
                  <a:srgbClr val="D4D4D4"/>
                </a:solidFill>
              </a:rPr>
              <a:t>2.5</a:t>
            </a:r>
            <a:r>
              <a:rPr lang="zh-CN" altLang="en-US" sz="800">
                <a:solidFill>
                  <a:srgbClr val="D4D4D4"/>
                </a:solidFill>
              </a:rPr>
              <a:t>小时）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目标：规范报告格式（字体、行距、标题层级、图表排版），补充目录、摘要、参考文献，审核报告整体质量（逻辑、数据、重点、篇幅），确保符合高管阅读习惯，无错别字、表述漏洞。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数据源：优化后初稿、行业报告格式规范、参考文献素材。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预计产出：最终初稿（格式规范、内容完整、数据准确、重点突出、字数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字左右），按要求保存至指定路径。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前置依赖：完成数据校验与内容优化，确保初稿无核心错误。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6: </a:t>
            </a:r>
            <a:r>
              <a:rPr lang="zh-CN" altLang="en-US" sz="800">
                <a:solidFill>
                  <a:srgbClr val="D4D4D4"/>
                </a:solidFill>
              </a:rPr>
              <a:t>初稿交付（第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</a:t>
            </a:r>
            <a:r>
              <a:rPr lang="en-US" altLang="zh-CN" sz="800">
                <a:solidFill>
                  <a:srgbClr val="D4D4D4"/>
                </a:solidFill>
              </a:rPr>
              <a:t> 12:00</a:t>
            </a:r>
            <a:r>
              <a:rPr lang="zh-CN" altLang="en-US" sz="800">
                <a:solidFill>
                  <a:srgbClr val="D4D4D4"/>
                </a:solidFill>
              </a:rPr>
              <a:t>前）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目标：将最终初稿保存至指定路径，确认文件格式正确、内容完整，完成交付准备。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数据源：最终初稿、指定保存路径。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预计产出：保存至指定路径的</a:t>
            </a:r>
            <a:r>
              <a:rPr lang="en-US" altLang="zh-CN" sz="800">
                <a:solidFill>
                  <a:srgbClr val="D4D4D4"/>
                </a:solidFill>
              </a:rPr>
              <a:t>plan.md</a:t>
            </a:r>
            <a:r>
              <a:rPr lang="zh-CN" altLang="en-US" sz="800">
                <a:solidFill>
                  <a:srgbClr val="D4D4D4"/>
                </a:solidFill>
              </a:rPr>
              <a:t>执行计划文件、《中国制造业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应用现状与趋势》报告初稿。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前置依赖：完成初稿审核与格式规范，确保无任何遗漏。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关键决策点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报告框架的侧重点选择：高管读者更关注</a:t>
            </a:r>
            <a:r>
              <a:rPr lang="en-US" altLang="zh-CN" sz="800">
                <a:solidFill>
                  <a:srgbClr val="D4D4D4"/>
                </a:solidFill>
              </a:rPr>
              <a:t>“AI</a:t>
            </a:r>
            <a:r>
              <a:rPr lang="zh-CN" altLang="en-US" sz="800">
                <a:solidFill>
                  <a:srgbClr val="D4D4D4"/>
                </a:solidFill>
              </a:rPr>
              <a:t>应用的商业价值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而非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技术细节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，需决策各章节权重</a:t>
            </a:r>
            <a:r>
              <a:rPr lang="en-US" altLang="zh-CN" sz="800">
                <a:solidFill>
                  <a:srgbClr val="D4D4D4"/>
                </a:solidFill>
              </a:rPr>
              <a:t>——</a:t>
            </a:r>
            <a:r>
              <a:rPr lang="zh-CN" altLang="en-US" sz="800">
                <a:solidFill>
                  <a:srgbClr val="D4D4D4"/>
                </a:solidFill>
              </a:rPr>
              <a:t>重点倾斜</a:t>
            </a:r>
            <a:r>
              <a:rPr lang="en-US" altLang="zh-CN" sz="800">
                <a:solidFill>
                  <a:srgbClr val="D4D4D4"/>
                </a:solidFill>
              </a:rPr>
              <a:t>“AI</a:t>
            </a:r>
            <a:r>
              <a:rPr lang="zh-CN" altLang="en-US" sz="800">
                <a:solidFill>
                  <a:srgbClr val="D4D4D4"/>
                </a:solidFill>
              </a:rPr>
              <a:t>应用成效（投入产出）</a:t>
            </a:r>
            <a:r>
              <a:rPr lang="en-US" altLang="zh-CN" sz="800">
                <a:solidFill>
                  <a:srgbClr val="D4D4D4"/>
                </a:solidFill>
              </a:rPr>
              <a:t>”“</a:t>
            </a:r>
            <a:r>
              <a:rPr lang="zh-CN" altLang="en-US" sz="800">
                <a:solidFill>
                  <a:srgbClr val="D4D4D4"/>
                </a:solidFill>
              </a:rPr>
              <a:t>未来趋势（战略布局）</a:t>
            </a:r>
            <a:r>
              <a:rPr lang="en-US" altLang="zh-CN" sz="800">
                <a:solidFill>
                  <a:srgbClr val="D4D4D4"/>
                </a:solidFill>
              </a:rPr>
              <a:t>”“</a:t>
            </a:r>
            <a:r>
              <a:rPr lang="zh-CN" altLang="en-US" sz="800">
                <a:solidFill>
                  <a:srgbClr val="D4D4D4"/>
                </a:solidFill>
              </a:rPr>
              <a:t>风险管控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，弱化技术实现路径，确保框架贴合读者需求。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数据优先级决策：当数据存在冲突（如不同机构发布的制造业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市场规模不一致），优先选择权威度高（工信部、信通院）、时间最新的数据，同时标注数据差异原因，避免误导高管决策。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</a:t>
            </a:r>
            <a:r>
              <a:rPr lang="zh-CN" altLang="en-US" sz="800">
                <a:solidFill>
                  <a:srgbClr val="D4D4D4"/>
                </a:solidFill>
              </a:rPr>
              <a:t>字数分配决策：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字篇幅需合理分配，核心章节（现状、成效、趋势）占比</a:t>
            </a:r>
            <a:r>
              <a:rPr lang="en-US" altLang="zh-CN" sz="800">
                <a:solidFill>
                  <a:srgbClr val="D4D4D4"/>
                </a:solidFill>
              </a:rPr>
              <a:t>60%</a:t>
            </a:r>
            <a:r>
              <a:rPr lang="zh-CN" altLang="en-US" sz="800">
                <a:solidFill>
                  <a:srgbClr val="D4D4D4"/>
                </a:solidFill>
              </a:rPr>
              <a:t>以上，摘要、目录、参考文献控制在</a:t>
            </a:r>
            <a:r>
              <a:rPr lang="en-US" altLang="zh-CN" sz="800">
                <a:solidFill>
                  <a:srgbClr val="D4D4D4"/>
                </a:solidFill>
              </a:rPr>
              <a:t>10%</a:t>
            </a:r>
            <a:r>
              <a:rPr lang="zh-CN" altLang="en-US" sz="800">
                <a:solidFill>
                  <a:srgbClr val="D4D4D4"/>
                </a:solidFill>
              </a:rPr>
              <a:t>以内，避免某一章节过于冗长或单薄，确保整体均衡。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风险与备选方案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：核心数据缺失（如某细分领域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应用投入数据无法获取），导致部分观点缺乏支撑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备选：调整内容侧重点，用同类细分领域数据替代，或引用头部企业案例间接佐证，同时标注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数据暂缺，基于同类案例推测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，避免无依据表述。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：撰写进度滞后，无法在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天内完成初稿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备选：优化时间分配，压缩资料搜集的冗余时间（优先选取权威机构现成数据，不做无效资料筛选），简化非核心章节的表述，优先保证核心内容完整，后续再补充优化非核心部分。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：内容不符合高管阅读习惯（过于技术化、重点不突出）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备选：撰写过程中每完成一个章节，对照高管关注重点进行复盘，删除技术细节表述，强化战略、财务视角，必要时调整章节顺序，确保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结论先行、论据支撑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：字数偏离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字要求（过多或过少）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备选：撰写时实时统计字数，若字数不足，补充案例或数据细节；若字数超标，删除冗余表述、合并同类观点，优先保证核心内容不缺失。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最难的一步及原因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最难的一步是</a:t>
            </a:r>
            <a:r>
              <a:rPr lang="en-US" altLang="zh-CN" sz="800">
                <a:solidFill>
                  <a:srgbClr val="D4D4D4"/>
                </a:solidFill>
              </a:rPr>
              <a:t>Step 2: </a:t>
            </a:r>
            <a:r>
              <a:rPr lang="zh-CN" altLang="en-US" sz="800">
                <a:solidFill>
                  <a:srgbClr val="D4D4D4"/>
                </a:solidFill>
              </a:rPr>
              <a:t>核心数据与资料搜集，原因如下：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高管读者对数据的权威性和准确性要求极高，需筛选工信部、信通院等权威机构的最新数据，而部分细分领域（如中小制造企业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投入）的数据较为零散，难以获取，需花费大量时间甄别、整合，避免引用非权威数据误导高管决策。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数据需贴合高管需求，不仅要搜集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市场规模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等基础数据，更要挖掘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投入回报率</a:t>
            </a:r>
            <a:r>
              <a:rPr lang="en-US" altLang="zh-CN" sz="800">
                <a:solidFill>
                  <a:srgbClr val="D4D4D4"/>
                </a:solidFill>
              </a:rPr>
              <a:t>”“</a:t>
            </a:r>
            <a:r>
              <a:rPr lang="zh-CN" altLang="en-US" sz="800">
                <a:solidFill>
                  <a:srgbClr val="D4D4D4"/>
                </a:solidFill>
              </a:rPr>
              <a:t>成本节约比例</a:t>
            </a:r>
            <a:r>
              <a:rPr lang="en-US" altLang="zh-CN" sz="800">
                <a:solidFill>
                  <a:srgbClr val="D4D4D4"/>
                </a:solidFill>
              </a:rPr>
              <a:t>”“</a:t>
            </a:r>
            <a:r>
              <a:rPr lang="zh-CN" altLang="en-US" sz="800">
                <a:solidFill>
                  <a:srgbClr val="D4D4D4"/>
                </a:solidFill>
              </a:rPr>
              <a:t>产能提升幅度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等与企业战略、财务相关的数据，这类数据往往分散在企业年报、行业专题报告中，搜集难度远高于基础数据。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</a:t>
            </a:r>
            <a:r>
              <a:rPr lang="zh-CN" altLang="en-US" sz="800">
                <a:solidFill>
                  <a:srgbClr val="D4D4D4"/>
                </a:solidFill>
              </a:rPr>
              <a:t>时间约束紧张（仅</a:t>
            </a:r>
            <a:r>
              <a:rPr lang="en-US" altLang="zh-CN" sz="800">
                <a:solidFill>
                  <a:srgbClr val="D4D4D4"/>
                </a:solidFill>
              </a:rPr>
              <a:t>4.5</a:t>
            </a:r>
            <a:r>
              <a:rPr lang="zh-CN" altLang="en-US" sz="800">
                <a:solidFill>
                  <a:srgbClr val="D4D4D4"/>
                </a:solidFill>
              </a:rPr>
              <a:t>小时），需在短时间内完成数据搜集、分类、校验，同时还要匹配报告框架的各章节需求，既要保证数据量充足，又要避免无效数据堆砌，对效率和精准度要求极高，一旦数据搜集不及时或不准确，会直接影响后续正文撰写和初稿交付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结果对比：</a:t>
            </a:r>
            <a:r>
              <a:rPr lang="en-US" altLang="zh-CN" dirty="0">
                <a:sym typeface="+mn-ea"/>
              </a:rPr>
              <a:t>AI Agent</a:t>
            </a:r>
            <a:r>
              <a:rPr lang="zh-CN" altLang="en-US" dirty="0">
                <a:sym typeface="+mn-ea"/>
              </a:rPr>
              <a:t>任务规划</a:t>
            </a:r>
            <a:endParaRPr lang="en-US" sz="1800" dirty="0"/>
          </a:p>
        </p:txBody>
      </p:sp>
      <p:pic>
        <p:nvPicPr>
          <p:cNvPr id="12" name="图片 11" descr="a2cd0c0c-9919-48fc-9ac9-c92965dbd647"/>
          <p:cNvPicPr>
            <a:picLocks noChangeAspect="1"/>
          </p:cNvPicPr>
          <p:nvPr/>
        </p:nvPicPr>
        <p:blipFill>
          <a:blip r:embed="rId1"/>
          <a:srcRect l="11737" t="25728" r="8930" b="27605"/>
          <a:stretch>
            <a:fillRect/>
          </a:stretch>
        </p:blipFill>
        <p:spPr>
          <a:xfrm>
            <a:off x="6732270" y="-92710"/>
            <a:ext cx="1968500" cy="7715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53035" y="828675"/>
            <a:ext cx="885571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406400" y="987425"/>
            <a:ext cx="4206240" cy="5198618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执行</a:t>
            </a:r>
            <a:r>
              <a:rPr lang="en-US" altLang="zh-CN" sz="800">
                <a:solidFill>
                  <a:srgbClr val="D4D4D4"/>
                </a:solidFill>
              </a:rPr>
              <a:t>Plan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1: </a:t>
            </a:r>
            <a:r>
              <a:rPr lang="zh-CN" altLang="en-US" sz="800">
                <a:solidFill>
                  <a:srgbClr val="D4D4D4"/>
                </a:solidFill>
              </a:rPr>
              <a:t>明确报告目标与高管阅读口径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将报告定位为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给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看的决策型行业分析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，不是技术科普，也不是泛泛趋势综述。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明确核心问题：制造业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当前到了什么阶段、哪些场景最值得投、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如何判断、未来</a:t>
            </a:r>
            <a:r>
              <a:rPr lang="en-US" altLang="zh-CN" sz="800">
                <a:solidFill>
                  <a:srgbClr val="D4D4D4"/>
                </a:solidFill>
              </a:rPr>
              <a:t>2—3</a:t>
            </a:r>
            <a:r>
              <a:rPr lang="zh-CN" altLang="en-US" sz="800">
                <a:solidFill>
                  <a:srgbClr val="D4D4D4"/>
                </a:solidFill>
              </a:rPr>
              <a:t>年怎么布局。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统一篇幅与结构边界，确保全文控制在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字左右。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任务说明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过往行业报告常见结构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高管读者偏好框架：市场规模、渗透率、降本增效、资本开支、回报周期、风险敞口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- 1</a:t>
            </a:r>
            <a:r>
              <a:rPr lang="zh-CN" altLang="en-US" sz="800">
                <a:solidFill>
                  <a:srgbClr val="D4D4D4"/>
                </a:solidFill>
              </a:rPr>
              <a:t>页写作</a:t>
            </a:r>
            <a:r>
              <a:rPr lang="en-US" altLang="zh-CN" sz="800">
                <a:solidFill>
                  <a:srgbClr val="D4D4D4"/>
                </a:solidFill>
              </a:rPr>
              <a:t>Brief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报告核心问题清单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目标读者画像与表达原则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拟定总标题、副标题、摘要方向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无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2: </a:t>
            </a:r>
            <a:r>
              <a:rPr lang="zh-CN" altLang="en-US" sz="800">
                <a:solidFill>
                  <a:srgbClr val="D4D4D4"/>
                </a:solidFill>
              </a:rPr>
              <a:t>搭建报告总框架与论证主线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搭建适合高管快速阅读的目录结构，形成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现状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场景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价值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挑战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趋势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建议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的主线。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将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字拆分到各章节，避免后期内容失衡。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行业研究报告写作模板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咨询公司报告结构样例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制造业数字化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智能制造政策文本目录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一级、二级目录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每章核心论点、关键数据位、案例位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各章节字数预算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1</a:t>
            </a:r>
            <a:r>
              <a:rPr lang="zh-CN" altLang="en-US" sz="800">
                <a:solidFill>
                  <a:srgbClr val="D4D4D4"/>
                </a:solidFill>
              </a:rPr>
              <a:t>完成的写作</a:t>
            </a:r>
            <a:r>
              <a:rPr lang="en-US" altLang="zh-CN" sz="800">
                <a:solidFill>
                  <a:srgbClr val="D4D4D4"/>
                </a:solidFill>
              </a:rPr>
              <a:t>Brief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3: </a:t>
            </a:r>
            <a:r>
              <a:rPr lang="zh-CN" altLang="en-US" sz="800">
                <a:solidFill>
                  <a:srgbClr val="D4D4D4"/>
                </a:solidFill>
              </a:rPr>
              <a:t>制定数据口径与证据标准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提前定义哪些数据可以进入正文，避免后续资料杂乱、口径不统一。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建立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权威优先、近两年优先、可交叉验证优先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的证据标准。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国家统计局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工信部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发改委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中国信通院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中国电子学会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世界经济论坛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麦肯锡、德勤、</a:t>
            </a:r>
            <a:r>
              <a:rPr lang="en-US" altLang="zh-CN" sz="800">
                <a:solidFill>
                  <a:srgbClr val="D4D4D4"/>
                </a:solidFill>
              </a:rPr>
              <a:t>IDC</a:t>
            </a:r>
            <a:r>
              <a:rPr lang="zh-CN" altLang="en-US" sz="800">
                <a:solidFill>
                  <a:srgbClr val="D4D4D4"/>
                </a:solidFill>
              </a:rPr>
              <a:t>、</a:t>
            </a:r>
            <a:r>
              <a:rPr lang="en-US" altLang="zh-CN" sz="800">
                <a:solidFill>
                  <a:srgbClr val="D4D4D4"/>
                </a:solidFill>
              </a:rPr>
              <a:t>Gartner</a:t>
            </a:r>
            <a:r>
              <a:rPr lang="zh-CN" altLang="en-US" sz="800">
                <a:solidFill>
                  <a:srgbClr val="D4D4D4"/>
                </a:solidFill>
              </a:rPr>
              <a:t>、</a:t>
            </a:r>
            <a:r>
              <a:rPr lang="en-US" altLang="zh-CN" sz="800">
                <a:solidFill>
                  <a:srgbClr val="D4D4D4"/>
                </a:solidFill>
              </a:rPr>
              <a:t>BCG</a:t>
            </a:r>
            <a:r>
              <a:rPr lang="zh-CN" altLang="en-US" sz="800">
                <a:solidFill>
                  <a:srgbClr val="D4D4D4"/>
                </a:solidFill>
              </a:rPr>
              <a:t>等公开报告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上市公司年报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投资者交流纪要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数据源优先级清单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数据引用规则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关键指标表：市场规模、渗透率、投资强度、效率提升、良率改善、库存周转、人工替代、回收周期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2</a:t>
            </a:r>
            <a:r>
              <a:rPr lang="zh-CN" altLang="en-US" sz="800">
                <a:solidFill>
                  <a:srgbClr val="D4D4D4"/>
                </a:solidFill>
              </a:rPr>
              <a:t>完成的目录框架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4: </a:t>
            </a:r>
            <a:r>
              <a:rPr lang="zh-CN" altLang="en-US" sz="800">
                <a:solidFill>
                  <a:srgbClr val="D4D4D4"/>
                </a:solidFill>
              </a:rPr>
              <a:t>完成宏观与行业层数据搜集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收集中国制造业总体运行数据，以及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、工业软件、自动化、工业互联网、机器人、智能工厂等相关数据。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建立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应用现状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的宏观事实基础。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国家统计局制造业增加值、利润、投资、就业数据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工信部智能制造试点示范、两化融合、工业互联网相关数据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信通院人工智能、工业互联网白皮书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公开券商研报与咨询机构数据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宏观数据表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- 5—8</a:t>
            </a:r>
            <a:r>
              <a:rPr lang="zh-CN" altLang="en-US" sz="800">
                <a:solidFill>
                  <a:srgbClr val="D4D4D4"/>
                </a:solidFill>
              </a:rPr>
              <a:t>条可直接写入正文的关键结论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适合高管阅读的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行业现状判断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3</a:t>
            </a:r>
            <a:r>
              <a:rPr lang="zh-CN" altLang="en-US" sz="800">
                <a:solidFill>
                  <a:srgbClr val="D4D4D4"/>
                </a:solidFill>
              </a:rPr>
              <a:t>的数据口径与证据标准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5: </a:t>
            </a:r>
            <a:r>
              <a:rPr lang="zh-CN" altLang="en-US" sz="800">
                <a:solidFill>
                  <a:srgbClr val="D4D4D4"/>
                </a:solidFill>
              </a:rPr>
              <a:t>梳理制造业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应用场景与价值链地图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将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应用按制造业价值链拆解，突出哪些场景已经落地、哪些仍在试点、哪些具备未来增量。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重点覆盖研发、采购、生产、质检、设备运维、仓储物流、供应链计划、销售预测、能源管理、管理决策等环节。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智能制造案例集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龙头企业公开案例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行业白皮书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学术与产业会议资料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“</a:t>
            </a:r>
            <a:r>
              <a:rPr lang="zh-CN" altLang="en-US" sz="800">
                <a:solidFill>
                  <a:srgbClr val="D4D4D4"/>
                </a:solidFill>
              </a:rPr>
              <a:t>场景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价值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成熟度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矩阵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高优先级场景清单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可写成正文小节的场景归纳材料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4</a:t>
            </a:r>
            <a:r>
              <a:rPr lang="zh-CN" altLang="en-US" sz="800">
                <a:solidFill>
                  <a:srgbClr val="D4D4D4"/>
                </a:solidFill>
              </a:rPr>
              <a:t>完成的行业现状数据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6: </a:t>
            </a:r>
            <a:r>
              <a:rPr lang="zh-CN" altLang="en-US" sz="800">
                <a:solidFill>
                  <a:srgbClr val="D4D4D4"/>
                </a:solidFill>
              </a:rPr>
              <a:t>提炼头部企业案例与财务价值证据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选择</a:t>
            </a:r>
            <a:r>
              <a:rPr lang="en-US" altLang="zh-CN" sz="800">
                <a:solidFill>
                  <a:srgbClr val="D4D4D4"/>
                </a:solidFill>
              </a:rPr>
              <a:t>6—8</a:t>
            </a:r>
            <a:r>
              <a:rPr lang="zh-CN" altLang="en-US" sz="800">
                <a:solidFill>
                  <a:srgbClr val="D4D4D4"/>
                </a:solidFill>
              </a:rPr>
              <a:t>个代表性案例，覆盖离散制造与流程制造，体现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最关心的财务与经营指标。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尽量用公开、可验证的数据说明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在降本、提效、增收、控风险方面的作用。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上市公司年报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企业官网案例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投资者关系纪要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媒体专访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行业奖项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示范工厂材料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案例库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案例摘要卡片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财务价值证据表，如良率提升、停机时间下降、库存优化、人工节省、交付周期缩短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5</a:t>
            </a:r>
            <a:r>
              <a:rPr lang="zh-CN" altLang="en-US" sz="800">
                <a:solidFill>
                  <a:srgbClr val="D4D4D4"/>
                </a:solidFill>
              </a:rPr>
              <a:t>完成的场景地图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7: </a:t>
            </a:r>
            <a:r>
              <a:rPr lang="zh-CN" altLang="en-US" sz="800">
                <a:solidFill>
                  <a:srgbClr val="D4D4D4"/>
                </a:solidFill>
              </a:rPr>
              <a:t>形成趋势判断与高管决策观点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在现状基础上输出未来</a:t>
            </a:r>
            <a:r>
              <a:rPr lang="en-US" altLang="zh-CN" sz="800">
                <a:solidFill>
                  <a:srgbClr val="D4D4D4"/>
                </a:solidFill>
              </a:rPr>
              <a:t>2—3</a:t>
            </a:r>
            <a:r>
              <a:rPr lang="zh-CN" altLang="en-US" sz="800">
                <a:solidFill>
                  <a:srgbClr val="D4D4D4"/>
                </a:solidFill>
              </a:rPr>
              <a:t>年的趋势判断，而不是泛泛描述</a:t>
            </a:r>
            <a:r>
              <a:rPr lang="en-US" altLang="zh-CN" sz="800">
                <a:solidFill>
                  <a:srgbClr val="D4D4D4"/>
                </a:solidFill>
              </a:rPr>
              <a:t>“AI</a:t>
            </a:r>
            <a:r>
              <a:rPr lang="zh-CN" altLang="en-US" sz="800">
                <a:solidFill>
                  <a:srgbClr val="D4D4D4"/>
                </a:solidFill>
              </a:rPr>
              <a:t>前景广阔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从技术、产业、资本、组织、监管五个维度提炼趋势。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最新政策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行业投资与融资动向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大模型在工业领域的应用进展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海外制造业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实践对比资料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- 5—7</a:t>
            </a:r>
            <a:r>
              <a:rPr lang="zh-CN" altLang="en-US" sz="800">
                <a:solidFill>
                  <a:srgbClr val="D4D4D4"/>
                </a:solidFill>
              </a:rPr>
              <a:t>条趋势判断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每条趋势对应的驱动因素、约束因素、对企业经营的影响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“CEO/CFO</a:t>
            </a:r>
            <a:r>
              <a:rPr lang="zh-CN" altLang="en-US" sz="800">
                <a:solidFill>
                  <a:srgbClr val="D4D4D4"/>
                </a:solidFill>
              </a:rPr>
              <a:t>应关注什么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的观点清单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4</a:t>
            </a:r>
            <a:r>
              <a:rPr lang="zh-CN" altLang="en-US" sz="800">
                <a:solidFill>
                  <a:srgbClr val="D4D4D4"/>
                </a:solidFill>
              </a:rPr>
              <a:t>至</a:t>
            </a:r>
            <a:r>
              <a:rPr lang="en-US" altLang="zh-CN" sz="800">
                <a:solidFill>
                  <a:srgbClr val="D4D4D4"/>
                </a:solidFill>
              </a:rPr>
              <a:t>Step 6</a:t>
            </a:r>
            <a:r>
              <a:rPr lang="zh-CN" altLang="en-US" sz="800">
                <a:solidFill>
                  <a:srgbClr val="D4D4D4"/>
                </a:solidFill>
              </a:rPr>
              <a:t>的事实与案例基础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8: </a:t>
            </a:r>
            <a:r>
              <a:rPr lang="zh-CN" altLang="en-US" sz="800">
                <a:solidFill>
                  <a:srgbClr val="D4D4D4"/>
                </a:solidFill>
              </a:rPr>
              <a:t>输出初稿提纲扩展版与图表清单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在正式写作前，先把每一章扩成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要点式半成稿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，减少后续成文时的逻辑断层。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同步规划图表，保证数据支撑可视化。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前述全部资料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常用商业报告图表模板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扩展版提纲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图表清单，建议控制在</a:t>
            </a:r>
            <a:r>
              <a:rPr lang="en-US" altLang="zh-CN" sz="800">
                <a:solidFill>
                  <a:srgbClr val="D4D4D4"/>
                </a:solidFill>
              </a:rPr>
              <a:t>8—12</a:t>
            </a:r>
            <a:r>
              <a:rPr lang="zh-CN" altLang="en-US" sz="800">
                <a:solidFill>
                  <a:srgbClr val="D4D4D4"/>
                </a:solidFill>
              </a:rPr>
              <a:t>张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每张图表的数据来源与表达目的说明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7</a:t>
            </a:r>
            <a:r>
              <a:rPr lang="zh-CN" altLang="en-US" sz="800">
                <a:solidFill>
                  <a:srgbClr val="D4D4D4"/>
                </a:solidFill>
              </a:rPr>
              <a:t>完成趋势判断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9: </a:t>
            </a:r>
            <a:r>
              <a:rPr lang="zh-CN" altLang="en-US" sz="800">
                <a:solidFill>
                  <a:srgbClr val="D4D4D4"/>
                </a:solidFill>
              </a:rPr>
              <a:t>撰写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根据扩展版提纲一次性完成初稿，保证逻辑完整、语言克制、适合高管快速阅读。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强化结论前置、数据支撑、案例佐证与建议可执行性。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扩展版提纲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数据表与案例库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图表清单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约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执行摘要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章节标题与小结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8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### Step 10: </a:t>
            </a:r>
            <a:r>
              <a:rPr lang="zh-CN" altLang="en-US" sz="800">
                <a:solidFill>
                  <a:srgbClr val="D4D4D4"/>
                </a:solidFill>
              </a:rPr>
              <a:t>校核数据、统一口径并进行高管化润色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检查所有数据出处、时间口径、单位口径、同比环比表达是否一致。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将偏技术化表述改写为经营语言、投资语言和风险语言。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原始数据表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引用来源清单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高管阅读风格校对标准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可提交初稿版本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引用与数据核验表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待补充问题清单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Step 9</a:t>
            </a:r>
            <a:r>
              <a:rPr lang="zh-CN" altLang="en-US" sz="800">
                <a:solidFill>
                  <a:srgbClr val="D4D4D4"/>
                </a:solidFill>
              </a:rPr>
              <a:t>完成初稿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关键决策点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1. </a:t>
            </a:r>
            <a:r>
              <a:rPr lang="zh-CN" altLang="en-US" sz="800">
                <a:solidFill>
                  <a:srgbClr val="D4D4D4"/>
                </a:solidFill>
              </a:rPr>
              <a:t>报告主线是偏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行业扫描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还是偏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投资决策建议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。建议以后者为主，因为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更关注资源配置与回报判断。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2. </a:t>
            </a:r>
            <a:r>
              <a:rPr lang="zh-CN" altLang="en-US" sz="800">
                <a:solidFill>
                  <a:srgbClr val="D4D4D4"/>
                </a:solidFill>
              </a:rPr>
              <a:t>数据口径采用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近两年公开权威数据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经典案例长期趋势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的组合，而不是追求所有数字都最新但来源不稳。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3. </a:t>
            </a:r>
            <a:r>
              <a:rPr lang="zh-CN" altLang="en-US" sz="800">
                <a:solidFill>
                  <a:srgbClr val="D4D4D4"/>
                </a:solidFill>
              </a:rPr>
              <a:t>场景选择是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覆盖全链条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还是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聚焦高价值环节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。建议聚焦生产、质检、设备运维、供应链计划四类高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场景。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4. </a:t>
            </a:r>
            <a:r>
              <a:rPr lang="zh-CN" altLang="en-US" sz="800">
                <a:solidFill>
                  <a:srgbClr val="D4D4D4"/>
                </a:solidFill>
              </a:rPr>
              <a:t>案例选择是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知名大厂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还是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行业可复制样本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。建议兼顾龙头标杆与可复制案例，避免报告只停留在头部企业叙事。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5. </a:t>
            </a:r>
            <a:r>
              <a:rPr lang="zh-CN" altLang="en-US" sz="800">
                <a:solidFill>
                  <a:srgbClr val="D4D4D4"/>
                </a:solidFill>
              </a:rPr>
              <a:t>趋势部分是写技术演进还是经营影响。建议以经营影响为主，技术演进只保留与决策强相关内容。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6. </a:t>
            </a:r>
            <a:r>
              <a:rPr lang="zh-CN" altLang="en-US" sz="800">
                <a:solidFill>
                  <a:srgbClr val="D4D4D4"/>
                </a:solidFill>
              </a:rPr>
              <a:t>建议部分是原则性建议还是分阶段动作。建议写成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短期试点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中期扩面</a:t>
            </a:r>
            <a:r>
              <a:rPr lang="en-US" altLang="zh-CN" sz="800">
                <a:solidFill>
                  <a:srgbClr val="D4D4D4"/>
                </a:solidFill>
              </a:rPr>
              <a:t>—</a:t>
            </a:r>
            <a:r>
              <a:rPr lang="zh-CN" altLang="en-US" sz="800">
                <a:solidFill>
                  <a:srgbClr val="D4D4D4"/>
                </a:solidFill>
              </a:rPr>
              <a:t>长期体系化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的三阶段建议。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风险与备选方案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：公开数据分散、口径不一致，导致结论不稳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备选：优先采用国家部委、信通院、上市公司年报等高可信来源，并对关键数据做双重交叉验证。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：制造业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案例很多，但可量化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的公开材料不足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备选：用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经营指标改善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替代绝对财务收益，必要时采用区间表达和行业平均估算，并明确标注数据来源和计算假设。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：内容容易写成技术报告，不够适合</a:t>
            </a:r>
            <a:r>
              <a:rPr lang="en-US" altLang="zh-CN" sz="800">
                <a:solidFill>
                  <a:srgbClr val="D4D4D4"/>
                </a:solidFill>
              </a:rPr>
              <a:t>CEO/CFO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备选：每章都设置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经营含义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与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管理启示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段落，减少算法细节，增加投入产出、组织能力与风险控制视角。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字篇幅内信息过载，影响可读性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备选：采用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结论前置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图表承载细节</a:t>
            </a:r>
            <a:r>
              <a:rPr lang="en-US" altLang="zh-CN" sz="800">
                <a:solidFill>
                  <a:srgbClr val="D4D4D4"/>
                </a:solidFill>
              </a:rPr>
              <a:t>+</a:t>
            </a:r>
            <a:r>
              <a:rPr lang="zh-CN" altLang="en-US" sz="800">
                <a:solidFill>
                  <a:srgbClr val="D4D4D4"/>
                </a:solidFill>
              </a:rPr>
              <a:t>案例短卡片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写法，把冗长背景压缩到最少。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5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天周期紧，后期可能来不及补足所有案例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备选：优先完成主线论证与核心数据，案例先保证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个高质量样本，再视时间补充到</a:t>
            </a:r>
            <a:r>
              <a:rPr lang="en-US" altLang="zh-CN" sz="800">
                <a:solidFill>
                  <a:srgbClr val="D4D4D4"/>
                </a:solidFill>
              </a:rPr>
              <a:t>6—8</a:t>
            </a:r>
            <a:r>
              <a:rPr lang="zh-CN" altLang="en-US" sz="800">
                <a:solidFill>
                  <a:srgbClr val="D4D4D4"/>
                </a:solidFill>
              </a:rPr>
              <a:t>个。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6</a:t>
            </a:r>
            <a:r>
              <a:rPr lang="zh-CN" altLang="en-US" sz="800">
                <a:solidFill>
                  <a:srgbClr val="D4D4D4"/>
                </a:solidFill>
              </a:rPr>
              <a:t>：趋势判断容易流于空泛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备选：每个趋势必须对应至少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个数据事实、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个案例证据或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个政策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资本信号。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3</a:t>
            </a:r>
            <a:r>
              <a:rPr lang="zh-CN" altLang="en-US" sz="800">
                <a:solidFill>
                  <a:srgbClr val="D4D4D4"/>
                </a:solidFill>
              </a:rPr>
              <a:t>天执行节奏建议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Day 1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r>
              <a:rPr lang="en-US" altLang="zh-CN" sz="800">
                <a:solidFill>
                  <a:srgbClr val="D4D4D4"/>
                </a:solidFill>
              </a:rPr>
              <a:t>Step 1</a:t>
            </a:r>
            <a:r>
              <a:rPr lang="zh-CN" altLang="en-US" sz="800">
                <a:solidFill>
                  <a:srgbClr val="D4D4D4"/>
                </a:solidFill>
              </a:rPr>
              <a:t>至</a:t>
            </a:r>
            <a:r>
              <a:rPr lang="en-US" altLang="zh-CN" sz="800">
                <a:solidFill>
                  <a:srgbClr val="D4D4D4"/>
                </a:solidFill>
              </a:rPr>
              <a:t>Step 4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锁定报告框架、数据口径和核心行业事实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Day 2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r>
              <a:rPr lang="en-US" altLang="zh-CN" sz="800">
                <a:solidFill>
                  <a:srgbClr val="D4D4D4"/>
                </a:solidFill>
              </a:rPr>
              <a:t>Step 5</a:t>
            </a:r>
            <a:r>
              <a:rPr lang="zh-CN" altLang="en-US" sz="800">
                <a:solidFill>
                  <a:srgbClr val="D4D4D4"/>
                </a:solidFill>
              </a:rPr>
              <a:t>至</a:t>
            </a:r>
            <a:r>
              <a:rPr lang="en-US" altLang="zh-CN" sz="800">
                <a:solidFill>
                  <a:srgbClr val="D4D4D4"/>
                </a:solidFill>
              </a:rPr>
              <a:t>Step 7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形成场景地图、案例库和趋势判断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- Day 3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完成</a:t>
            </a:r>
            <a:r>
              <a:rPr lang="en-US" altLang="zh-CN" sz="800">
                <a:solidFill>
                  <a:srgbClr val="D4D4D4"/>
                </a:solidFill>
              </a:rPr>
              <a:t>Step 8</a:t>
            </a:r>
            <a:r>
              <a:rPr lang="zh-CN" altLang="en-US" sz="800">
                <a:solidFill>
                  <a:srgbClr val="D4D4D4"/>
                </a:solidFill>
              </a:rPr>
              <a:t>至</a:t>
            </a:r>
            <a:r>
              <a:rPr lang="en-US" altLang="zh-CN" sz="800">
                <a:solidFill>
                  <a:srgbClr val="D4D4D4"/>
                </a:solidFill>
              </a:rPr>
              <a:t>Step 10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写出初稿并做数据核验与高管化润色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## </a:t>
            </a:r>
            <a:r>
              <a:rPr lang="zh-CN" altLang="en-US" sz="800">
                <a:solidFill>
                  <a:srgbClr val="D4D4D4"/>
                </a:solidFill>
              </a:rPr>
              <a:t>你认为最难的一步是什么？为什么？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最难的是</a:t>
            </a:r>
            <a:r>
              <a:rPr lang="en-US" altLang="zh-CN" sz="800">
                <a:solidFill>
                  <a:srgbClr val="D4D4D4"/>
                </a:solidFill>
              </a:rPr>
              <a:t>Step 6“</a:t>
            </a:r>
            <a:r>
              <a:rPr lang="zh-CN" altLang="en-US" sz="800">
                <a:solidFill>
                  <a:srgbClr val="D4D4D4"/>
                </a:solidFill>
              </a:rPr>
              <a:t>提炼头部企业案例与财务价值证据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原因在于，制造业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案例很多，但真正对</a:t>
            </a:r>
            <a:r>
              <a:rPr lang="en-US" altLang="zh-CN" sz="800">
                <a:solidFill>
                  <a:srgbClr val="D4D4D4"/>
                </a:solidFill>
              </a:rPr>
              <a:t>CEO/CFO</a:t>
            </a:r>
            <a:r>
              <a:rPr lang="zh-CN" altLang="en-US" sz="800">
                <a:solidFill>
                  <a:srgbClr val="D4D4D4"/>
                </a:solidFill>
              </a:rPr>
              <a:t>有说服力的不是</a:t>
            </a:r>
            <a:r>
              <a:rPr lang="en-US" altLang="zh-CN" sz="800">
                <a:solidFill>
                  <a:srgbClr val="D4D4D4"/>
                </a:solidFill>
              </a:rPr>
              <a:t>“</a:t>
            </a:r>
            <a:r>
              <a:rPr lang="zh-CN" altLang="en-US" sz="800">
                <a:solidFill>
                  <a:srgbClr val="D4D4D4"/>
                </a:solidFill>
              </a:rPr>
              <a:t>企业用了</a:t>
            </a:r>
            <a:r>
              <a:rPr lang="en-US" altLang="zh-CN" sz="800">
                <a:solidFill>
                  <a:srgbClr val="D4D4D4"/>
                </a:solidFill>
              </a:rPr>
              <a:t>AI”</a:t>
            </a:r>
            <a:r>
              <a:rPr lang="zh-CN" altLang="en-US" sz="800">
                <a:solidFill>
                  <a:srgbClr val="D4D4D4"/>
                </a:solidFill>
              </a:rPr>
              <a:t>，而是</a:t>
            </a:r>
            <a:r>
              <a:rPr lang="en-US" altLang="zh-CN" sz="800">
                <a:solidFill>
                  <a:srgbClr val="D4D4D4"/>
                </a:solidFill>
              </a:rPr>
              <a:t>“AI</a:t>
            </a:r>
            <a:r>
              <a:rPr lang="zh-CN" altLang="en-US" sz="800">
                <a:solidFill>
                  <a:srgbClr val="D4D4D4"/>
                </a:solidFill>
              </a:rPr>
              <a:t>带来了多大经营改善、回收周期如何、能否复制</a:t>
            </a:r>
            <a:r>
              <a:rPr lang="en-US" altLang="zh-CN" sz="800">
                <a:solidFill>
                  <a:srgbClr val="D4D4D4"/>
                </a:solidFill>
              </a:rPr>
              <a:t>”</a:t>
            </a:r>
            <a:r>
              <a:rPr lang="zh-CN" altLang="en-US" sz="800">
                <a:solidFill>
                  <a:srgbClr val="D4D4D4"/>
                </a:solidFill>
              </a:rPr>
              <a:t>。公开材料往往会强调示范意义，却不一定完整披露投入规模、收益口径和基准对照。因此，这一步既要保证案例典型性，又要尽量找到可验证的量化证据，还要避免夸大效果。它直接决定整份报告是否具有决策参考价值，而不是停留在趋势描述层面。</a:t>
            </a:r>
            <a:endParaRPr lang="zh-CN" altLang="en-US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结果对比：</a:t>
            </a:r>
            <a:r>
              <a:rPr lang="en-US" altLang="zh-CN" dirty="0">
                <a:sym typeface="+mn-ea"/>
              </a:rPr>
              <a:t>AI Agent</a:t>
            </a:r>
            <a:r>
              <a:rPr lang="zh-CN" altLang="en-US" dirty="0">
                <a:sym typeface="+mn-ea"/>
              </a:rPr>
              <a:t>任务规划</a:t>
            </a:r>
            <a:endParaRPr lang="en-US" sz="1800" dirty="0"/>
          </a:p>
        </p:txBody>
      </p:sp>
      <p:pic>
        <p:nvPicPr>
          <p:cNvPr id="13" name="图片 12"/>
          <p:cNvPicPr/>
          <p:nvPr/>
        </p:nvPicPr>
        <p:blipFill>
          <a:blip r:embed="rId1"/>
          <a:srcRect l="10598" t="31005" r="10579" b="26624"/>
          <a:stretch>
            <a:fillRect/>
          </a:stretch>
        </p:blipFill>
        <p:spPr>
          <a:xfrm>
            <a:off x="7020560" y="80645"/>
            <a:ext cx="1386840" cy="6597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153035" y="828675"/>
            <a:ext cx="8855710" cy="4157980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40" name="Shape 4"/>
          <p:cNvSpPr/>
          <p:nvPr/>
        </p:nvSpPr>
        <p:spPr>
          <a:xfrm>
            <a:off x="285750" y="828675"/>
            <a:ext cx="8697595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323215" y="1275715"/>
            <a:ext cx="7527925" cy="37666930"/>
          </a:xfrm>
          <a:prstGeom prst="rect">
            <a:avLst/>
          </a:prstGeom>
          <a:ln w="12700">
            <a:miter lim="400000"/>
          </a:ln>
        </p:spPr>
        <p:txBody>
          <a:bodyPr wrap="square" lIns="255143" tIns="255143" rIns="255143" bIns="255143">
            <a:no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zh-CN" altLang="en-US" sz="800">
                <a:solidFill>
                  <a:srgbClr val="D4D4D4"/>
                </a:solidFill>
              </a:rPr>
              <a:t>执行</a:t>
            </a:r>
            <a:r>
              <a:rPr lang="en-US" altLang="zh-CN" sz="800">
                <a:solidFill>
                  <a:srgbClr val="D4D4D4"/>
                </a:solidFill>
              </a:rPr>
              <a:t>Plan              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Step 1: </a:t>
            </a:r>
            <a:r>
              <a:rPr lang="zh-CN" altLang="en-US" sz="800">
                <a:solidFill>
                  <a:srgbClr val="D4D4D4"/>
                </a:solidFill>
              </a:rPr>
              <a:t>确定报告框架与核心论点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                                                                                                            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搭建报告骨架，明确每章主题、逻辑链条和目标篇幅分配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                                                                               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r>
              <a:rPr lang="en-US" altLang="zh-CN" sz="800">
                <a:solidFill>
                  <a:srgbClr val="D4D4D4"/>
                </a:solidFill>
              </a:rPr>
              <a:t> WebSearch</a:t>
            </a:r>
            <a:r>
              <a:rPr lang="zh-CN" altLang="en-US" sz="800">
                <a:solidFill>
                  <a:srgbClr val="D4D4D4"/>
                </a:solidFill>
              </a:rPr>
              <a:t>（搜索同类报告目录结构作为参考，如麦肯锡</a:t>
            </a:r>
            <a:r>
              <a:rPr lang="en-US" altLang="zh-CN" sz="800">
                <a:solidFill>
                  <a:srgbClr val="D4D4D4"/>
                </a:solidFill>
              </a:rPr>
              <a:t>/BCG/36</a:t>
            </a:r>
            <a:r>
              <a:rPr lang="zh-CN" altLang="en-US" sz="800">
                <a:solidFill>
                  <a:srgbClr val="D4D4D4"/>
                </a:solidFill>
              </a:rPr>
              <a:t>氪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亿欧智库近</a:t>
            </a:r>
            <a:r>
              <a:rPr lang="en-US" altLang="zh-CN" sz="800">
                <a:solidFill>
                  <a:srgbClr val="D4D4D4"/>
                </a:solidFill>
              </a:rPr>
              <a:t>1-2</a:t>
            </a:r>
            <a:r>
              <a:rPr lang="zh-CN" altLang="en-US" sz="800">
                <a:solidFill>
                  <a:srgbClr val="D4D4D4"/>
                </a:solidFill>
              </a:rPr>
              <a:t>年发布的制造业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报告）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                        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报告大纲（</a:t>
            </a:r>
            <a:r>
              <a:rPr lang="en-US" altLang="zh-CN" sz="800">
                <a:solidFill>
                  <a:srgbClr val="D4D4D4"/>
                </a:solidFill>
              </a:rPr>
              <a:t>6-8</a:t>
            </a:r>
            <a:r>
              <a:rPr lang="zh-CN" altLang="en-US" sz="800">
                <a:solidFill>
                  <a:srgbClr val="D4D4D4"/>
                </a:solidFill>
              </a:rPr>
              <a:t>章），每章标题</a:t>
            </a:r>
            <a:r>
              <a:rPr lang="en-US" altLang="zh-CN" sz="800">
                <a:solidFill>
                  <a:srgbClr val="D4D4D4"/>
                </a:solidFill>
              </a:rPr>
              <a:t> + </a:t>
            </a:r>
            <a:r>
              <a:rPr lang="zh-CN" altLang="en-US" sz="800">
                <a:solidFill>
                  <a:srgbClr val="D4D4D4"/>
                </a:solidFill>
              </a:rPr>
              <a:t>核心论点</a:t>
            </a:r>
            <a:r>
              <a:rPr lang="en-US" altLang="zh-CN" sz="800">
                <a:solidFill>
                  <a:srgbClr val="D4D4D4"/>
                </a:solidFill>
              </a:rPr>
              <a:t> + </a:t>
            </a:r>
            <a:r>
              <a:rPr lang="zh-CN" altLang="en-US" sz="800">
                <a:solidFill>
                  <a:srgbClr val="D4D4D4"/>
                </a:solidFill>
              </a:rPr>
              <a:t>目标字数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无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建议框架（约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字）：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┌─────────────────────────────────────────────────────────────┬──────┐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                           </a:t>
            </a:r>
            <a:r>
              <a:rPr lang="zh-CN" altLang="en-US" sz="800">
                <a:solidFill>
                  <a:srgbClr val="D4D4D4"/>
                </a:solidFill>
              </a:rPr>
              <a:t>章节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字数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执行摘要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500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一、宏观背景：政策驱动与产业数字化转型</a:t>
            </a:r>
            <a:r>
              <a:rPr lang="en-US" altLang="zh-CN" sz="800">
                <a:solidFill>
                  <a:srgbClr val="D4D4D4"/>
                </a:solidFill>
              </a:rPr>
              <a:t>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800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二、市场规模与投资图谱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1000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三、核心应用场景深度拆解（质检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预测性维护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供应链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工艺优化）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1800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四、典型案例分析（</a:t>
            </a:r>
            <a:r>
              <a:rPr lang="en-US" altLang="zh-CN" sz="800">
                <a:solidFill>
                  <a:srgbClr val="D4D4D4"/>
                </a:solidFill>
              </a:rPr>
              <a:t>3-4</a:t>
            </a:r>
            <a:r>
              <a:rPr lang="zh-CN" altLang="en-US" sz="800">
                <a:solidFill>
                  <a:srgbClr val="D4D4D4"/>
                </a:solidFill>
              </a:rPr>
              <a:t>个标杆企业）</a:t>
            </a:r>
            <a:r>
              <a:rPr lang="en-US" altLang="zh-CN" sz="800">
                <a:solidFill>
                  <a:srgbClr val="D4D4D4"/>
                </a:solidFill>
              </a:rPr>
              <a:t>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1200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五、技术成熟度与落地挑战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800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六、竞争格局：供给侧玩家分析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800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七、趋势展望与高管行动建议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800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├─────────────────────────────────────────────────────────────┼──────┤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附录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数据来源</a:t>
            </a:r>
            <a:r>
              <a:rPr lang="en-US" altLang="zh-CN" sz="800">
                <a:solidFill>
                  <a:srgbClr val="D4D4D4"/>
                </a:solidFill>
              </a:rPr>
              <a:t>                                             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r>
              <a:rPr lang="en-US" altLang="zh-CN" sz="800">
                <a:solidFill>
                  <a:srgbClr val="D4D4D4"/>
                </a:solidFill>
              </a:rPr>
              <a:t> 200  </a:t>
            </a:r>
            <a:r>
              <a:rPr lang="en-US" altLang="en-US" sz="800">
                <a:solidFill>
                  <a:srgbClr val="D4D4D4"/>
                </a:solidFill>
              </a:rPr>
              <a:t>│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en-US" altLang="en-US" sz="800">
                <a:solidFill>
                  <a:srgbClr val="D4D4D4"/>
                </a:solidFill>
              </a:rPr>
              <a:t>└─────────────────────────────────────────────────────────────┴──────┘</a:t>
            </a:r>
            <a:endParaRPr lang="en-US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Step 2: </a:t>
            </a:r>
            <a:r>
              <a:rPr lang="zh-CN" altLang="en-US" sz="800">
                <a:solidFill>
                  <a:srgbClr val="D4D4D4"/>
                </a:solidFill>
              </a:rPr>
              <a:t>数据采集与事实核查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收集硬数据（市场规模、增速、渗透率、政策文件编号、企业财报数据）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WebSearch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搜索关键词：中国制造业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市场规模</a:t>
            </a:r>
            <a:r>
              <a:rPr lang="en-US" altLang="zh-CN" sz="800">
                <a:solidFill>
                  <a:srgbClr val="D4D4D4"/>
                </a:solidFill>
              </a:rPr>
              <a:t> 2025 2026</a:t>
            </a:r>
            <a:r>
              <a:rPr lang="zh-CN" altLang="en-US" sz="800">
                <a:solidFill>
                  <a:srgbClr val="D4D4D4"/>
                </a:solidFill>
              </a:rPr>
              <a:t>、智能制造政策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十四五、工业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融资、</a:t>
            </a:r>
            <a:r>
              <a:rPr lang="en-US" altLang="zh-CN" sz="800">
                <a:solidFill>
                  <a:srgbClr val="D4D4D4"/>
                </a:solidFill>
              </a:rPr>
              <a:t>predictive maintenance market China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WebFetch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抓取工信部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国家统计局公开数据页面、</a:t>
            </a:r>
            <a:r>
              <a:rPr lang="en-US" altLang="zh-CN" sz="800">
                <a:solidFill>
                  <a:srgbClr val="D4D4D4"/>
                </a:solidFill>
              </a:rPr>
              <a:t>IDC/Gartner/</a:t>
            </a:r>
            <a:r>
              <a:rPr lang="zh-CN" altLang="en-US" sz="800">
                <a:solidFill>
                  <a:srgbClr val="D4D4D4"/>
                </a:solidFill>
              </a:rPr>
              <a:t>亿欧等研究机构公开报告摘要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NotebookLM</a:t>
            </a:r>
            <a:r>
              <a:rPr lang="zh-CN" altLang="en-US" sz="800">
                <a:solidFill>
                  <a:srgbClr val="D4D4D4"/>
                </a:solidFill>
              </a:rPr>
              <a:t>（如有相关知识库）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查询已有资料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结构化数据表，包含</a:t>
            </a:r>
            <a:r>
              <a:rPr lang="en-US" altLang="zh-CN" sz="800">
                <a:solidFill>
                  <a:srgbClr val="D4D4D4"/>
                </a:solidFill>
              </a:rPr>
              <a:t> 15-20 </a:t>
            </a:r>
            <a:r>
              <a:rPr lang="zh-CN" altLang="en-US" sz="800">
                <a:solidFill>
                  <a:srgbClr val="D4D4D4"/>
                </a:solidFill>
              </a:rPr>
              <a:t>个关键数据点，每个标注来源和时间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 Step 1</a:t>
            </a:r>
            <a:r>
              <a:rPr lang="zh-CN" altLang="en-US" sz="800">
                <a:solidFill>
                  <a:srgbClr val="D4D4D4"/>
                </a:solidFill>
              </a:rPr>
              <a:t>（需要知道每章需要什么类型的数据）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重点采集清单：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1. </a:t>
            </a:r>
            <a:r>
              <a:rPr lang="zh-CN" altLang="en-US" sz="800">
                <a:solidFill>
                  <a:srgbClr val="D4D4D4"/>
                </a:solidFill>
              </a:rPr>
              <a:t>中国工业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市场规模及</a:t>
            </a:r>
            <a:r>
              <a:rPr lang="en-US" altLang="zh-CN" sz="800">
                <a:solidFill>
                  <a:srgbClr val="D4D4D4"/>
                </a:solidFill>
              </a:rPr>
              <a:t>CAGR</a:t>
            </a:r>
            <a:r>
              <a:rPr lang="zh-CN" altLang="en-US" sz="800">
                <a:solidFill>
                  <a:srgbClr val="D4D4D4"/>
                </a:solidFill>
              </a:rPr>
              <a:t>（</a:t>
            </a:r>
            <a:r>
              <a:rPr lang="en-US" altLang="zh-CN" sz="800">
                <a:solidFill>
                  <a:srgbClr val="D4D4D4"/>
                </a:solidFill>
              </a:rPr>
              <a:t>2023-2028</a:t>
            </a:r>
            <a:r>
              <a:rPr lang="zh-CN" altLang="en-US" sz="800">
                <a:solidFill>
                  <a:srgbClr val="D4D4D4"/>
                </a:solidFill>
              </a:rPr>
              <a:t>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2. </a:t>
            </a:r>
            <a:r>
              <a:rPr lang="zh-CN" altLang="en-US" sz="800">
                <a:solidFill>
                  <a:srgbClr val="D4D4D4"/>
                </a:solidFill>
              </a:rPr>
              <a:t>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渗透率（对比美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日）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3. </a:t>
            </a:r>
            <a:r>
              <a:rPr lang="zh-CN" altLang="en-US" sz="800">
                <a:solidFill>
                  <a:srgbClr val="D4D4D4"/>
                </a:solidFill>
              </a:rPr>
              <a:t>各细分场景（视觉质检、预测维护、数字孪生等）市场占比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4. </a:t>
            </a:r>
            <a:r>
              <a:rPr lang="zh-CN" altLang="en-US" sz="800">
                <a:solidFill>
                  <a:srgbClr val="D4D4D4"/>
                </a:solidFill>
              </a:rPr>
              <a:t>相关政策汇总（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十四五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智能制造规划、新型工业化、大模型政策）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5. </a:t>
            </a:r>
            <a:r>
              <a:rPr lang="zh-CN" altLang="en-US" sz="800">
                <a:solidFill>
                  <a:srgbClr val="D4D4D4"/>
                </a:solidFill>
              </a:rPr>
              <a:t>头部企业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投入金额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占营收比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6. </a:t>
            </a:r>
            <a:r>
              <a:rPr lang="zh-CN" altLang="en-US" sz="800">
                <a:solidFill>
                  <a:srgbClr val="D4D4D4"/>
                </a:solidFill>
              </a:rPr>
              <a:t>典型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数据（降本增效的量化结果）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Step 3: </a:t>
            </a:r>
            <a:r>
              <a:rPr lang="zh-CN" altLang="en-US" sz="800">
                <a:solidFill>
                  <a:srgbClr val="D4D4D4"/>
                </a:solidFill>
              </a:rPr>
              <a:t>案例深度调研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选定</a:t>
            </a:r>
            <a:r>
              <a:rPr lang="en-US" altLang="zh-CN" sz="800">
                <a:solidFill>
                  <a:srgbClr val="D4D4D4"/>
                </a:solidFill>
              </a:rPr>
              <a:t>3-4</a:t>
            </a:r>
            <a:r>
              <a:rPr lang="zh-CN" altLang="en-US" sz="800">
                <a:solidFill>
                  <a:srgbClr val="D4D4D4"/>
                </a:solidFill>
              </a:rPr>
              <a:t>个标杆案例，获取足够细节支撑分析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WebSearch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搜索企业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应用案例（如：海尔</a:t>
            </a:r>
            <a:r>
              <a:rPr lang="en-US" altLang="zh-CN" sz="800">
                <a:solidFill>
                  <a:srgbClr val="D4D4D4"/>
                </a:solidFill>
              </a:rPr>
              <a:t> AI </a:t>
            </a:r>
            <a:r>
              <a:rPr lang="zh-CN" altLang="en-US" sz="800">
                <a:solidFill>
                  <a:srgbClr val="D4D4D4"/>
                </a:solidFill>
              </a:rPr>
              <a:t>智能制造、宁德时代</a:t>
            </a:r>
            <a:r>
              <a:rPr lang="en-US" altLang="zh-CN" sz="800">
                <a:solidFill>
                  <a:srgbClr val="D4D4D4"/>
                </a:solidFill>
              </a:rPr>
              <a:t> AI </a:t>
            </a:r>
            <a:r>
              <a:rPr lang="zh-CN" altLang="en-US" sz="800">
                <a:solidFill>
                  <a:srgbClr val="D4D4D4"/>
                </a:solidFill>
              </a:rPr>
              <a:t>质检、三一重工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树根互联、富士康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灯塔工厂）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WebFetch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抓取案例详情页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每个案例</a:t>
            </a:r>
            <a:r>
              <a:rPr lang="en-US" altLang="zh-CN" sz="800">
                <a:solidFill>
                  <a:srgbClr val="D4D4D4"/>
                </a:solidFill>
              </a:rPr>
              <a:t> 300 </a:t>
            </a:r>
            <a:r>
              <a:rPr lang="zh-CN" altLang="en-US" sz="800">
                <a:solidFill>
                  <a:srgbClr val="D4D4D4"/>
                </a:solidFill>
              </a:rPr>
              <a:t>字的结构化卡片（背景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方案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成效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zh-CN" altLang="en-US" sz="800">
                <a:solidFill>
                  <a:srgbClr val="D4D4D4"/>
                </a:solidFill>
              </a:rPr>
              <a:t>启示）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 Step 1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候选案例方向：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离散制造：汽车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电子（视觉质检）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流程制造：化工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钢铁（工艺优化）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高端装备：航空航天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半导体（数字孪生）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平台型：大型集团的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中台建设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Step 4: </a:t>
            </a:r>
            <a:r>
              <a:rPr lang="zh-CN" altLang="en-US" sz="800">
                <a:solidFill>
                  <a:srgbClr val="D4D4D4"/>
                </a:solidFill>
              </a:rPr>
              <a:t>撰写初稿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完成全文</a:t>
            </a:r>
            <a:r>
              <a:rPr lang="en-US" altLang="zh-CN" sz="800">
                <a:solidFill>
                  <a:srgbClr val="D4D4D4"/>
                </a:solidFill>
              </a:rPr>
              <a:t> 8000 </a:t>
            </a:r>
            <a:r>
              <a:rPr lang="zh-CN" altLang="en-US" sz="800">
                <a:solidFill>
                  <a:srgbClr val="D4D4D4"/>
                </a:solidFill>
              </a:rPr>
              <a:t>字初稿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基于</a:t>
            </a:r>
            <a:r>
              <a:rPr lang="en-US" altLang="zh-CN" sz="800">
                <a:solidFill>
                  <a:srgbClr val="D4D4D4"/>
                </a:solidFill>
              </a:rPr>
              <a:t> Step 2-3 </a:t>
            </a:r>
            <a:r>
              <a:rPr lang="zh-CN" altLang="en-US" sz="800">
                <a:solidFill>
                  <a:srgbClr val="D4D4D4"/>
                </a:solidFill>
              </a:rPr>
              <a:t>的素材，直接撰写；可用</a:t>
            </a:r>
            <a:r>
              <a:rPr lang="en-US" altLang="zh-CN" sz="800">
                <a:solidFill>
                  <a:srgbClr val="D4D4D4"/>
                </a:solidFill>
              </a:rPr>
              <a:t> Write </a:t>
            </a:r>
            <a:r>
              <a:rPr lang="zh-CN" altLang="en-US" sz="800">
                <a:solidFill>
                  <a:srgbClr val="D4D4D4"/>
                </a:solidFill>
              </a:rPr>
              <a:t>工具输出为</a:t>
            </a:r>
            <a:r>
              <a:rPr lang="en-US" altLang="zh-CN" sz="800">
                <a:solidFill>
                  <a:srgbClr val="D4D4D4"/>
                </a:solidFill>
              </a:rPr>
              <a:t> Markdown </a:t>
            </a:r>
            <a:r>
              <a:rPr lang="zh-CN" altLang="en-US" sz="800">
                <a:solidFill>
                  <a:srgbClr val="D4D4D4"/>
                </a:solidFill>
              </a:rPr>
              <a:t>文件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完整</a:t>
            </a:r>
            <a:r>
              <a:rPr lang="en-US" altLang="zh-CN" sz="800">
                <a:solidFill>
                  <a:srgbClr val="D4D4D4"/>
                </a:solidFill>
              </a:rPr>
              <a:t> Markdown </a:t>
            </a:r>
            <a:r>
              <a:rPr lang="zh-CN" altLang="en-US" sz="800">
                <a:solidFill>
                  <a:srgbClr val="D4D4D4"/>
                </a:solidFill>
              </a:rPr>
              <a:t>初稿文件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 Step 2 + Step 3 </a:t>
            </a:r>
            <a:r>
              <a:rPr lang="zh-CN" altLang="en-US" sz="800">
                <a:solidFill>
                  <a:srgbClr val="D4D4D4"/>
                </a:solidFill>
              </a:rPr>
              <a:t>全部完成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写作原则（面向高管）：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结论前置，每节开头即给核心判断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数据可视化描述（文字中描述图表内容，标注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建议配图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）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避免技术术语堆砌，用商业语言翻译技术概念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每章末尾设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高管启示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小结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Step 5: </a:t>
            </a:r>
            <a:r>
              <a:rPr lang="zh-CN" altLang="en-US" sz="800">
                <a:solidFill>
                  <a:srgbClr val="D4D4D4"/>
                </a:solidFill>
              </a:rPr>
              <a:t>审校与格式化输出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目标：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质量检查</a:t>
            </a:r>
            <a:r>
              <a:rPr lang="en-US" altLang="zh-CN" sz="800">
                <a:solidFill>
                  <a:srgbClr val="D4D4D4"/>
                </a:solidFill>
              </a:rPr>
              <a:t> + </a:t>
            </a:r>
            <a:r>
              <a:rPr lang="zh-CN" altLang="en-US" sz="800">
                <a:solidFill>
                  <a:srgbClr val="D4D4D4"/>
                </a:solidFill>
              </a:rPr>
              <a:t>输出最终交付物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需要调用的工具</a:t>
            </a:r>
            <a:r>
              <a:rPr lang="en-US" altLang="zh-CN" sz="800">
                <a:solidFill>
                  <a:srgbClr val="D4D4D4"/>
                </a:solidFill>
              </a:rPr>
              <a:t>/</a:t>
            </a:r>
            <a:r>
              <a:rPr lang="zh-CN" altLang="en-US" sz="800">
                <a:solidFill>
                  <a:srgbClr val="D4D4D4"/>
                </a:solidFill>
              </a:rPr>
              <a:t>数据源：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</a:t>
            </a:r>
            <a:r>
              <a:rPr lang="zh-CN" altLang="en-US" sz="800">
                <a:solidFill>
                  <a:srgbClr val="D4D4D4"/>
                </a:solidFill>
              </a:rPr>
              <a:t>自查：数据一致性、来源标注完整性、逻辑连贯性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pdf-export skill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生成排版精美的</a:t>
            </a:r>
            <a:r>
              <a:rPr lang="en-US" altLang="zh-CN" sz="800">
                <a:solidFill>
                  <a:srgbClr val="D4D4D4"/>
                </a:solidFill>
              </a:rPr>
              <a:t> PDF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  - </a:t>
            </a:r>
            <a:r>
              <a:rPr lang="zh-CN" altLang="en-US" sz="800">
                <a:solidFill>
                  <a:srgbClr val="D4D4D4"/>
                </a:solidFill>
              </a:rPr>
              <a:t>或</a:t>
            </a:r>
            <a:r>
              <a:rPr lang="en-US" altLang="zh-CN" sz="800">
                <a:solidFill>
                  <a:srgbClr val="D4D4D4"/>
                </a:solidFill>
              </a:rPr>
              <a:t> pptx skill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如需要配套汇报</a:t>
            </a:r>
            <a:r>
              <a:rPr lang="en-US" altLang="zh-CN" sz="800">
                <a:solidFill>
                  <a:srgbClr val="D4D4D4"/>
                </a:solidFill>
              </a:rPr>
              <a:t>PPT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预计产出：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终稿</a:t>
            </a:r>
            <a:r>
              <a:rPr lang="en-US" altLang="zh-CN" sz="800">
                <a:solidFill>
                  <a:srgbClr val="D4D4D4"/>
                </a:solidFill>
              </a:rPr>
              <a:t> PDF + </a:t>
            </a:r>
            <a:r>
              <a:rPr lang="zh-CN" altLang="en-US" sz="800">
                <a:solidFill>
                  <a:srgbClr val="D4D4D4"/>
                </a:solidFill>
              </a:rPr>
              <a:t>配套图表建议清单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前置依赖：</a:t>
            </a:r>
            <a:r>
              <a:rPr lang="en-US" altLang="zh-CN" sz="800">
                <a:solidFill>
                  <a:srgbClr val="D4D4D4"/>
                </a:solidFill>
              </a:rPr>
              <a:t> Step 4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关键决策点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1. </a:t>
            </a:r>
            <a:r>
              <a:rPr lang="zh-CN" altLang="en-US" sz="800">
                <a:solidFill>
                  <a:srgbClr val="D4D4D4"/>
                </a:solidFill>
              </a:rPr>
              <a:t>案例选择：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选「灯塔工厂」类国际认可案例，还是选国产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厂商赋能案例？前者权威性强，后者对国内高管更有参考价值。建议混搭：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个灯塔工厂</a:t>
            </a:r>
            <a:r>
              <a:rPr lang="en-US" altLang="zh-CN" sz="800">
                <a:solidFill>
                  <a:srgbClr val="D4D4D4"/>
                </a:solidFill>
              </a:rPr>
              <a:t> + 2</a:t>
            </a:r>
            <a:r>
              <a:rPr lang="zh-CN" altLang="en-US" sz="800">
                <a:solidFill>
                  <a:srgbClr val="D4D4D4"/>
                </a:solidFill>
              </a:rPr>
              <a:t>个国产方案。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2. </a:t>
            </a:r>
            <a:r>
              <a:rPr lang="zh-CN" altLang="en-US" sz="800">
                <a:solidFill>
                  <a:srgbClr val="D4D4D4"/>
                </a:solidFill>
              </a:rPr>
              <a:t>数据口径：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市场规模数据各机构差异大（</a:t>
            </a:r>
            <a:r>
              <a:rPr lang="en-US" altLang="zh-CN" sz="800">
                <a:solidFill>
                  <a:srgbClr val="D4D4D4"/>
                </a:solidFill>
              </a:rPr>
              <a:t>IDC vs </a:t>
            </a:r>
            <a:r>
              <a:rPr lang="zh-CN" altLang="en-US" sz="800">
                <a:solidFill>
                  <a:srgbClr val="D4D4D4"/>
                </a:solidFill>
              </a:rPr>
              <a:t>亿欧</a:t>
            </a:r>
            <a:r>
              <a:rPr lang="en-US" altLang="zh-CN" sz="800">
                <a:solidFill>
                  <a:srgbClr val="D4D4D4"/>
                </a:solidFill>
              </a:rPr>
              <a:t> vs CCID</a:t>
            </a:r>
            <a:r>
              <a:rPr lang="zh-CN" altLang="en-US" sz="800">
                <a:solidFill>
                  <a:srgbClr val="D4D4D4"/>
                </a:solidFill>
              </a:rPr>
              <a:t>），需要选定主要引用源并保持全文一致。建议以</a:t>
            </a:r>
            <a:r>
              <a:rPr lang="en-US" altLang="zh-CN" sz="800">
                <a:solidFill>
                  <a:srgbClr val="D4D4D4"/>
                </a:solidFill>
              </a:rPr>
              <a:t>IDC/Gartner</a:t>
            </a:r>
            <a:r>
              <a:rPr lang="zh-CN" altLang="en-US" sz="800">
                <a:solidFill>
                  <a:srgbClr val="D4D4D4"/>
                </a:solidFill>
              </a:rPr>
              <a:t>为主，国内机构为辅。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3. </a:t>
            </a:r>
            <a:r>
              <a:rPr lang="zh-CN" altLang="en-US" sz="800">
                <a:solidFill>
                  <a:srgbClr val="D4D4D4"/>
                </a:solidFill>
              </a:rPr>
              <a:t>大模型</a:t>
            </a:r>
            <a:r>
              <a:rPr lang="en-US" altLang="zh-CN" sz="800">
                <a:solidFill>
                  <a:srgbClr val="D4D4D4"/>
                </a:solidFill>
              </a:rPr>
              <a:t>/GenAI</a:t>
            </a:r>
            <a:r>
              <a:rPr lang="zh-CN" altLang="en-US" sz="800">
                <a:solidFill>
                  <a:srgbClr val="D4D4D4"/>
                </a:solidFill>
              </a:rPr>
              <a:t>是否单独成章？</a:t>
            </a:r>
            <a:r>
              <a:rPr lang="en-US" altLang="zh-CN" sz="800">
                <a:solidFill>
                  <a:srgbClr val="D4D4D4"/>
                </a:solidFill>
              </a:rPr>
              <a:t> 2025-2026</a:t>
            </a:r>
            <a:r>
              <a:rPr lang="zh-CN" altLang="en-US" sz="800">
                <a:solidFill>
                  <a:srgbClr val="D4D4D4"/>
                </a:solidFill>
              </a:rPr>
              <a:t>年大模型在制造业落地是热点，可以作为趋势章节的重点，也可以单独拆章。建议融入趋势展望章节，避免炒概念感。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4. </a:t>
            </a:r>
            <a:r>
              <a:rPr lang="zh-CN" altLang="en-US" sz="800">
                <a:solidFill>
                  <a:srgbClr val="D4D4D4"/>
                </a:solidFill>
              </a:rPr>
              <a:t>深度</a:t>
            </a:r>
            <a:r>
              <a:rPr lang="en-US" altLang="zh-CN" sz="800">
                <a:solidFill>
                  <a:srgbClr val="D4D4D4"/>
                </a:solidFill>
              </a:rPr>
              <a:t> vs </a:t>
            </a:r>
            <a:r>
              <a:rPr lang="zh-CN" altLang="en-US" sz="800">
                <a:solidFill>
                  <a:srgbClr val="D4D4D4"/>
                </a:solidFill>
              </a:rPr>
              <a:t>广度：</a:t>
            </a:r>
            <a:r>
              <a:rPr lang="en-US" altLang="zh-CN" sz="800">
                <a:solidFill>
                  <a:srgbClr val="D4D4D4"/>
                </a:solidFill>
              </a:rPr>
              <a:t> 8000</a:t>
            </a:r>
            <a:r>
              <a:rPr lang="zh-CN" altLang="en-US" sz="800">
                <a:solidFill>
                  <a:srgbClr val="D4D4D4"/>
                </a:solidFill>
              </a:rPr>
              <a:t>字篇幅有限，是覆盖更多场景做全景扫描，还是聚焦</a:t>
            </a:r>
            <a:r>
              <a:rPr lang="en-US" altLang="zh-CN" sz="800">
                <a:solidFill>
                  <a:srgbClr val="D4D4D4"/>
                </a:solidFill>
              </a:rPr>
              <a:t>3-4</a:t>
            </a:r>
            <a:r>
              <a:rPr lang="zh-CN" altLang="en-US" sz="800">
                <a:solidFill>
                  <a:srgbClr val="D4D4D4"/>
                </a:solidFill>
              </a:rPr>
              <a:t>个高价值场景做深度分析？面向高管建议聚焦高价值场景，附录中列全景图。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风险与备选方案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1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最新数据难获取（</a:t>
            </a:r>
            <a:r>
              <a:rPr lang="en-US" altLang="zh-CN" sz="800">
                <a:solidFill>
                  <a:srgbClr val="D4D4D4"/>
                </a:solidFill>
              </a:rPr>
              <a:t>2025-2026</a:t>
            </a:r>
            <a:r>
              <a:rPr lang="zh-CN" altLang="en-US" sz="800">
                <a:solidFill>
                  <a:srgbClr val="D4D4D4"/>
                </a:solidFill>
              </a:rPr>
              <a:t>年市场数据可能尚未发布）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使用</a:t>
            </a:r>
            <a:r>
              <a:rPr lang="en-US" altLang="zh-CN" sz="800">
                <a:solidFill>
                  <a:srgbClr val="D4D4D4"/>
                </a:solidFill>
              </a:rPr>
              <a:t>2024</a:t>
            </a:r>
            <a:r>
              <a:rPr lang="zh-CN" altLang="en-US" sz="800">
                <a:solidFill>
                  <a:srgbClr val="D4D4D4"/>
                </a:solidFill>
              </a:rPr>
              <a:t>年实际数据</a:t>
            </a:r>
            <a:r>
              <a:rPr lang="en-US" altLang="zh-CN" sz="800">
                <a:solidFill>
                  <a:srgbClr val="D4D4D4"/>
                </a:solidFill>
              </a:rPr>
              <a:t> + </a:t>
            </a:r>
            <a:r>
              <a:rPr lang="zh-CN" altLang="en-US" sz="800">
                <a:solidFill>
                  <a:srgbClr val="D4D4D4"/>
                </a:solidFill>
              </a:rPr>
              <a:t>机构预测数据，明确标注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预测值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2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企业案例细节不足（公开信息有限）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引用世界经济论坛灯塔工厂官方报告、企业</a:t>
            </a:r>
            <a:r>
              <a:rPr lang="en-US" altLang="zh-CN" sz="800">
                <a:solidFill>
                  <a:srgbClr val="D4D4D4"/>
                </a:solidFill>
              </a:rPr>
              <a:t>ESG/</a:t>
            </a:r>
            <a:r>
              <a:rPr lang="zh-CN" altLang="en-US" sz="800">
                <a:solidFill>
                  <a:srgbClr val="D4D4D4"/>
                </a:solidFill>
              </a:rPr>
              <a:t>年报中的智能制造章节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3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篇幅控制困难（素材过多导致超字数）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核心正文控制在</a:t>
            </a:r>
            <a:r>
              <a:rPr lang="en-US" altLang="zh-CN" sz="800">
                <a:solidFill>
                  <a:srgbClr val="D4D4D4"/>
                </a:solidFill>
              </a:rPr>
              <a:t>7000</a:t>
            </a:r>
            <a:r>
              <a:rPr lang="zh-CN" altLang="en-US" sz="800">
                <a:solidFill>
                  <a:srgbClr val="D4D4D4"/>
                </a:solidFill>
              </a:rPr>
              <a:t>字，留</a:t>
            </a:r>
            <a:r>
              <a:rPr lang="en-US" altLang="zh-CN" sz="800">
                <a:solidFill>
                  <a:srgbClr val="D4D4D4"/>
                </a:solidFill>
              </a:rPr>
              <a:t>1000</a:t>
            </a:r>
            <a:r>
              <a:rPr lang="zh-CN" altLang="en-US" sz="800">
                <a:solidFill>
                  <a:srgbClr val="D4D4D4"/>
                </a:solidFill>
              </a:rPr>
              <a:t>字给执行摘要和附录，次要内容降级为脚注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 </a:t>
            </a:r>
            <a:r>
              <a:rPr lang="zh-CN" altLang="en-US" sz="800">
                <a:solidFill>
                  <a:srgbClr val="D4D4D4"/>
                </a:solidFill>
              </a:rPr>
              <a:t>风险</a:t>
            </a:r>
            <a:r>
              <a:rPr lang="en-US" altLang="zh-CN" sz="800">
                <a:solidFill>
                  <a:srgbClr val="D4D4D4"/>
                </a:solidFill>
              </a:rPr>
              <a:t>4</a:t>
            </a:r>
            <a:r>
              <a:rPr lang="zh-CN" altLang="en-US" sz="800">
                <a:solidFill>
                  <a:srgbClr val="D4D4D4"/>
                </a:solidFill>
              </a:rPr>
              <a:t>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数据来源可信度参差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en-US" altLang="en-US" sz="800">
                <a:solidFill>
                  <a:srgbClr val="D4D4D4"/>
                </a:solidFill>
              </a:rPr>
              <a:t>→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备选：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建立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双源验证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原则，每个关键数据至少有两个独立来源交叉印证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你认为最难的一步是什么？为什么？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Step 2</a:t>
            </a:r>
            <a:r>
              <a:rPr lang="zh-CN" altLang="en-US" sz="800">
                <a:solidFill>
                  <a:srgbClr val="D4D4D4"/>
                </a:solidFill>
              </a:rPr>
              <a:t>（数据采集与事实核查）最难。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</a:t>
            </a:r>
            <a:r>
              <a:rPr lang="zh-CN" altLang="en-US" sz="800">
                <a:solidFill>
                  <a:srgbClr val="D4D4D4"/>
                </a:solidFill>
              </a:rPr>
              <a:t>原因有三：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1. </a:t>
            </a:r>
            <a:r>
              <a:rPr lang="zh-CN" altLang="en-US" sz="800">
                <a:solidFill>
                  <a:srgbClr val="D4D4D4"/>
                </a:solidFill>
              </a:rPr>
              <a:t>数据碎片化：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中国制造业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的权威统计口径不统一，</a:t>
            </a:r>
            <a:r>
              <a:rPr lang="en-US" altLang="zh-CN" sz="800">
                <a:solidFill>
                  <a:srgbClr val="D4D4D4"/>
                </a:solidFill>
              </a:rPr>
              <a:t>IDC</a:t>
            </a:r>
            <a:r>
              <a:rPr lang="zh-CN" altLang="en-US" sz="800">
                <a:solidFill>
                  <a:srgbClr val="D4D4D4"/>
                </a:solidFill>
              </a:rPr>
              <a:t>统计的是</a:t>
            </a:r>
            <a:r>
              <a:rPr lang="en-US" altLang="zh-CN" sz="800">
                <a:solidFill>
                  <a:srgbClr val="D4D4D4"/>
                </a:solidFill>
              </a:rPr>
              <a:t>"AI</a:t>
            </a:r>
            <a:r>
              <a:rPr lang="zh-CN" altLang="en-US" sz="800">
                <a:solidFill>
                  <a:srgbClr val="D4D4D4"/>
                </a:solidFill>
              </a:rPr>
              <a:t>软件市场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，亿欧统计的是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智能制造整体方案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，</a:t>
            </a:r>
            <a:r>
              <a:rPr lang="en-US" altLang="zh-CN" sz="800">
                <a:solidFill>
                  <a:srgbClr val="D4D4D4"/>
                </a:solidFill>
              </a:rPr>
              <a:t>CCID</a:t>
            </a:r>
            <a:r>
              <a:rPr lang="zh-CN" altLang="en-US" sz="800">
                <a:solidFill>
                  <a:srgbClr val="D4D4D4"/>
                </a:solidFill>
              </a:rPr>
              <a:t>统计的是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工业互联网</a:t>
            </a:r>
            <a:r>
              <a:rPr lang="en-US" altLang="zh-CN" sz="800">
                <a:solidFill>
                  <a:srgbClr val="D4D4D4"/>
                </a:solidFill>
              </a:rPr>
              <a:t>"——</a:t>
            </a:r>
            <a:r>
              <a:rPr lang="zh-CN" altLang="en-US" sz="800">
                <a:solidFill>
                  <a:srgbClr val="D4D4D4"/>
                </a:solidFill>
              </a:rPr>
              <a:t>看似相关，实则口径差异巨大。给</a:t>
            </a:r>
            <a:r>
              <a:rPr lang="en-US" altLang="zh-CN" sz="800">
                <a:solidFill>
                  <a:srgbClr val="D4D4D4"/>
                </a:solidFill>
              </a:rPr>
              <a:t>CEO</a:t>
            </a:r>
            <a:r>
              <a:rPr lang="zh-CN" altLang="en-US" sz="800">
                <a:solidFill>
                  <a:srgbClr val="D4D4D4"/>
                </a:solidFill>
              </a:rPr>
              <a:t>看的报告不能出现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"</a:t>
            </a:r>
            <a:r>
              <a:rPr lang="zh-CN" altLang="en-US" sz="800">
                <a:solidFill>
                  <a:srgbClr val="D4D4D4"/>
                </a:solidFill>
              </a:rPr>
              <a:t>市场规模在</a:t>
            </a:r>
            <a:r>
              <a:rPr lang="en-US" altLang="zh-CN" sz="800">
                <a:solidFill>
                  <a:srgbClr val="D4D4D4"/>
                </a:solidFill>
              </a:rPr>
              <a:t>3000</a:t>
            </a:r>
            <a:r>
              <a:rPr lang="zh-CN" altLang="en-US" sz="800">
                <a:solidFill>
                  <a:srgbClr val="D4D4D4"/>
                </a:solidFill>
              </a:rPr>
              <a:t>亿到</a:t>
            </a:r>
            <a:r>
              <a:rPr lang="en-US" altLang="zh-CN" sz="800">
                <a:solidFill>
                  <a:srgbClr val="D4D4D4"/>
                </a:solidFill>
              </a:rPr>
              <a:t>8000</a:t>
            </a:r>
            <a:r>
              <a:rPr lang="zh-CN" altLang="en-US" sz="800">
                <a:solidFill>
                  <a:srgbClr val="D4D4D4"/>
                </a:solidFill>
              </a:rPr>
              <a:t>亿之间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这种模糊表述。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2. </a:t>
            </a:r>
            <a:r>
              <a:rPr lang="zh-CN" altLang="en-US" sz="800">
                <a:solidFill>
                  <a:srgbClr val="D4D4D4"/>
                </a:solidFill>
              </a:rPr>
              <a:t>时效性矛盾：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高管要看最新数据，但权威机构的</a:t>
            </a:r>
            <a:r>
              <a:rPr lang="en-US" altLang="zh-CN" sz="800">
                <a:solidFill>
                  <a:srgbClr val="D4D4D4"/>
                </a:solidFill>
              </a:rPr>
              <a:t>2025-2026</a:t>
            </a:r>
            <a:r>
              <a:rPr lang="zh-CN" altLang="en-US" sz="800">
                <a:solidFill>
                  <a:srgbClr val="D4D4D4"/>
                </a:solidFill>
              </a:rPr>
              <a:t>年数据往往滞后发布。需要在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使用旧数据显得过时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和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使用预测数据不够严谨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之间找到平衡。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3. ROI</a:t>
            </a:r>
            <a:r>
              <a:rPr lang="zh-CN" altLang="en-US" sz="800">
                <a:solidFill>
                  <a:srgbClr val="D4D4D4"/>
                </a:solidFill>
              </a:rPr>
              <a:t>数据稀缺：</a:t>
            </a:r>
            <a:r>
              <a:rPr lang="en-US" altLang="zh-CN" sz="800">
                <a:solidFill>
                  <a:srgbClr val="D4D4D4"/>
                </a:solidFill>
              </a:rPr>
              <a:t> </a:t>
            </a:r>
            <a:r>
              <a:rPr lang="zh-CN" altLang="en-US" sz="800">
                <a:solidFill>
                  <a:srgbClr val="D4D4D4"/>
                </a:solidFill>
              </a:rPr>
              <a:t>高管最关心的是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投入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到底能赚多少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，但企业极少公开披露</a:t>
            </a:r>
            <a:r>
              <a:rPr lang="en-US" altLang="zh-CN" sz="800">
                <a:solidFill>
                  <a:srgbClr val="D4D4D4"/>
                </a:solidFill>
              </a:rPr>
              <a:t>AI</a:t>
            </a:r>
            <a:r>
              <a:rPr lang="zh-CN" altLang="en-US" sz="800">
                <a:solidFill>
                  <a:srgbClr val="D4D4D4"/>
                </a:solidFill>
              </a:rPr>
              <a:t>项目的具体</a:t>
            </a:r>
            <a:r>
              <a:rPr lang="en-US" altLang="zh-CN" sz="800">
                <a:solidFill>
                  <a:srgbClr val="D4D4D4"/>
                </a:solidFill>
              </a:rPr>
              <a:t>ROI</a:t>
            </a:r>
            <a:r>
              <a:rPr lang="zh-CN" altLang="en-US" sz="800">
                <a:solidFill>
                  <a:srgbClr val="D4D4D4"/>
                </a:solidFill>
              </a:rPr>
              <a:t>。能找到的往往是厂商宣传口径（</a:t>
            </a:r>
            <a:r>
              <a:rPr lang="en-US" altLang="zh-CN" sz="800">
                <a:solidFill>
                  <a:srgbClr val="D4D4D4"/>
                </a:solidFill>
              </a:rPr>
              <a:t>"</a:t>
            </a:r>
            <a:r>
              <a:rPr lang="zh-CN" altLang="en-US" sz="800">
                <a:solidFill>
                  <a:srgbClr val="D4D4D4"/>
                </a:solidFill>
              </a:rPr>
              <a:t>效率提升</a:t>
            </a:r>
            <a:r>
              <a:rPr lang="en-US" altLang="zh-CN" sz="800">
                <a:solidFill>
                  <a:srgbClr val="D4D4D4"/>
                </a:solidFill>
              </a:rPr>
              <a:t>30%"</a:t>
            </a:r>
            <a:r>
              <a:rPr lang="zh-CN" altLang="en-US" sz="800">
                <a:solidFill>
                  <a:srgbClr val="D4D4D4"/>
                </a:solidFill>
              </a:rPr>
              <a:t>），缺乏第三方验证，直接引用会损害报告公信力。</a:t>
            </a:r>
            <a:endParaRPr lang="zh-CN" altLang="en-US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lang="en-US" altLang="zh-CN" sz="800">
                <a:solidFill>
                  <a:srgbClr val="D4D4D4"/>
                </a:solidFill>
              </a:rPr>
              <a:t>  ---</a:t>
            </a:r>
            <a:endParaRPr lang="en-US" altLang="zh-CN" sz="800"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endParaRPr lang="en-US" altLang="zh-CN" sz="800">
              <a:solidFill>
                <a:srgbClr val="D4D4D4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253901" y="284113"/>
            <a:ext cx="863352" cy="253901"/>
          </a:xfrm>
          <a:prstGeom prst="roundRect">
            <a:avLst>
              <a:gd name="adj" fmla="val 30012"/>
            </a:avLst>
          </a:prstGeom>
          <a:solidFill>
            <a:srgbClr val="3B82F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34863"/>
            <a:ext cx="56972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43965" y="254000"/>
            <a:ext cx="592582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结果对比：</a:t>
            </a:r>
            <a:r>
              <a:rPr lang="en-US" altLang="zh-CN" dirty="0">
                <a:sym typeface="+mn-ea"/>
              </a:rPr>
              <a:t>AI Agent</a:t>
            </a:r>
            <a:r>
              <a:rPr lang="zh-CN" altLang="en-US" dirty="0">
                <a:sym typeface="+mn-ea"/>
              </a:rPr>
              <a:t>任务规划</a:t>
            </a:r>
            <a:endParaRPr lang="en-US" sz="1800" dirty="0"/>
          </a:p>
        </p:txBody>
      </p:sp>
      <p:pic>
        <p:nvPicPr>
          <p:cNvPr id="15" name="图片 14" descr="3abbf33c-82b2-40f6-a154-17e804b9678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025" y="51435"/>
            <a:ext cx="1565275" cy="88455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03150"/>
            <a:ext cx="8705088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Round 5 结果对比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48200" y="1671022"/>
            <a:ext cx="4191000" cy="364927"/>
          </a:xfrm>
          <a:prstGeom prst="roundRect">
            <a:avLst>
              <a:gd name="adj" fmla="val 2088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9701" y="1772523"/>
            <a:ext cx="40677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DeepSeek V3.1</a:t>
            </a:r>
            <a:r>
              <a:rPr lang="en-US" sz="9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拆解清楚，逻辑链完整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2112149"/>
            <a:ext cx="4191000" cy="364927"/>
          </a:xfrm>
          <a:prstGeom prst="roundRect">
            <a:avLst>
              <a:gd name="adj" fmla="val 2088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49701" y="2213650"/>
            <a:ext cx="40677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MiniMax-M2.7</a:t>
            </a:r>
            <a:r>
              <a:rPr lang="en-US" sz="9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实用导向强，适合国内业务落地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48200" y="2553275"/>
            <a:ext cx="4191000" cy="364927"/>
          </a:xfrm>
          <a:prstGeom prst="roundRect">
            <a:avLst>
              <a:gd name="adj" fmla="val 2088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49701" y="2654776"/>
            <a:ext cx="40677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豆包Doubao-Seed-2.0</a:t>
            </a:r>
            <a:r>
              <a:rPr lang="en-US" sz="9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分工直白，适合快速协同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48200" y="2994402"/>
            <a:ext cx="4191000" cy="364927"/>
          </a:xfrm>
          <a:prstGeom prst="roundRect">
            <a:avLst>
              <a:gd name="adj" fmla="val 2088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9701" y="3095903"/>
            <a:ext cx="40677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Kimi-k2</a:t>
            </a:r>
            <a:r>
              <a:rPr lang="en-US" sz="9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节奏安排清楚，但颗粒度略粗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48200" y="3435529"/>
            <a:ext cx="4191000" cy="364927"/>
          </a:xfrm>
          <a:prstGeom prst="roundRect">
            <a:avLst>
              <a:gd name="adj" fmla="val 2088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9701" y="3537029"/>
            <a:ext cx="406775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Claude 4.7</a:t>
            </a:r>
            <a:r>
              <a:rPr lang="en-US" sz="9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 清单最细，审核环节意识最强</a:t>
            </a:r>
            <a:endParaRPr lang="en-US" sz="900" dirty="0"/>
          </a:p>
        </p:txBody>
      </p:sp>
      <p:pic>
        <p:nvPicPr>
          <p:cNvPr id="29" name="图片 28" descr="6d88ef09-bd09-4b8d-a5fe-0ad405bf81b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275080"/>
            <a:ext cx="4249420" cy="28327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350"/>
            <a:ext cx="8498026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选模型速查表（国内优先版）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847576"/>
            <a:ext cx="8331398" cy="463451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974527"/>
            <a:ext cx="538906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使用场景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92850" y="974527"/>
            <a:ext cx="2694533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推荐模型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311027"/>
            <a:ext cx="8331398" cy="47297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301" y="1779240"/>
            <a:ext cx="83313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09451" y="1437977"/>
            <a:ext cx="538906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写邮件、写文案、写报告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2850" y="1437977"/>
            <a:ext cx="269453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Kimi-k2 / MiniMax-M2.7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1784003"/>
            <a:ext cx="8331398" cy="47297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6301" y="2252216"/>
            <a:ext cx="83313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9451" y="1910953"/>
            <a:ext cx="538906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逻辑推理、排计划、算约束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2850" y="1910953"/>
            <a:ext cx="269453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DeepSeek / Claude 4.7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2256979"/>
            <a:ext cx="8331398" cy="472976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6301" y="2725192"/>
            <a:ext cx="83313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9451" y="2383929"/>
            <a:ext cx="538906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写代码、做网页、技术开发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2850" y="2383929"/>
            <a:ext cx="269453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MiniMax-M2.7 / Claude 4.7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301" y="2729954"/>
            <a:ext cx="8331398" cy="47297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6301" y="3198168"/>
            <a:ext cx="83313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09451" y="2856905"/>
            <a:ext cx="538906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看图、看视频、分析数据看板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2850" y="2856905"/>
            <a:ext cx="269453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豆包AI / MiniMax-M2.7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301" y="3202930"/>
            <a:ext cx="8331398" cy="463451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451" y="3329880"/>
            <a:ext cx="538906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中文场景、国内合规需求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2850" y="3329880"/>
            <a:ext cx="2694533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MiniMax-M2.7 / DeepSeek V3.1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6301" y="3844082"/>
            <a:ext cx="849802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推荐基于当前版本测试结果，建议用你自己的真实任务验证。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47</a:t>
            </a:r>
            <a:endParaRPr lang="en-US" sz="800" dirty="0"/>
          </a:p>
        </p:txBody>
      </p:sp>
      <p:sp>
        <p:nvSpPr>
          <p:cNvPr id="28" name="Hyperlink"/>
          <p:cNvSpPr/>
          <p:nvPr/>
        </p:nvSpPr>
        <p:spPr>
          <a:xfrm>
            <a:off x="609451" y="3655057"/>
            <a:ext cx="5389066" cy="300000"/>
          </a:xfrm>
          <a:prstGeom prst="rect">
            <a:avLst/>
          </a:prstGeom>
          <a:noFill/>
          <a:ln>
            <a:lnIdx val="1"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u="sng" dirty="0">
                <a:solidFill>
                  <a:srgbClr val="007AFF"/>
                </a:solidFill>
                <a:hlinkClick r:id="rId3"/>
              </a:rPr>
              <a:t>查看详细评分表 →</a:t>
            </a:r>
            <a:endParaRPr lang="en-US" sz="1100" dirty="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53901"/>
            <a:ext cx="8705088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zh-CN" alt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做一个简单的模型评分</a:t>
            </a:r>
            <a:r>
              <a:rPr lang="zh-CN" altLang="en-US" sz="2200" b="1" dirty="0">
                <a:solidFill>
                  <a:srgbClr val="111827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榜</a:t>
            </a:r>
            <a:endParaRPr lang="zh-CN" altLang="en-US" sz="2200" b="1" dirty="0">
              <a:solidFill>
                <a:srgbClr val="111827"/>
              </a:solidFill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04800" y="822127"/>
            <a:ext cx="1015901" cy="3063180"/>
          </a:xfrm>
          <a:prstGeom prst="rect">
            <a:avLst/>
          </a:prstGeom>
          <a:solidFill>
            <a:srgbClr val="F1F5F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4800" y="1261765"/>
            <a:ext cx="10159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06301" y="949077"/>
            <a:ext cx="8291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4800" y="1706166"/>
            <a:ext cx="10159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06301" y="1393478"/>
            <a:ext cx="8291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写作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4800" y="2150566"/>
            <a:ext cx="10159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06301" y="1837879"/>
            <a:ext cx="8291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推理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4800" y="2594967"/>
            <a:ext cx="10159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06301" y="2282279"/>
            <a:ext cx="8291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代码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4800" y="3039368"/>
            <a:ext cx="10159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6301" y="2726680"/>
            <a:ext cx="8291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多模态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4800" y="3445669"/>
            <a:ext cx="101590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06301" y="3171081"/>
            <a:ext cx="829157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800" y="3450431"/>
            <a:ext cx="1015901" cy="434876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6301" y="3577382"/>
            <a:ext cx="82915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总分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0701" y="822127"/>
            <a:ext cx="1503611" cy="30631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320701" y="1223665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57430" y="949077"/>
            <a:ext cx="143015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DeepSeek V3.1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20701" y="1629966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20701" y="2036266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320701" y="2442567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320701" y="2848868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320701" y="3255169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320701" y="3259931"/>
            <a:ext cx="1503611" cy="396776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24311" y="822127"/>
            <a:ext cx="1503759" cy="306318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824311" y="1223665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861039" y="949077"/>
            <a:ext cx="14303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MiniMax-M2.7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24311" y="1629966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824311" y="2442567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824311" y="2848868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2824311" y="3255169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824311" y="3259931"/>
            <a:ext cx="1503759" cy="396776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328071" y="822127"/>
            <a:ext cx="1503611" cy="30631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328071" y="1223665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364800" y="949077"/>
            <a:ext cx="143015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豆包Doubao-Seed-2.0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328071" y="1629966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328071" y="2442567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4328071" y="2848868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328071" y="3255169"/>
            <a:ext cx="1503611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328071" y="3259931"/>
            <a:ext cx="1503611" cy="396776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831681" y="822127"/>
            <a:ext cx="1503759" cy="306318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831681" y="1223665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868409" y="949077"/>
            <a:ext cx="14303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Kimi-k2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831681" y="1629966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5831681" y="2442567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5831681" y="2848868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5831681" y="3255169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831681" y="3259931"/>
            <a:ext cx="1503759" cy="396776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7335441" y="822127"/>
            <a:ext cx="1503759" cy="306318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7335441" y="1223665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7372168" y="949077"/>
            <a:ext cx="1430304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877B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Claude 4.7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335441" y="1629966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7335441" y="2442567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7335441" y="2848868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7335441" y="3255169"/>
            <a:ext cx="15037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7335441" y="3259931"/>
            <a:ext cx="1503759" cy="396776"/>
          </a:xfrm>
          <a:prstGeom prst="rect">
            <a:avLst/>
          </a:prstGeom>
          <a:solidFill>
            <a:srgbClr val="23877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304800" y="4037707"/>
            <a:ext cx="870508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评分基于本次测试，仅供参考。模型持续更新，排名随时可能变化。</a:t>
            </a:r>
            <a:endParaRPr lang="en-US" sz="1000" dirty="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5" name="Shape 12"/>
          <p:cNvSpPr/>
          <p:nvPr/>
        </p:nvSpPr>
        <p:spPr>
          <a:xfrm>
            <a:off x="395605" y="843915"/>
            <a:ext cx="8321675" cy="3673475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77" name="Text 13"/>
          <p:cNvSpPr txBox="1"/>
          <p:nvPr/>
        </p:nvSpPr>
        <p:spPr>
          <a:xfrm>
            <a:off x="1548130" y="987425"/>
            <a:ext cx="6163310" cy="23558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no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 marL="0" indent="0" algn="ctr">
              <a:lnSpc>
                <a:spcPts val="3900"/>
              </a:lnSpc>
              <a:spcAft>
                <a:spcPts val="3200"/>
              </a:spcAft>
              <a:buNone/>
            </a:pPr>
            <a:r>
              <a:rPr lang="en-US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"横评有效期只有30天——</a:t>
            </a:r>
            <a:endParaRPr lang="en-US" sz="2000" dirty="0">
              <a:latin typeface="Arial" panose="020B0704020202020204" pitchFamily="34" charset="0"/>
              <a:ea typeface="Arial" panose="020B0704020202020204" pitchFamily="34" charset="-122"/>
              <a:cs typeface="Arial" panose="020B0704020202020204" pitchFamily="34" charset="-120"/>
              <a:sym typeface="+mn-ea"/>
            </a:endParaRPr>
          </a:p>
          <a:p>
            <a:pPr marL="0" indent="0" algn="ctr">
              <a:lnSpc>
                <a:spcPts val="3900"/>
              </a:lnSpc>
              <a:spcAft>
                <a:spcPts val="3200"/>
              </a:spcAft>
              <a:buNone/>
            </a:pPr>
            <a:r>
              <a:rPr lang="en-US" sz="2000" dirty="0"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  <a:sym typeface="+mn-ea"/>
              </a:rPr>
              <a:t>做你自己的那张表"</a:t>
            </a:r>
            <a:endParaRPr lang="en-US" altLang="zh-CN" sz="2000"/>
          </a:p>
        </p:txBody>
      </p:sp>
      <p:sp>
        <p:nvSpPr>
          <p:cNvPr id="4" name="Text 2"/>
          <p:cNvSpPr/>
          <p:nvPr/>
        </p:nvSpPr>
        <p:spPr>
          <a:xfrm>
            <a:off x="2484388" y="3368040"/>
            <a:ext cx="4156174" cy="774502"/>
          </a:xfrm>
          <a:prstGeom prst="roundRect">
            <a:avLst>
              <a:gd name="adj" fmla="val 16398"/>
            </a:avLst>
          </a:prstGeom>
          <a:solidFill>
            <a:srgbClr val="FFFFFF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62612" y="3583841"/>
            <a:ext cx="3617506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下节预告：</a:t>
            </a:r>
            <a:r>
              <a:rPr lang="zh-CN" altLang="en-US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国内</a:t>
            </a:r>
            <a:r>
              <a:rPr lang="en-US" altLang="zh-CN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Agent</a:t>
            </a:r>
            <a:r>
              <a:rPr lang="zh-CN" altLang="en-US" sz="1200" dirty="0">
                <a:solidFill>
                  <a:srgbClr val="FFFFFF">
                    <a:alpha val="90000"/>
                  </a:srgbClr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为什么突然从聊天框走向工作流？</a:t>
            </a:r>
            <a:endParaRPr lang="en-US" sz="1200" dirty="0"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d94be285099de42c573f65d6aab04a88979779b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802" b="80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556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AFAFA">
                  <a:alpha val="95000"/>
                </a:srgbClr>
              </a:gs>
              <a:gs pos="50000">
                <a:srgbClr val="FAFAFA">
                  <a:alpha val="90000"/>
                </a:srgbClr>
              </a:gs>
              <a:gs pos="100000">
                <a:srgbClr val="FAFAFA">
                  <a:alpha val="7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85750" y="1775222"/>
            <a:ext cx="8829675" cy="1285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The </a:t>
            </a:r>
            <a:r>
              <a:rPr lang="en-US" altLang="zh-CN" sz="4050" b="1" dirty="0">
                <a:solidFill>
                  <a:srgbClr val="1D1D1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End</a:t>
            </a:r>
            <a:endParaRPr lang="en-US" altLang="zh-CN" sz="4050" b="1" dirty="0">
              <a:solidFill>
                <a:srgbClr val="1D1D1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27630" y="3219450"/>
            <a:ext cx="4128135" cy="762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0071E3"/>
          </a:solidFill>
        </p:spPr>
        <p:txBody>
          <a:bodyPr/>
          <a:p/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2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3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4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5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6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7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8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9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0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1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2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3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4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5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6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7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8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19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20.xml><?xml version="1.0" encoding="utf-8"?>
<p:tagLst xmlns:p="http://schemas.openxmlformats.org/presentationml/2006/main">
  <p:tag name="KSO_WM_DIAGRAM_VIRTUALLY_FRAME" val="{&quot;height&quot;:100.50779527559055,&quot;left&quot;:41.75,&quot;top&quot;:128.74220472440945,&quot;width&quot;:648}"/>
</p:tagLst>
</file>

<file path=ppt/tags/tag21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2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3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4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5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6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7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8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29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30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31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ags/tag32.xml><?xml version="1.0" encoding="utf-8"?>
<p:tagLst xmlns:p="http://schemas.openxmlformats.org/presentationml/2006/main">
  <p:tag name="KSO_WM_DIAGRAM_VIRTUALLY_FRAME" val="{&quot;height&quot;:54.73826771653544,&quot;left&quot;:33.8,&quot;top&quot;:211.68590551181106,&quot;width&quot;:648}"/>
</p:tagLst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36454</Words>
  <Application>WPS 演示</Application>
  <PresentationFormat/>
  <Paragraphs>1924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76" baseType="lpstr">
      <vt:lpstr>Arial</vt:lpstr>
      <vt:lpstr>宋体</vt:lpstr>
      <vt:lpstr>Wingdings</vt:lpstr>
      <vt:lpstr>Calibri</vt:lpstr>
      <vt:lpstr>Helvetica Neue</vt:lpstr>
      <vt:lpstr>Calibri Light</vt:lpstr>
      <vt:lpstr>Arial</vt:lpstr>
      <vt:lpstr>Space Grotesk</vt:lpstr>
      <vt:lpstr>Thonburi</vt:lpstr>
      <vt:lpstr>Inter</vt:lpstr>
      <vt:lpstr>黑体</vt:lpstr>
      <vt:lpstr>汉仪中黑KW</vt:lpstr>
      <vt:lpstr>MiSans</vt:lpstr>
      <vt:lpstr>宋体-简</vt:lpstr>
      <vt:lpstr>MiSans</vt:lpstr>
      <vt:lpstr>Plus Jakarta Sans</vt:lpstr>
      <vt:lpstr>Arial</vt:lpstr>
      <vt:lpstr>Arial</vt:lpstr>
      <vt:lpstr>宋体</vt:lpstr>
      <vt:lpstr>汉仪书宋二KW</vt:lpstr>
      <vt:lpstr>微软雅黑</vt:lpstr>
      <vt:lpstr>汉仪旗黑</vt:lpstr>
      <vt:lpstr>Arial Unicode MS</vt:lpstr>
      <vt:lpstr>Arial Regular</vt:lpstr>
      <vt:lpstr>Inter</vt:lpstr>
      <vt:lpstr>MiSans</vt:lpstr>
      <vt:lpstr>Plus Jakarta Sans</vt:lpstr>
      <vt:lpstr>Space Grotesk</vt:lpstr>
      <vt:lpstr>黑体</vt:lpstr>
      <vt:lpstr>苹方-简</vt:lpstr>
      <vt:lpstr>Calibri</vt:lpstr>
      <vt:lpstr>Fira Code</vt:lpstr>
      <vt:lpstr>Fira Code</vt:lpstr>
      <vt:lpstr>Apple Color Emoji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Frank</cp:lastModifiedBy>
  <cp:revision>430</cp:revision>
  <dcterms:created xsi:type="dcterms:W3CDTF">2026-03-28T14:40:23Z</dcterms:created>
  <dcterms:modified xsi:type="dcterms:W3CDTF">2026-03-28T14:40:23Z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B92EA23D39C5AF4C3FD9C3694FF3D4D1_42</vt:lpwstr>
  </property>
</Properties>
</file>