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590" marR="0" indent="-32639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7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2.png"/><Relationship Id="rId1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hueOff val="198858"/>
                <a:satOff val="-2082"/>
                <a:lumOff val="20614"/>
              </a:schemeClr>
            </a:gs>
            <a:gs pos="50000">
              <a:srgbClr val="A1C1E5"/>
            </a:gs>
            <a:gs pos="100000">
              <a:schemeClr val="accent5">
                <a:hueOff val="173799"/>
                <a:satOff val="1446"/>
                <a:lumOff val="13545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926464" y="624840"/>
            <a:ext cx="7291071" cy="388874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" name="Text 1"/>
          <p:cNvSpPr txBox="1"/>
          <p:nvPr/>
        </p:nvSpPr>
        <p:spPr>
          <a:xfrm>
            <a:off x="1785938" y="1285875"/>
            <a:ext cx="532210" cy="45922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600"/>
              </a:lnSpc>
              <a:defRPr sz="3200" b="1">
                <a:solidFill>
                  <a:srgbClr val="A5B4FC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r>
              <a:t>C1</a:t>
            </a:r>
          </a:p>
        </p:txBody>
      </p:sp>
      <p:sp>
        <p:nvSpPr>
          <p:cNvPr id="22" name="Shape 2"/>
          <p:cNvSpPr/>
          <p:nvPr/>
        </p:nvSpPr>
        <p:spPr>
          <a:xfrm>
            <a:off x="2430660" y="1392137"/>
            <a:ext cx="737593" cy="244674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3" name="Text 3"/>
          <p:cNvSpPr txBox="1"/>
          <p:nvPr/>
        </p:nvSpPr>
        <p:spPr>
          <a:xfrm>
            <a:off x="2515623" y="1392137"/>
            <a:ext cx="567667" cy="223776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900"/>
              </a:lnSpc>
              <a:defRPr sz="700" spc="1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必修 · 5节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785938" y="2329029"/>
            <a:ext cx="2857501" cy="50698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3800"/>
              </a:lnSpc>
              <a:defRPr sz="2800" b="1">
                <a:latin typeface="Space Grotesk"/>
                <a:ea typeface="Space Grotesk"/>
                <a:cs typeface="Space Grotesk"/>
                <a:sym typeface="Space Grotesk"/>
              </a:defRPr>
            </a:lvl1pPr>
          </a:lstStyle>
          <a:p>
            <a:r>
              <a:t>AI工具与核心概念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785938" y="2923383"/>
            <a:ext cx="1680692" cy="21437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从零建立对AI的完整认知</a:t>
            </a:r>
          </a:p>
        </p:txBody>
      </p:sp>
      <p:pic>
        <p:nvPicPr>
          <p:cNvPr id="26" name="Image 1" descr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233" y="2393156"/>
            <a:ext cx="535782" cy="7143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" name="Text 6"/>
          <p:cNvSpPr txBox="1"/>
          <p:nvPr/>
        </p:nvSpPr>
        <p:spPr>
          <a:xfrm>
            <a:off x="1786254" y="3693159"/>
            <a:ext cx="901701" cy="17221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1400">
                <a:latin typeface="黑体"/>
                <a:ea typeface="黑体"/>
                <a:cs typeface="黑体"/>
                <a:sym typeface="黑体"/>
              </a:defRPr>
            </a:lvl1pPr>
          </a:lstStyle>
          <a:p>
            <a:r>
              <a:t>讲师：张明</a:t>
            </a:r>
          </a:p>
        </p:txBody>
      </p:sp>
      <p:pic>
        <p:nvPicPr>
          <p:cNvPr id="28" name="图片 13" descr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020" y="1478914"/>
            <a:ext cx="1666876" cy="166687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" name="Shape 0"/>
          <p:cNvSpPr/>
          <p:nvPr/>
        </p:nvSpPr>
        <p:spPr>
          <a:xfrm>
            <a:off x="285750" y="285750"/>
            <a:ext cx="857250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2" name="Text 1"/>
          <p:cNvSpPr txBox="1"/>
          <p:nvPr/>
        </p:nvSpPr>
        <p:spPr>
          <a:xfrm>
            <a:off x="571500" y="500062"/>
            <a:ext cx="1384300" cy="3215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本节内容大纲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7799189" y="617041"/>
            <a:ext cx="620285" cy="13220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OpenCSG / C1</a:t>
            </a:r>
          </a:p>
        </p:txBody>
      </p:sp>
      <p:sp>
        <p:nvSpPr>
          <p:cNvPr id="34" name="Shape 3"/>
          <p:cNvSpPr/>
          <p:nvPr/>
        </p:nvSpPr>
        <p:spPr>
          <a:xfrm>
            <a:off x="285750" y="1257300"/>
            <a:ext cx="2743200" cy="17145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144">
            <a:solidFill>
              <a:srgbClr val="DBEAFE"/>
            </a:solidFill>
          </a:ln>
        </p:spPr>
        <p:txBody>
          <a:bodyPr lIns="0" tIns="0" rIns="0" bIns="0"/>
          <a:lstStyle/>
          <a:p/>
        </p:txBody>
      </p:sp>
      <p:sp>
        <p:nvSpPr>
          <p:cNvPr id="35" name="Text 4"/>
          <p:cNvSpPr txBox="1"/>
          <p:nvPr/>
        </p:nvSpPr>
        <p:spPr>
          <a:xfrm>
            <a:off x="500062" y="1471612"/>
            <a:ext cx="351732" cy="3444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solidFill>
                  <a:srgbClr val="BFDBFE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01</a:t>
            </a:r>
          </a:p>
        </p:txBody>
      </p:sp>
      <p:sp>
        <p:nvSpPr>
          <p:cNvPr id="36" name="Text 5"/>
          <p:cNvSpPr txBox="1"/>
          <p:nvPr/>
        </p:nvSpPr>
        <p:spPr>
          <a:xfrm>
            <a:off x="500062" y="2311729"/>
            <a:ext cx="2314576" cy="4589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1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AI的发展历程</a:t>
            </a:r>
          </a:p>
          <a:p>
            <a:pPr>
              <a:lnSpc>
                <a:spcPts val="1800"/>
              </a:lnSpc>
              <a:defRPr sz="11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与现状</a:t>
            </a:r>
          </a:p>
        </p:txBody>
      </p:sp>
      <p:pic>
        <p:nvPicPr>
          <p:cNvPr id="37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2528886" y="2471736"/>
            <a:ext cx="571501" cy="5715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8" name="Shape 6"/>
          <p:cNvSpPr/>
          <p:nvPr/>
        </p:nvSpPr>
        <p:spPr>
          <a:xfrm>
            <a:off x="3200400" y="1257300"/>
            <a:ext cx="2743200" cy="171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9" name="Text 7"/>
          <p:cNvSpPr txBox="1"/>
          <p:nvPr/>
        </p:nvSpPr>
        <p:spPr>
          <a:xfrm>
            <a:off x="3414712" y="1471612"/>
            <a:ext cx="351732" cy="3444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02</a:t>
            </a:r>
          </a:p>
        </p:txBody>
      </p:sp>
      <p:sp>
        <p:nvSpPr>
          <p:cNvPr id="40" name="Text 8"/>
          <p:cNvSpPr txBox="1"/>
          <p:nvPr/>
        </p:nvSpPr>
        <p:spPr>
          <a:xfrm>
            <a:off x="3414712" y="2311729"/>
            <a:ext cx="2314576" cy="4589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大语言模型</a:t>
            </a:r>
          </a:p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核心原理</a:t>
            </a:r>
          </a:p>
        </p:txBody>
      </p:sp>
      <p:pic>
        <p:nvPicPr>
          <p:cNvPr id="41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700000">
            <a:off x="5443537" y="2471736"/>
            <a:ext cx="571501" cy="5715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2" name="Shape 9"/>
          <p:cNvSpPr/>
          <p:nvPr/>
        </p:nvSpPr>
        <p:spPr>
          <a:xfrm>
            <a:off x="6115050" y="1257300"/>
            <a:ext cx="2743200" cy="171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43" name="Text 10"/>
          <p:cNvSpPr txBox="1"/>
          <p:nvPr/>
        </p:nvSpPr>
        <p:spPr>
          <a:xfrm>
            <a:off x="6329362" y="1471612"/>
            <a:ext cx="351732" cy="34442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03</a:t>
            </a:r>
          </a:p>
        </p:txBody>
      </p:sp>
      <p:sp>
        <p:nvSpPr>
          <p:cNvPr id="44" name="Text 11"/>
          <p:cNvSpPr txBox="1"/>
          <p:nvPr/>
        </p:nvSpPr>
        <p:spPr>
          <a:xfrm>
            <a:off x="6329362" y="2311729"/>
            <a:ext cx="2314576" cy="4589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主流AI工具</a:t>
            </a:r>
          </a:p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对比与选型</a:t>
            </a:r>
          </a:p>
        </p:txBody>
      </p:sp>
      <p:pic>
        <p:nvPicPr>
          <p:cNvPr id="45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700000">
            <a:off x="8358188" y="2471736"/>
            <a:ext cx="571500" cy="5715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6" name="Shape 12"/>
          <p:cNvSpPr/>
          <p:nvPr/>
        </p:nvSpPr>
        <p:spPr>
          <a:xfrm>
            <a:off x="285750" y="3143250"/>
            <a:ext cx="2743200" cy="171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47" name="Text 13"/>
          <p:cNvSpPr txBox="1"/>
          <p:nvPr/>
        </p:nvSpPr>
        <p:spPr>
          <a:xfrm>
            <a:off x="500062" y="3357562"/>
            <a:ext cx="351732" cy="3444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04</a:t>
            </a:r>
          </a:p>
        </p:txBody>
      </p:sp>
      <p:sp>
        <p:nvSpPr>
          <p:cNvPr id="48" name="Text 14"/>
          <p:cNvSpPr txBox="1"/>
          <p:nvPr/>
        </p:nvSpPr>
        <p:spPr>
          <a:xfrm>
            <a:off x="500062" y="4197679"/>
            <a:ext cx="2314576" cy="4589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Prompt基础</a:t>
            </a:r>
          </a:p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与第一次对话</a:t>
            </a:r>
          </a:p>
        </p:txBody>
      </p:sp>
      <p:pic>
        <p:nvPicPr>
          <p:cNvPr id="49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700000">
            <a:off x="2528886" y="4357687"/>
            <a:ext cx="571501" cy="5715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" name="Shape 15"/>
          <p:cNvSpPr/>
          <p:nvPr/>
        </p:nvSpPr>
        <p:spPr>
          <a:xfrm>
            <a:off x="3200400" y="3143250"/>
            <a:ext cx="2743200" cy="1714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51" name="Text 16"/>
          <p:cNvSpPr txBox="1"/>
          <p:nvPr/>
        </p:nvSpPr>
        <p:spPr>
          <a:xfrm>
            <a:off x="3414712" y="3357562"/>
            <a:ext cx="351732" cy="3444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700"/>
              </a:lnSpc>
              <a:defRPr sz="2400" b="1">
                <a:solidFill>
                  <a:srgbClr val="E5E7EB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05</a:t>
            </a:r>
          </a:p>
        </p:txBody>
      </p:sp>
      <p:sp>
        <p:nvSpPr>
          <p:cNvPr id="52" name="Text 17"/>
          <p:cNvSpPr txBox="1"/>
          <p:nvPr/>
        </p:nvSpPr>
        <p:spPr>
          <a:xfrm>
            <a:off x="3414712" y="4197679"/>
            <a:ext cx="2314576" cy="458979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课程实操</a:t>
            </a:r>
          </a:p>
          <a:p>
            <a:pPr>
              <a:lnSpc>
                <a:spcPts val="18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环境搭建</a:t>
            </a:r>
          </a:p>
        </p:txBody>
      </p:sp>
      <p:pic>
        <p:nvPicPr>
          <p:cNvPr id="53" name="Image 5" descr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700000">
            <a:off x="5300662" y="4357687"/>
            <a:ext cx="714376" cy="5715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4" name="Shape 18"/>
          <p:cNvSpPr/>
          <p:nvPr/>
        </p:nvSpPr>
        <p:spPr>
          <a:xfrm>
            <a:off x="6115050" y="3143250"/>
            <a:ext cx="2743200" cy="171450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55" name="Text 19"/>
          <p:cNvSpPr txBox="1"/>
          <p:nvPr/>
        </p:nvSpPr>
        <p:spPr>
          <a:xfrm>
            <a:off x="6877645" y="3892451"/>
            <a:ext cx="690259" cy="19468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1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Let's Start</a:t>
            </a:r>
          </a:p>
        </p:txBody>
      </p:sp>
      <p:sp>
        <p:nvSpPr>
          <p:cNvPr id="56" name="Shape 20"/>
          <p:cNvSpPr/>
          <p:nvPr/>
        </p:nvSpPr>
        <p:spPr>
          <a:xfrm>
            <a:off x="7809904" y="3857625"/>
            <a:ext cx="285751" cy="285750"/>
          </a:xfrm>
          <a:prstGeom prst="ellipse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57" name="Image 6" descr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6522" y="3936205"/>
            <a:ext cx="112515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0" name="Text 0"/>
          <p:cNvSpPr txBox="1"/>
          <p:nvPr/>
        </p:nvSpPr>
        <p:spPr>
          <a:xfrm>
            <a:off x="285750" y="285750"/>
            <a:ext cx="3227686" cy="3345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什么是大语言模型（LLM）</a:t>
            </a:r>
          </a:p>
        </p:txBody>
      </p:sp>
      <p:sp>
        <p:nvSpPr>
          <p:cNvPr id="61" name="Text 1"/>
          <p:cNvSpPr txBox="1"/>
          <p:nvPr/>
        </p:nvSpPr>
        <p:spPr>
          <a:xfrm>
            <a:off x="8067079" y="398263"/>
            <a:ext cx="616795" cy="1564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02 / 核心原理</a:t>
            </a:r>
          </a:p>
        </p:txBody>
      </p:sp>
      <p:sp>
        <p:nvSpPr>
          <p:cNvPr id="62" name="Shape 2"/>
          <p:cNvSpPr/>
          <p:nvPr/>
        </p:nvSpPr>
        <p:spPr>
          <a:xfrm>
            <a:off x="285750" y="757237"/>
            <a:ext cx="5600700" cy="41433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63" name="Shape 3"/>
          <p:cNvSpPr/>
          <p:nvPr/>
        </p:nvSpPr>
        <p:spPr>
          <a:xfrm>
            <a:off x="514350" y="1903808"/>
            <a:ext cx="5143500" cy="85725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64" name="Shape 4"/>
          <p:cNvSpPr/>
          <p:nvPr/>
        </p:nvSpPr>
        <p:spPr>
          <a:xfrm>
            <a:off x="514350" y="1903808"/>
            <a:ext cx="42863" cy="857251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65" name="Text 5"/>
          <p:cNvSpPr txBox="1"/>
          <p:nvPr/>
        </p:nvSpPr>
        <p:spPr>
          <a:xfrm>
            <a:off x="685800" y="2075258"/>
            <a:ext cx="4800600" cy="504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20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基于 </a:t>
            </a:r>
            <a:r>
              <a:rPr>
                <a:solidFill>
                  <a:srgbClr val="2563EB"/>
                </a:solidFill>
              </a:rPr>
              <a:t>Transformer架构</a:t>
            </a:r>
            <a:r>
              <a:t> 的深度学习模型，通过海量文本数据训练而成，是当前AI应用的 </a:t>
            </a:r>
            <a:r>
              <a:rPr>
                <a:solidFill>
                  <a:srgbClr val="2563EB"/>
                </a:solidFill>
              </a:rPr>
              <a:t>核心引擎</a:t>
            </a:r>
            <a:r>
              <a:t>。</a:t>
            </a:r>
          </a:p>
        </p:txBody>
      </p:sp>
      <p:sp>
        <p:nvSpPr>
          <p:cNvPr id="66" name="Shape 6"/>
          <p:cNvSpPr/>
          <p:nvPr/>
        </p:nvSpPr>
        <p:spPr>
          <a:xfrm>
            <a:off x="514350" y="2989658"/>
            <a:ext cx="1619260" cy="764382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67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65" y="3132533"/>
            <a:ext cx="228601" cy="228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68" name="Text 7"/>
          <p:cNvSpPr txBox="1"/>
          <p:nvPr/>
        </p:nvSpPr>
        <p:spPr>
          <a:xfrm>
            <a:off x="1139829" y="3446858"/>
            <a:ext cx="368301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1100"/>
              </a:lnSpc>
              <a:defRPr sz="7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理解能力</a:t>
            </a:r>
          </a:p>
        </p:txBody>
      </p:sp>
      <p:sp>
        <p:nvSpPr>
          <p:cNvPr id="69" name="Shape 8"/>
          <p:cNvSpPr/>
          <p:nvPr/>
        </p:nvSpPr>
        <p:spPr>
          <a:xfrm>
            <a:off x="2276483" y="2989658"/>
            <a:ext cx="1619260" cy="764382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70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3132533"/>
            <a:ext cx="228600" cy="228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1" name="Text 9"/>
          <p:cNvSpPr txBox="1"/>
          <p:nvPr/>
        </p:nvSpPr>
        <p:spPr>
          <a:xfrm>
            <a:off x="2901963" y="3446858"/>
            <a:ext cx="368301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1100"/>
              </a:lnSpc>
              <a:defRPr sz="7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生成能力</a:t>
            </a:r>
          </a:p>
        </p:txBody>
      </p:sp>
      <p:sp>
        <p:nvSpPr>
          <p:cNvPr id="72" name="Shape 10"/>
          <p:cNvSpPr/>
          <p:nvPr/>
        </p:nvSpPr>
        <p:spPr>
          <a:xfrm>
            <a:off x="4038618" y="2989658"/>
            <a:ext cx="1619261" cy="764382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73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647" y="3132533"/>
            <a:ext cx="257176" cy="2286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4" name="Text 11"/>
          <p:cNvSpPr txBox="1"/>
          <p:nvPr/>
        </p:nvSpPr>
        <p:spPr>
          <a:xfrm>
            <a:off x="4664098" y="3446858"/>
            <a:ext cx="368301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1100"/>
              </a:lnSpc>
              <a:defRPr sz="700" b="1">
                <a:solidFill>
                  <a:srgbClr val="11182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推理能力</a:t>
            </a:r>
          </a:p>
        </p:txBody>
      </p:sp>
      <p:sp>
        <p:nvSpPr>
          <p:cNvPr id="75" name="Shape 12"/>
          <p:cNvSpPr/>
          <p:nvPr/>
        </p:nvSpPr>
        <p:spPr>
          <a:xfrm>
            <a:off x="6057900" y="757237"/>
            <a:ext cx="2800350" cy="1985965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76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017983"/>
            <a:ext cx="160734" cy="1428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7" name="Text 13"/>
          <p:cNvSpPr txBox="1"/>
          <p:nvPr/>
        </p:nvSpPr>
        <p:spPr>
          <a:xfrm>
            <a:off x="6518671" y="985837"/>
            <a:ext cx="469901" cy="18110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代表模型</a:t>
            </a:r>
          </a:p>
        </p:txBody>
      </p:sp>
      <p:sp>
        <p:nvSpPr>
          <p:cNvPr id="78" name="Shape 14"/>
          <p:cNvSpPr/>
          <p:nvPr/>
        </p:nvSpPr>
        <p:spPr>
          <a:xfrm>
            <a:off x="6286500" y="1335880"/>
            <a:ext cx="553642" cy="250032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79" name="Text 15"/>
          <p:cNvSpPr txBox="1"/>
          <p:nvPr/>
        </p:nvSpPr>
        <p:spPr>
          <a:xfrm>
            <a:off x="6354445" y="1335880"/>
            <a:ext cx="417752" cy="245110"/>
          </a:xfrm>
          <a:prstGeom prst="rect">
            <a:avLst/>
          </a:prstGeom>
          <a:ln w="12700">
            <a:miter lim="400000"/>
          </a:ln>
        </p:spPr>
        <p:txBody>
          <a:bodyPr lIns="68072" tIns="68072" rIns="68072" bIns="68072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GPT-4</a:t>
            </a:r>
          </a:p>
        </p:txBody>
      </p:sp>
      <p:sp>
        <p:nvSpPr>
          <p:cNvPr id="80" name="Shape 16"/>
          <p:cNvSpPr/>
          <p:nvPr/>
        </p:nvSpPr>
        <p:spPr>
          <a:xfrm>
            <a:off x="6897290" y="1335880"/>
            <a:ext cx="757239" cy="250032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81" name="Text 17"/>
          <p:cNvSpPr txBox="1"/>
          <p:nvPr/>
        </p:nvSpPr>
        <p:spPr>
          <a:xfrm>
            <a:off x="6965235" y="1335880"/>
            <a:ext cx="621349" cy="245110"/>
          </a:xfrm>
          <a:prstGeom prst="rect">
            <a:avLst/>
          </a:prstGeom>
          <a:ln w="12700">
            <a:miter lim="400000"/>
          </a:ln>
        </p:spPr>
        <p:txBody>
          <a:bodyPr lIns="68072" tIns="68072" rIns="68072" bIns="68072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Claude 3.5</a:t>
            </a:r>
          </a:p>
        </p:txBody>
      </p:sp>
      <p:sp>
        <p:nvSpPr>
          <p:cNvPr id="82" name="Shape 18"/>
          <p:cNvSpPr/>
          <p:nvPr/>
        </p:nvSpPr>
        <p:spPr>
          <a:xfrm>
            <a:off x="7711678" y="1335880"/>
            <a:ext cx="766168" cy="250032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83" name="Text 19"/>
          <p:cNvSpPr txBox="1"/>
          <p:nvPr/>
        </p:nvSpPr>
        <p:spPr>
          <a:xfrm>
            <a:off x="7779622" y="1335880"/>
            <a:ext cx="630278" cy="245110"/>
          </a:xfrm>
          <a:prstGeom prst="rect">
            <a:avLst/>
          </a:prstGeom>
          <a:ln w="12700">
            <a:miter lim="400000"/>
          </a:ln>
        </p:spPr>
        <p:txBody>
          <a:bodyPr lIns="68072" tIns="68072" rIns="68072" bIns="68072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Gemini Pro</a:t>
            </a:r>
          </a:p>
        </p:txBody>
      </p:sp>
      <p:sp>
        <p:nvSpPr>
          <p:cNvPr id="84" name="Shape 20"/>
          <p:cNvSpPr/>
          <p:nvPr/>
        </p:nvSpPr>
        <p:spPr>
          <a:xfrm>
            <a:off x="6286500" y="1643063"/>
            <a:ext cx="617934" cy="250032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85" name="Text 21"/>
          <p:cNvSpPr txBox="1"/>
          <p:nvPr/>
        </p:nvSpPr>
        <p:spPr>
          <a:xfrm>
            <a:off x="6354445" y="1643063"/>
            <a:ext cx="482045" cy="245109"/>
          </a:xfrm>
          <a:prstGeom prst="rect">
            <a:avLst/>
          </a:prstGeom>
          <a:ln w="12700">
            <a:miter lim="400000"/>
          </a:ln>
        </p:spPr>
        <p:txBody>
          <a:bodyPr lIns="68072" tIns="68072" rIns="68072" bIns="68072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Llama 3</a:t>
            </a:r>
          </a:p>
        </p:txBody>
      </p:sp>
      <p:sp>
        <p:nvSpPr>
          <p:cNvPr id="86" name="Shape 22"/>
          <p:cNvSpPr/>
          <p:nvPr/>
        </p:nvSpPr>
        <p:spPr>
          <a:xfrm>
            <a:off x="6961584" y="1643063"/>
            <a:ext cx="519709" cy="250032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87" name="Text 23"/>
          <p:cNvSpPr txBox="1"/>
          <p:nvPr/>
        </p:nvSpPr>
        <p:spPr>
          <a:xfrm>
            <a:off x="7029529" y="1643063"/>
            <a:ext cx="383819" cy="245109"/>
          </a:xfrm>
          <a:prstGeom prst="rect">
            <a:avLst/>
          </a:prstGeom>
          <a:ln w="12700">
            <a:miter lim="400000"/>
          </a:ln>
        </p:spPr>
        <p:txBody>
          <a:bodyPr lIns="68072" tIns="68072" rIns="68072" bIns="68072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Qwen</a:t>
            </a:r>
          </a:p>
        </p:txBody>
      </p:sp>
      <p:sp>
        <p:nvSpPr>
          <p:cNvPr id="88" name="Shape 24"/>
          <p:cNvSpPr/>
          <p:nvPr/>
        </p:nvSpPr>
        <p:spPr>
          <a:xfrm>
            <a:off x="6057900" y="2914650"/>
            <a:ext cx="2800350" cy="19859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89" name="Image 5" descr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175397"/>
            <a:ext cx="142875" cy="1428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0" name="Text 25"/>
          <p:cNvSpPr txBox="1"/>
          <p:nvPr/>
        </p:nvSpPr>
        <p:spPr>
          <a:xfrm>
            <a:off x="6500812" y="3143250"/>
            <a:ext cx="469901" cy="1811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关键概念</a:t>
            </a:r>
          </a:p>
        </p:txBody>
      </p:sp>
      <p:sp>
        <p:nvSpPr>
          <p:cNvPr id="91" name="Shape 26"/>
          <p:cNvSpPr/>
          <p:nvPr/>
        </p:nvSpPr>
        <p:spPr>
          <a:xfrm>
            <a:off x="6286500" y="3493294"/>
            <a:ext cx="2343150" cy="307182"/>
          </a:xfrm>
          <a:prstGeom prst="rect">
            <a:avLst/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92" name="Text 27"/>
          <p:cNvSpPr txBox="1"/>
          <p:nvPr/>
        </p:nvSpPr>
        <p:spPr>
          <a:xfrm>
            <a:off x="6500812" y="3564730"/>
            <a:ext cx="529650" cy="1419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Token (词元)</a:t>
            </a:r>
          </a:p>
        </p:txBody>
      </p:sp>
      <p:sp>
        <p:nvSpPr>
          <p:cNvPr id="93" name="Shape 28"/>
          <p:cNvSpPr/>
          <p:nvPr/>
        </p:nvSpPr>
        <p:spPr>
          <a:xfrm>
            <a:off x="6286500" y="3886200"/>
            <a:ext cx="2343150" cy="307182"/>
          </a:xfrm>
          <a:prstGeom prst="rect">
            <a:avLst/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94" name="Text 29"/>
          <p:cNvSpPr txBox="1"/>
          <p:nvPr/>
        </p:nvSpPr>
        <p:spPr>
          <a:xfrm>
            <a:off x="6500812" y="3957637"/>
            <a:ext cx="1058796" cy="1419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Context Window (上下文)</a:t>
            </a:r>
          </a:p>
        </p:txBody>
      </p:sp>
      <p:sp>
        <p:nvSpPr>
          <p:cNvPr id="95" name="Shape 30"/>
          <p:cNvSpPr/>
          <p:nvPr/>
        </p:nvSpPr>
        <p:spPr>
          <a:xfrm>
            <a:off x="6286500" y="4279105"/>
            <a:ext cx="2343150" cy="307182"/>
          </a:xfrm>
          <a:prstGeom prst="rect">
            <a:avLst/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96" name="Text 31"/>
          <p:cNvSpPr txBox="1"/>
          <p:nvPr/>
        </p:nvSpPr>
        <p:spPr>
          <a:xfrm>
            <a:off x="6500812" y="4350544"/>
            <a:ext cx="806377" cy="1419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Temperature (温度)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 txBox="1"/>
          <p:nvPr/>
        </p:nvSpPr>
        <p:spPr>
          <a:xfrm>
            <a:off x="285749" y="285750"/>
            <a:ext cx="2298701" cy="3215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主流AI工具对比与选型</a:t>
            </a:r>
          </a:p>
        </p:txBody>
      </p:sp>
      <p:sp>
        <p:nvSpPr>
          <p:cNvPr id="100" name="Text 1"/>
          <p:cNvSpPr txBox="1"/>
          <p:nvPr/>
        </p:nvSpPr>
        <p:spPr>
          <a:xfrm>
            <a:off x="8152804" y="492918"/>
            <a:ext cx="541283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03 / 工具选型</a:t>
            </a:r>
          </a:p>
        </p:txBody>
      </p:sp>
      <p:sp>
        <p:nvSpPr>
          <p:cNvPr id="101" name="Shape 2"/>
          <p:cNvSpPr/>
          <p:nvPr/>
        </p:nvSpPr>
        <p:spPr>
          <a:xfrm>
            <a:off x="285750" y="828675"/>
            <a:ext cx="4214813" cy="151983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02" name="Shape 3"/>
          <p:cNvSpPr/>
          <p:nvPr/>
        </p:nvSpPr>
        <p:spPr>
          <a:xfrm>
            <a:off x="457200" y="10001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03" name="Image 1" descr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493" y="1085850"/>
            <a:ext cx="214315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4" name="Text 4"/>
          <p:cNvSpPr txBox="1"/>
          <p:nvPr/>
        </p:nvSpPr>
        <p:spPr>
          <a:xfrm>
            <a:off x="914400" y="1081384"/>
            <a:ext cx="1015951" cy="1685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ChatGPT (OpenAI)</a:t>
            </a:r>
          </a:p>
        </p:txBody>
      </p:sp>
      <p:sp>
        <p:nvSpPr>
          <p:cNvPr id="105" name="Text 5"/>
          <p:cNvSpPr txBox="1"/>
          <p:nvPr/>
        </p:nvSpPr>
        <p:spPr>
          <a:xfrm>
            <a:off x="457200" y="1457325"/>
            <a:ext cx="3871913" cy="1521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行业标杆，生态最完善。拥有强大的插件系统和 GPTs 商店，适合处理通用任务和复杂逻辑推理。</a:t>
            </a:r>
          </a:p>
        </p:txBody>
      </p:sp>
      <p:sp>
        <p:nvSpPr>
          <p:cNvPr id="106" name="Shape 6"/>
          <p:cNvSpPr/>
          <p:nvPr/>
        </p:nvSpPr>
        <p:spPr>
          <a:xfrm>
            <a:off x="457200" y="1966316"/>
            <a:ext cx="1328738" cy="210742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07" name="Text 7"/>
          <p:cNvSpPr txBox="1"/>
          <p:nvPr/>
        </p:nvSpPr>
        <p:spPr>
          <a:xfrm>
            <a:off x="508254" y="1966316"/>
            <a:ext cx="1226630" cy="204980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500" b="1">
                <a:solidFill>
                  <a:srgbClr val="065F4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Best for: 通用助手 &amp; 逻辑推理</a:t>
            </a:r>
          </a:p>
        </p:txBody>
      </p:sp>
      <p:sp>
        <p:nvSpPr>
          <p:cNvPr id="108" name="Shape 8"/>
          <p:cNvSpPr/>
          <p:nvPr/>
        </p:nvSpPr>
        <p:spPr>
          <a:xfrm>
            <a:off x="4643437" y="828675"/>
            <a:ext cx="4214814" cy="151983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09" name="Shape 9"/>
          <p:cNvSpPr/>
          <p:nvPr/>
        </p:nvSpPr>
        <p:spPr>
          <a:xfrm>
            <a:off x="4814887" y="1000125"/>
            <a:ext cx="342901" cy="342900"/>
          </a:xfrm>
          <a:prstGeom prst="roundRect">
            <a:avLst>
              <a:gd name="adj" fmla="val 16667"/>
            </a:avLst>
          </a:prstGeom>
          <a:solidFill>
            <a:srgbClr val="FDF4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10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612" y="1085850"/>
            <a:ext cx="171451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1" name="Text 10"/>
          <p:cNvSpPr txBox="1"/>
          <p:nvPr/>
        </p:nvSpPr>
        <p:spPr>
          <a:xfrm>
            <a:off x="5272087" y="1081384"/>
            <a:ext cx="1041346" cy="1685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Claude (Anthropic)</a:t>
            </a:r>
          </a:p>
        </p:txBody>
      </p:sp>
      <p:sp>
        <p:nvSpPr>
          <p:cNvPr id="112" name="Text 11"/>
          <p:cNvSpPr txBox="1"/>
          <p:nvPr/>
        </p:nvSpPr>
        <p:spPr>
          <a:xfrm>
            <a:off x="4814887" y="1457325"/>
            <a:ext cx="3871914" cy="1521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超长上下文窗口 (200k+)，在代码编写和长文档分析方面表现卓越，且安全性更高。</a:t>
            </a:r>
          </a:p>
        </p:txBody>
      </p:sp>
      <p:sp>
        <p:nvSpPr>
          <p:cNvPr id="113" name="Shape 12"/>
          <p:cNvSpPr/>
          <p:nvPr/>
        </p:nvSpPr>
        <p:spPr>
          <a:xfrm>
            <a:off x="4814887" y="1966316"/>
            <a:ext cx="1243014" cy="210742"/>
          </a:xfrm>
          <a:prstGeom prst="roundRect">
            <a:avLst>
              <a:gd name="adj" fmla="val 16667"/>
            </a:avLst>
          </a:prstGeom>
          <a:solidFill>
            <a:srgbClr val="FAE8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14" name="Text 13"/>
          <p:cNvSpPr txBox="1"/>
          <p:nvPr/>
        </p:nvSpPr>
        <p:spPr>
          <a:xfrm>
            <a:off x="4876896" y="1977271"/>
            <a:ext cx="1118996" cy="204979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500" b="1">
                <a:solidFill>
                  <a:srgbClr val="86198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Best for: 编程 &amp; 长文档分析</a:t>
            </a:r>
          </a:p>
        </p:txBody>
      </p:sp>
      <p:sp>
        <p:nvSpPr>
          <p:cNvPr id="115" name="Shape 14"/>
          <p:cNvSpPr/>
          <p:nvPr/>
        </p:nvSpPr>
        <p:spPr>
          <a:xfrm>
            <a:off x="285750" y="2491383"/>
            <a:ext cx="4214813" cy="151983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16" name="Shape 15"/>
          <p:cNvSpPr/>
          <p:nvPr/>
        </p:nvSpPr>
        <p:spPr>
          <a:xfrm>
            <a:off x="457200" y="2662833"/>
            <a:ext cx="342900" cy="34290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17" name="Image 3" descr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7" y="2748558"/>
            <a:ext cx="164307" cy="1714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8" name="Text 16"/>
          <p:cNvSpPr txBox="1"/>
          <p:nvPr/>
        </p:nvSpPr>
        <p:spPr>
          <a:xfrm>
            <a:off x="914400" y="2744092"/>
            <a:ext cx="901707" cy="1685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Gemini (Google)</a:t>
            </a:r>
          </a:p>
        </p:txBody>
      </p:sp>
      <p:sp>
        <p:nvSpPr>
          <p:cNvPr id="119" name="Text 17"/>
          <p:cNvSpPr txBox="1"/>
          <p:nvPr/>
        </p:nvSpPr>
        <p:spPr>
          <a:xfrm>
            <a:off x="457200" y="3120033"/>
            <a:ext cx="3871913" cy="1521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原生多模态能力，深度整合 Google 生态（Docs, Drive, Search），适合需要实时信息的场景。</a:t>
            </a:r>
          </a:p>
        </p:txBody>
      </p:sp>
      <p:sp>
        <p:nvSpPr>
          <p:cNvPr id="120" name="Shape 20"/>
          <p:cNvSpPr/>
          <p:nvPr/>
        </p:nvSpPr>
        <p:spPr>
          <a:xfrm>
            <a:off x="4643437" y="2491383"/>
            <a:ext cx="4214814" cy="151983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21" name="Shape 21"/>
          <p:cNvSpPr/>
          <p:nvPr/>
        </p:nvSpPr>
        <p:spPr>
          <a:xfrm>
            <a:off x="4814887" y="2662833"/>
            <a:ext cx="342901" cy="342901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22" name="Image 4" descr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1328" y="2748558"/>
            <a:ext cx="150020" cy="1714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23" name="Text 22"/>
          <p:cNvSpPr txBox="1"/>
          <p:nvPr/>
        </p:nvSpPr>
        <p:spPr>
          <a:xfrm>
            <a:off x="5272087" y="2744092"/>
            <a:ext cx="1505243" cy="1685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Open Source (Llama/Qwen)</a:t>
            </a:r>
          </a:p>
        </p:txBody>
      </p:sp>
      <p:sp>
        <p:nvSpPr>
          <p:cNvPr id="124" name="Text 23"/>
          <p:cNvSpPr txBox="1"/>
          <p:nvPr/>
        </p:nvSpPr>
        <p:spPr>
          <a:xfrm>
            <a:off x="4814887" y="3120033"/>
            <a:ext cx="3871914" cy="15214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def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可本地部署，数据完全私有化。适合对数据安全有严格要求或需要深度定制的企业。</a:t>
            </a:r>
          </a:p>
        </p:txBody>
      </p:sp>
      <p:sp>
        <p:nvSpPr>
          <p:cNvPr id="125" name="Shape 24"/>
          <p:cNvSpPr/>
          <p:nvPr/>
        </p:nvSpPr>
        <p:spPr>
          <a:xfrm>
            <a:off x="4814887" y="3629025"/>
            <a:ext cx="1243014" cy="210741"/>
          </a:xfrm>
          <a:prstGeom prst="roundRect">
            <a:avLst>
              <a:gd name="adj" fmla="val 16667"/>
            </a:avLst>
          </a:prstGeom>
          <a:solidFill>
            <a:srgbClr val="E5E7E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26" name="Text 25"/>
          <p:cNvSpPr txBox="1"/>
          <p:nvPr/>
        </p:nvSpPr>
        <p:spPr>
          <a:xfrm>
            <a:off x="4865941" y="3629025"/>
            <a:ext cx="1140906" cy="204979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5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Best for: 私有化部署 &amp; 定制</a:t>
            </a:r>
          </a:p>
        </p:txBody>
      </p:sp>
      <p:sp>
        <p:nvSpPr>
          <p:cNvPr id="127" name="Shape 26"/>
          <p:cNvSpPr/>
          <p:nvPr/>
        </p:nvSpPr>
        <p:spPr>
          <a:xfrm>
            <a:off x="285750" y="4154091"/>
            <a:ext cx="8572500" cy="703659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28" name="Shape 27"/>
          <p:cNvSpPr/>
          <p:nvPr/>
        </p:nvSpPr>
        <p:spPr>
          <a:xfrm>
            <a:off x="514350" y="4334469"/>
            <a:ext cx="342900" cy="342901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29" name="Image 5" descr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22" y="4434482"/>
            <a:ext cx="107157" cy="14287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0" name="Text 28"/>
          <p:cNvSpPr txBox="1"/>
          <p:nvPr/>
        </p:nvSpPr>
        <p:spPr>
          <a:xfrm>
            <a:off x="1037095" y="4333935"/>
            <a:ext cx="419101" cy="1564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F3F4F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选型建议</a:t>
            </a:r>
          </a:p>
        </p:txBody>
      </p:sp>
      <p:sp>
        <p:nvSpPr>
          <p:cNvPr id="131" name="Text 29"/>
          <p:cNvSpPr txBox="1"/>
          <p:nvPr/>
        </p:nvSpPr>
        <p:spPr>
          <a:xfrm>
            <a:off x="1028699" y="4541639"/>
            <a:ext cx="4817295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个人开发者首选 ChatGPT Plus 或 Claude Pro；企业应用优先考虑数据安全，推荐私有化部署开源模型或使用企业级 API。</a:t>
            </a:r>
          </a:p>
        </p:txBody>
      </p:sp>
      <p:sp>
        <p:nvSpPr>
          <p:cNvPr id="132" name="Shape 6"/>
          <p:cNvSpPr/>
          <p:nvPr/>
        </p:nvSpPr>
        <p:spPr>
          <a:xfrm>
            <a:off x="457200" y="3667481"/>
            <a:ext cx="1328738" cy="21074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33" name="Text 19"/>
          <p:cNvSpPr txBox="1"/>
          <p:nvPr/>
        </p:nvSpPr>
        <p:spPr>
          <a:xfrm>
            <a:off x="519280" y="3640051"/>
            <a:ext cx="1118852" cy="204979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500" b="1">
                <a:solidFill>
                  <a:srgbClr val="1E40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Best for: 多模态 &amp; 谷歌生态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3"/>
          <p:cNvSpPr/>
          <p:nvPr/>
        </p:nvSpPr>
        <p:spPr>
          <a:xfrm>
            <a:off x="285750" y="828675"/>
            <a:ext cx="5600700" cy="4157663"/>
          </a:xfrm>
          <a:prstGeom prst="rect">
            <a:avLst/>
          </a:prstGeom>
          <a:solidFill>
            <a:srgbClr val="1E1E1E"/>
          </a:solidFill>
          <a:ln w="9144">
            <a:solidFill>
              <a:srgbClr val="333333"/>
            </a:solidFill>
          </a:ln>
        </p:spPr>
        <p:txBody>
          <a:bodyPr lIns="0" tIns="0" rIns="0" bIns="0"/>
          <a:lstStyle/>
          <a:p/>
        </p:txBody>
      </p:sp>
      <p:sp>
        <p:nvSpPr>
          <p:cNvPr id="137" name="Text 0"/>
          <p:cNvSpPr txBox="1"/>
          <p:nvPr/>
        </p:nvSpPr>
        <p:spPr>
          <a:xfrm>
            <a:off x="285749" y="285750"/>
            <a:ext cx="1308176" cy="3215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API调用示例</a:t>
            </a:r>
          </a:p>
        </p:txBody>
      </p:sp>
      <p:sp>
        <p:nvSpPr>
          <p:cNvPr id="138" name="Shape 1"/>
          <p:cNvSpPr/>
          <p:nvPr/>
        </p:nvSpPr>
        <p:spPr>
          <a:xfrm>
            <a:off x="8113514" y="367903"/>
            <a:ext cx="744737" cy="207169"/>
          </a:xfrm>
          <a:prstGeom prst="rect">
            <a:avLst/>
          </a:prstGeom>
          <a:solidFill>
            <a:srgbClr val="E0E7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39" name="Text 2"/>
          <p:cNvSpPr txBox="1"/>
          <p:nvPr/>
        </p:nvSpPr>
        <p:spPr>
          <a:xfrm>
            <a:off x="8164568" y="367903"/>
            <a:ext cx="642629" cy="211073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Python SDK</a:t>
            </a:r>
          </a:p>
        </p:txBody>
      </p:sp>
      <p:sp>
        <p:nvSpPr>
          <p:cNvPr id="140" name="Shape 4"/>
          <p:cNvSpPr/>
          <p:nvPr/>
        </p:nvSpPr>
        <p:spPr>
          <a:xfrm>
            <a:off x="285750" y="828675"/>
            <a:ext cx="5600700" cy="285750"/>
          </a:xfrm>
          <a:prstGeom prst="rect">
            <a:avLst/>
          </a:prstGeom>
          <a:solidFill>
            <a:srgbClr val="25252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1" name="Shape 5"/>
          <p:cNvSpPr/>
          <p:nvPr/>
        </p:nvSpPr>
        <p:spPr>
          <a:xfrm>
            <a:off x="285750" y="1104502"/>
            <a:ext cx="5600700" cy="12701"/>
          </a:xfrm>
          <a:prstGeom prst="rect">
            <a:avLst/>
          </a:prstGeom>
          <a:solidFill>
            <a:srgbClr val="33333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42" name="Text 6"/>
          <p:cNvSpPr txBox="1"/>
          <p:nvPr/>
        </p:nvSpPr>
        <p:spPr>
          <a:xfrm>
            <a:off x="2953488" y="915292"/>
            <a:ext cx="27951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ctr">
              <a:lnSpc>
                <a:spcPts val="900"/>
              </a:lnSpc>
              <a:defRPr sz="6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main.py</a:t>
            </a:r>
          </a:p>
        </p:txBody>
      </p:sp>
      <p:sp>
        <p:nvSpPr>
          <p:cNvPr id="143" name="Text 7"/>
          <p:cNvSpPr txBox="1"/>
          <p:nvPr/>
        </p:nvSpPr>
        <p:spPr>
          <a:xfrm>
            <a:off x="285750" y="1114425"/>
            <a:ext cx="5600700" cy="3236974"/>
          </a:xfrm>
          <a:prstGeom prst="rect">
            <a:avLst/>
          </a:prstGeom>
          <a:ln w="12700">
            <a:miter lim="400000"/>
          </a:ln>
        </p:spPr>
        <p:txBody>
          <a:bodyPr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t>from</a:t>
            </a:r>
            <a:r>
              <a:rPr>
                <a:solidFill>
                  <a:srgbClr val="D4D4D4"/>
                </a:solidFill>
              </a:rPr>
              <a:t> openai </a:t>
            </a:r>
            <a:r>
              <a:t>import</a:t>
            </a:r>
            <a:r>
              <a:rPr>
                <a:solidFill>
                  <a:srgbClr val="D4D4D4"/>
                </a:solidFill>
              </a:rPr>
              <a:t> </a:t>
            </a:r>
            <a:r>
              <a:rPr>
                <a:solidFill>
                  <a:srgbClr val="E5C07B"/>
                </a:solidFill>
              </a:rPr>
              <a:t>OpenAI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 </a:t>
            </a:r>
            <a:r>
              <a:rPr i="1">
                <a:solidFill>
                  <a:srgbClr val="7F848E"/>
                </a:solidFill>
              </a:rPr>
              <a:t># 初始化客户端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client = </a:t>
            </a:r>
            <a:r>
              <a:rPr>
                <a:solidFill>
                  <a:srgbClr val="E5C07B"/>
                </a:solidFill>
              </a:rPr>
              <a:t>OpenAI</a:t>
            </a:r>
            <a:r>
              <a:rPr>
                <a:solidFill>
                  <a:srgbClr val="D4D4D4"/>
                </a:solidFill>
              </a:rPr>
              <a:t>(api_key=</a:t>
            </a:r>
            <a:r>
              <a:rPr>
                <a:solidFill>
                  <a:srgbClr val="98C379"/>
                </a:solidFill>
              </a:rPr>
              <a:t>"sk-..."</a:t>
            </a:r>
            <a:r>
              <a:rPr>
                <a:solidFill>
                  <a:srgbClr val="D4D4D4"/>
                </a:solidFill>
              </a:rPr>
              <a:t>)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 </a:t>
            </a:r>
            <a:r>
              <a:rPr i="1">
                <a:solidFill>
                  <a:srgbClr val="7F848E"/>
                </a:solidFill>
              </a:rPr>
              <a:t># 发起对话请求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response = client.chat.completions.</a:t>
            </a:r>
            <a:r>
              <a:rPr>
                <a:solidFill>
                  <a:srgbClr val="61AFEF"/>
                </a:solidFill>
              </a:rPr>
              <a:t>create</a:t>
            </a:r>
            <a:r>
              <a:rPr>
                <a:solidFill>
                  <a:srgbClr val="D4D4D4"/>
                </a:solidFill>
              </a:rPr>
              <a:t>(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19A66"/>
                </a:solidFill>
              </a:rPr>
              <a:t>model</a:t>
            </a:r>
            <a:r>
              <a:rPr>
                <a:solidFill>
                  <a:srgbClr val="D4D4D4"/>
                </a:solidFill>
              </a:rPr>
              <a:t>=</a:t>
            </a:r>
            <a:r>
              <a:rPr>
                <a:solidFill>
                  <a:srgbClr val="98C379"/>
                </a:solidFill>
              </a:rPr>
              <a:t>"gpt-4"</a:t>
            </a:r>
            <a:r>
              <a:rPr>
                <a:solidFill>
                  <a:srgbClr val="D4D4D4"/>
                </a:solidFill>
              </a:rPr>
              <a:t>,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19A66"/>
                </a:solidFill>
              </a:rPr>
              <a:t>messages</a:t>
            </a:r>
            <a:r>
              <a:rPr>
                <a:solidFill>
                  <a:srgbClr val="D4D4D4"/>
                </a:solidFill>
              </a:rPr>
              <a:t>=[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"role"</a:t>
            </a:r>
            <a:r>
              <a:rPr>
                <a:solidFill>
                  <a:srgbClr val="D4D4D4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"system"</a:t>
            </a:r>
            <a:r>
              <a:rPr>
                <a:solidFill>
                  <a:srgbClr val="D4D4D4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"content"</a:t>
            </a:r>
            <a:r>
              <a:rPr>
                <a:solidFill>
                  <a:srgbClr val="D4D4D4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"你是一位AI助手"</a:t>
            </a:r>
            <a:r>
              <a:rPr>
                <a:solidFill>
                  <a:srgbClr val="D4D4D4"/>
                </a:solidFill>
              </a:rPr>
              <a:t>},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{</a:t>
            </a:r>
            <a:r>
              <a:rPr>
                <a:solidFill>
                  <a:srgbClr val="98C379"/>
                </a:solidFill>
              </a:rPr>
              <a:t>"role"</a:t>
            </a:r>
            <a:r>
              <a:rPr>
                <a:solidFill>
                  <a:srgbClr val="D4D4D4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"user"</a:t>
            </a:r>
            <a:r>
              <a:rPr>
                <a:solidFill>
                  <a:srgbClr val="D4D4D4"/>
                </a:solidFill>
              </a:rPr>
              <a:t>, </a:t>
            </a:r>
            <a:r>
              <a:rPr>
                <a:solidFill>
                  <a:srgbClr val="98C379"/>
                </a:solidFill>
              </a:rPr>
              <a:t>"content"</a:t>
            </a:r>
            <a:r>
              <a:rPr>
                <a:solidFill>
                  <a:srgbClr val="D4D4D4"/>
                </a:solidFill>
              </a:rPr>
              <a:t>: </a:t>
            </a:r>
            <a:r>
              <a:rPr>
                <a:solidFill>
                  <a:srgbClr val="98C379"/>
                </a:solidFill>
              </a:rPr>
              <a:t>"请解释什么是RAG"</a:t>
            </a:r>
            <a:r>
              <a:rPr>
                <a:solidFill>
                  <a:srgbClr val="D4D4D4"/>
                </a:solidFill>
              </a:rPr>
              <a:t>}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]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)</a:t>
            </a:r>
            <a:endParaRPr>
              <a:solidFill>
                <a:srgbClr val="D4D4D4"/>
              </a:solidFill>
            </a:endParaRPr>
          </a:p>
          <a:p>
            <a:pPr>
              <a:lnSpc>
                <a:spcPts val="1800"/>
              </a:lnSpc>
              <a:defRPr sz="1000">
                <a:solidFill>
                  <a:srgbClr val="C678D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>
                <a:solidFill>
                  <a:srgbClr val="D4D4D4"/>
                </a:solidFill>
              </a:rPr>
              <a:t> </a:t>
            </a:r>
            <a:r>
              <a:rPr>
                <a:solidFill>
                  <a:srgbClr val="61AFEF"/>
                </a:solidFill>
              </a:rPr>
              <a:t>print</a:t>
            </a:r>
            <a:r>
              <a:rPr>
                <a:solidFill>
                  <a:srgbClr val="D4D4D4"/>
                </a:solidFill>
              </a:rPr>
              <a:t>(response.choices[0].message.content)</a:t>
            </a:r>
            <a:endParaRPr>
              <a:solidFill>
                <a:srgbClr val="D4D4D4"/>
              </a:solidFill>
            </a:endParaRPr>
          </a:p>
        </p:txBody>
      </p:sp>
      <p:sp>
        <p:nvSpPr>
          <p:cNvPr id="144" name="Shape 8"/>
          <p:cNvSpPr/>
          <p:nvPr/>
        </p:nvSpPr>
        <p:spPr>
          <a:xfrm>
            <a:off x="6057900" y="828675"/>
            <a:ext cx="2800350" cy="19859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45" name="Image 1" descr="Imag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9350" y="1029592"/>
            <a:ext cx="128588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6" name="Text 9"/>
          <p:cNvSpPr txBox="1"/>
          <p:nvPr/>
        </p:nvSpPr>
        <p:spPr>
          <a:xfrm>
            <a:off x="6429375" y="1000125"/>
            <a:ext cx="419100" cy="1564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环境准备</a:t>
            </a:r>
          </a:p>
        </p:txBody>
      </p:sp>
      <p:sp>
        <p:nvSpPr>
          <p:cNvPr id="147" name="Text 10"/>
          <p:cNvSpPr txBox="1"/>
          <p:nvPr/>
        </p:nvSpPr>
        <p:spPr>
          <a:xfrm>
            <a:off x="6229350" y="1301947"/>
            <a:ext cx="1400938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首先安装 OpenAI 官方 Python 库：</a:t>
            </a:r>
          </a:p>
        </p:txBody>
      </p:sp>
      <p:sp>
        <p:nvSpPr>
          <p:cNvPr id="148" name="Shape 11"/>
          <p:cNvSpPr/>
          <p:nvPr/>
        </p:nvSpPr>
        <p:spPr>
          <a:xfrm>
            <a:off x="6229350" y="1518046"/>
            <a:ext cx="2457450" cy="316112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9144">
            <a:solidFill>
              <a:srgbClr val="E5E7EB"/>
            </a:solidFill>
          </a:ln>
        </p:spPr>
        <p:txBody>
          <a:bodyPr lIns="0" tIns="0" rIns="0" bIns="0"/>
          <a:lstStyle/>
          <a:p/>
        </p:txBody>
      </p:sp>
      <p:sp>
        <p:nvSpPr>
          <p:cNvPr id="149" name="Text 12"/>
          <p:cNvSpPr txBox="1"/>
          <p:nvPr/>
        </p:nvSpPr>
        <p:spPr>
          <a:xfrm>
            <a:off x="6229350" y="1518046"/>
            <a:ext cx="2457450" cy="316103"/>
          </a:xfrm>
          <a:prstGeom prst="rect">
            <a:avLst/>
          </a:prstGeom>
          <a:ln w="12700">
            <a:miter lim="400000"/>
          </a:ln>
        </p:spPr>
        <p:txBody>
          <a:bodyPr lIns="102107" tIns="102107" rIns="102107" bIns="102107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37415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</a:lstStyle>
          <a:p>
            <a:r>
              <a:t>$ pip install openai</a:t>
            </a:r>
          </a:p>
        </p:txBody>
      </p:sp>
      <p:sp>
        <p:nvSpPr>
          <p:cNvPr id="150" name="Shape 13"/>
          <p:cNvSpPr/>
          <p:nvPr/>
        </p:nvSpPr>
        <p:spPr>
          <a:xfrm>
            <a:off x="6057900" y="2986088"/>
            <a:ext cx="2800350" cy="198596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51" name="Image 2" descr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3187005"/>
            <a:ext cx="128588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2" name="Text 14"/>
          <p:cNvSpPr txBox="1"/>
          <p:nvPr/>
        </p:nvSpPr>
        <p:spPr>
          <a:xfrm>
            <a:off x="6429375" y="3157538"/>
            <a:ext cx="419100" cy="1564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关键参数</a:t>
            </a:r>
          </a:p>
        </p:txBody>
      </p:sp>
      <p:sp>
        <p:nvSpPr>
          <p:cNvPr id="153" name="Text 15"/>
          <p:cNvSpPr txBox="1"/>
          <p:nvPr/>
        </p:nvSpPr>
        <p:spPr>
          <a:xfrm>
            <a:off x="6229350" y="3459360"/>
            <a:ext cx="2457450" cy="127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600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t>model</a:t>
            </a:r>
            <a:r>
              <a: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指定使用的模型版本 (如 gpt-4, gpt-3.5-turbo)</a:t>
            </a:r>
            <a:endParaRPr sz="7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Text 16"/>
          <p:cNvSpPr txBox="1"/>
          <p:nvPr/>
        </p:nvSpPr>
        <p:spPr>
          <a:xfrm>
            <a:off x="6229350" y="3811191"/>
            <a:ext cx="2457450" cy="2261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900"/>
              </a:lnSpc>
              <a:defRPr sz="600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t>messages</a:t>
            </a:r>
            <a:r>
              <a: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对话历史列表，包含 role (system/user/assistant) 和 content</a:t>
            </a:r>
            <a:endParaRPr sz="7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" name="Text 17"/>
          <p:cNvSpPr txBox="1"/>
          <p:nvPr/>
        </p:nvSpPr>
        <p:spPr>
          <a:xfrm>
            <a:off x="6229350" y="4186237"/>
            <a:ext cx="1633544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00"/>
              </a:lnSpc>
              <a:defRPr sz="600">
                <a:solidFill>
                  <a:srgbClr val="D97706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t>api_key</a:t>
            </a:r>
            <a:r>
              <a:rPr sz="7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 鉴权密钥，建议通过环境变量加载</a:t>
            </a:r>
            <a:endParaRPr sz="700">
              <a:solidFill>
                <a:srgbClr val="4B5563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58" name="Text 0"/>
          <p:cNvSpPr txBox="1"/>
          <p:nvPr/>
        </p:nvSpPr>
        <p:spPr>
          <a:xfrm>
            <a:off x="285749" y="285750"/>
            <a:ext cx="3276725" cy="3215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产品界面演示 — OpenCSG平台</a:t>
            </a:r>
          </a:p>
        </p:txBody>
      </p:sp>
      <p:sp>
        <p:nvSpPr>
          <p:cNvPr id="159" name="Shape 1"/>
          <p:cNvSpPr/>
          <p:nvPr/>
        </p:nvSpPr>
        <p:spPr>
          <a:xfrm>
            <a:off x="7479506" y="405408"/>
            <a:ext cx="1378745" cy="2518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60" name="Text 2"/>
          <p:cNvSpPr txBox="1"/>
          <p:nvPr/>
        </p:nvSpPr>
        <p:spPr>
          <a:xfrm>
            <a:off x="7547450" y="405408"/>
            <a:ext cx="1242856" cy="268350"/>
          </a:xfrm>
          <a:prstGeom prst="rect">
            <a:avLst/>
          </a:prstGeom>
          <a:ln w="12700">
            <a:miter lim="400000"/>
          </a:ln>
        </p:spPr>
        <p:txBody>
          <a:bodyPr lIns="68072" tIns="68072" rIns="68072" bIns="68072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Dashboard Overview</a:t>
            </a:r>
          </a:p>
        </p:txBody>
      </p:sp>
      <p:sp>
        <p:nvSpPr>
          <p:cNvPr id="161" name="Shape 3"/>
          <p:cNvSpPr/>
          <p:nvPr/>
        </p:nvSpPr>
        <p:spPr>
          <a:xfrm>
            <a:off x="285749" y="828675"/>
            <a:ext cx="6300790" cy="40290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62" name="Shape 4"/>
          <p:cNvSpPr/>
          <p:nvPr/>
        </p:nvSpPr>
        <p:spPr>
          <a:xfrm>
            <a:off x="428624" y="971550"/>
            <a:ext cx="6015040" cy="3743325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</a:ln>
        </p:spPr>
        <p:txBody>
          <a:bodyPr lIns="0" tIns="0" rIns="0" bIns="0"/>
          <a:lstStyle/>
          <a:p/>
        </p:txBody>
      </p:sp>
      <p:sp>
        <p:nvSpPr>
          <p:cNvPr id="163" name="Shape 5"/>
          <p:cNvSpPr/>
          <p:nvPr/>
        </p:nvSpPr>
        <p:spPr>
          <a:xfrm>
            <a:off x="428624" y="971550"/>
            <a:ext cx="6015040" cy="228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64" name="Shape 6"/>
          <p:cNvSpPr/>
          <p:nvPr/>
        </p:nvSpPr>
        <p:spPr>
          <a:xfrm>
            <a:off x="428624" y="1190227"/>
            <a:ext cx="601504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65" name="Shape 7"/>
          <p:cNvSpPr/>
          <p:nvPr/>
        </p:nvSpPr>
        <p:spPr>
          <a:xfrm>
            <a:off x="928687" y="1014412"/>
            <a:ext cx="2143126" cy="142876"/>
          </a:xfrm>
          <a:prstGeom prst="rect">
            <a:avLst/>
          </a:prstGeom>
          <a:solidFill>
            <a:srgbClr val="F1F5F9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66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1057275"/>
            <a:ext cx="50007" cy="571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67" name="Text 8"/>
          <p:cNvSpPr txBox="1"/>
          <p:nvPr/>
        </p:nvSpPr>
        <p:spPr>
          <a:xfrm>
            <a:off x="1078705" y="1042095"/>
            <a:ext cx="637408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sz="5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platform.opencsg.com</a:t>
            </a:r>
          </a:p>
        </p:txBody>
      </p:sp>
      <p:sp>
        <p:nvSpPr>
          <p:cNvPr id="168" name="Shape 9"/>
          <p:cNvSpPr/>
          <p:nvPr/>
        </p:nvSpPr>
        <p:spPr>
          <a:xfrm>
            <a:off x="428625" y="1200150"/>
            <a:ext cx="1285875" cy="35147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69" name="Shape 10"/>
          <p:cNvSpPr/>
          <p:nvPr/>
        </p:nvSpPr>
        <p:spPr>
          <a:xfrm>
            <a:off x="1704578" y="1200150"/>
            <a:ext cx="12701" cy="3514725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70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392137"/>
            <a:ext cx="100014" cy="928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1" name="Text 11"/>
          <p:cNvSpPr txBox="1"/>
          <p:nvPr/>
        </p:nvSpPr>
        <p:spPr>
          <a:xfrm>
            <a:off x="800100" y="1371600"/>
            <a:ext cx="165100" cy="1270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概览</a:t>
            </a:r>
          </a:p>
        </p:txBody>
      </p:sp>
      <p:sp>
        <p:nvSpPr>
          <p:cNvPr id="172" name="Shape 12"/>
          <p:cNvSpPr/>
          <p:nvPr/>
        </p:nvSpPr>
        <p:spPr>
          <a:xfrm>
            <a:off x="542925" y="1591270"/>
            <a:ext cx="1057275" cy="248246"/>
          </a:xfrm>
          <a:prstGeom prst="rect">
            <a:avLst/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173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668958"/>
            <a:ext cx="100014" cy="928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4" name="Text 13"/>
          <p:cNvSpPr txBox="1"/>
          <p:nvPr/>
        </p:nvSpPr>
        <p:spPr>
          <a:xfrm>
            <a:off x="800100" y="1648419"/>
            <a:ext cx="317500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模型实例</a:t>
            </a:r>
          </a:p>
        </p:txBody>
      </p:sp>
      <p:pic>
        <p:nvPicPr>
          <p:cNvPr id="175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1945778"/>
            <a:ext cx="100014" cy="928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6" name="Text 14"/>
          <p:cNvSpPr txBox="1"/>
          <p:nvPr/>
        </p:nvSpPr>
        <p:spPr>
          <a:xfrm>
            <a:off x="800100" y="1925241"/>
            <a:ext cx="317500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部署管理</a:t>
            </a:r>
          </a:p>
        </p:txBody>
      </p:sp>
      <p:pic>
        <p:nvPicPr>
          <p:cNvPr id="177" name="Image 5" descr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2222599"/>
            <a:ext cx="100014" cy="928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8" name="Text 15"/>
          <p:cNvSpPr txBox="1"/>
          <p:nvPr/>
        </p:nvSpPr>
        <p:spPr>
          <a:xfrm>
            <a:off x="800100" y="2202060"/>
            <a:ext cx="317500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监控告警</a:t>
            </a:r>
          </a:p>
        </p:txBody>
      </p:sp>
      <p:pic>
        <p:nvPicPr>
          <p:cNvPr id="179" name="Image 6" descr="Imag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" y="2499419"/>
            <a:ext cx="100014" cy="928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80" name="Text 16"/>
          <p:cNvSpPr txBox="1"/>
          <p:nvPr/>
        </p:nvSpPr>
        <p:spPr>
          <a:xfrm>
            <a:off x="800100" y="2478881"/>
            <a:ext cx="317500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系统设置</a:t>
            </a:r>
          </a:p>
        </p:txBody>
      </p:sp>
      <p:sp>
        <p:nvSpPr>
          <p:cNvPr id="181" name="Shape 17"/>
          <p:cNvSpPr/>
          <p:nvPr/>
        </p:nvSpPr>
        <p:spPr>
          <a:xfrm>
            <a:off x="1714500" y="1200150"/>
            <a:ext cx="4729163" cy="3514725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82" name="Text 18"/>
          <p:cNvSpPr txBox="1"/>
          <p:nvPr/>
        </p:nvSpPr>
        <p:spPr>
          <a:xfrm>
            <a:off x="1885950" y="1383208"/>
            <a:ext cx="622300" cy="1564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我的模型实例</a:t>
            </a:r>
          </a:p>
        </p:txBody>
      </p:sp>
      <p:sp>
        <p:nvSpPr>
          <p:cNvPr id="183" name="Shape 19"/>
          <p:cNvSpPr/>
          <p:nvPr/>
        </p:nvSpPr>
        <p:spPr>
          <a:xfrm>
            <a:off x="5683968" y="1371600"/>
            <a:ext cx="588244" cy="210740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84" name="Text 20"/>
          <p:cNvSpPr txBox="1"/>
          <p:nvPr/>
        </p:nvSpPr>
        <p:spPr>
          <a:xfrm>
            <a:off x="5735022" y="1371600"/>
            <a:ext cx="486136" cy="204979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 algn="ctr">
              <a:lnSpc>
                <a:spcPts val="800"/>
              </a:lnSpc>
              <a:defRPr sz="500" b="1">
                <a:solidFill>
                  <a:srgbClr val="FFFFFF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defRPr>
            </a:lvl1pPr>
          </a:lstStyle>
          <a:p>
            <a:r>
              <a:t>+ 新建实例</a:t>
            </a:r>
          </a:p>
        </p:txBody>
      </p:sp>
      <p:sp>
        <p:nvSpPr>
          <p:cNvPr id="185" name="Shape 21"/>
          <p:cNvSpPr/>
          <p:nvPr/>
        </p:nvSpPr>
        <p:spPr>
          <a:xfrm>
            <a:off x="1885950" y="1725216"/>
            <a:ext cx="4386263" cy="1650207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</a:ln>
        </p:spPr>
        <p:txBody>
          <a:bodyPr lIns="0" tIns="0" rIns="0" bIns="0"/>
          <a:lstStyle/>
          <a:p/>
        </p:txBody>
      </p:sp>
      <p:sp>
        <p:nvSpPr>
          <p:cNvPr id="186" name="Shape 22"/>
          <p:cNvSpPr/>
          <p:nvPr/>
        </p:nvSpPr>
        <p:spPr>
          <a:xfrm>
            <a:off x="1885950" y="1725216"/>
            <a:ext cx="1354718" cy="292895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87" name="Shape 23"/>
          <p:cNvSpPr/>
          <p:nvPr/>
        </p:nvSpPr>
        <p:spPr>
          <a:xfrm>
            <a:off x="1885950" y="2008188"/>
            <a:ext cx="1354718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88" name="Text 24"/>
          <p:cNvSpPr txBox="1"/>
          <p:nvPr/>
        </p:nvSpPr>
        <p:spPr>
          <a:xfrm>
            <a:off x="1919858" y="1723200"/>
            <a:ext cx="1286900" cy="296927"/>
          </a:xfrm>
          <a:prstGeom prst="rect">
            <a:avLst/>
          </a:prstGeom>
          <a:ln w="12700">
            <a:miter lim="400000"/>
          </a:ln>
        </p:spPr>
        <p:txBody>
          <a:bodyPr lIns="102107" tIns="102107" rIns="102107" bIns="102107" anchor="ctr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模型名称</a:t>
            </a:r>
          </a:p>
        </p:txBody>
      </p:sp>
      <p:sp>
        <p:nvSpPr>
          <p:cNvPr id="189" name="Shape 25"/>
          <p:cNvSpPr/>
          <p:nvPr/>
        </p:nvSpPr>
        <p:spPr>
          <a:xfrm>
            <a:off x="3240666" y="1725216"/>
            <a:ext cx="655161" cy="292895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90" name="Shape 26"/>
          <p:cNvSpPr/>
          <p:nvPr/>
        </p:nvSpPr>
        <p:spPr>
          <a:xfrm>
            <a:off x="3240666" y="2008188"/>
            <a:ext cx="655161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91" name="Text 27"/>
          <p:cNvSpPr txBox="1"/>
          <p:nvPr/>
        </p:nvSpPr>
        <p:spPr>
          <a:xfrm>
            <a:off x="3274576" y="1723200"/>
            <a:ext cx="587343" cy="296927"/>
          </a:xfrm>
          <a:prstGeom prst="rect">
            <a:avLst/>
          </a:prstGeom>
          <a:ln w="12700">
            <a:miter lim="400000"/>
          </a:ln>
        </p:spPr>
        <p:txBody>
          <a:bodyPr lIns="102107" tIns="102107" rIns="102107" bIns="102107" anchor="ctr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版本</a:t>
            </a:r>
          </a:p>
        </p:txBody>
      </p:sp>
      <p:sp>
        <p:nvSpPr>
          <p:cNvPr id="192" name="Shape 28"/>
          <p:cNvSpPr/>
          <p:nvPr/>
        </p:nvSpPr>
        <p:spPr>
          <a:xfrm>
            <a:off x="3895826" y="1725216"/>
            <a:ext cx="1157623" cy="292895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93" name="Shape 29"/>
          <p:cNvSpPr/>
          <p:nvPr/>
        </p:nvSpPr>
        <p:spPr>
          <a:xfrm>
            <a:off x="3895826" y="2008188"/>
            <a:ext cx="1157623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94" name="Text 30"/>
          <p:cNvSpPr txBox="1"/>
          <p:nvPr/>
        </p:nvSpPr>
        <p:spPr>
          <a:xfrm>
            <a:off x="3929736" y="1723200"/>
            <a:ext cx="1089805" cy="296927"/>
          </a:xfrm>
          <a:prstGeom prst="rect">
            <a:avLst/>
          </a:prstGeom>
          <a:ln w="12700">
            <a:miter lim="400000"/>
          </a:ln>
        </p:spPr>
        <p:txBody>
          <a:bodyPr lIns="102107" tIns="102107" rIns="102107" bIns="102107" anchor="ctr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状态</a:t>
            </a:r>
          </a:p>
        </p:txBody>
      </p:sp>
      <p:sp>
        <p:nvSpPr>
          <p:cNvPr id="195" name="Shape 31"/>
          <p:cNvSpPr/>
          <p:nvPr/>
        </p:nvSpPr>
        <p:spPr>
          <a:xfrm>
            <a:off x="5053450" y="1725216"/>
            <a:ext cx="1218764" cy="285751"/>
          </a:xfrm>
          <a:prstGeom prst="rect">
            <a:avLst/>
          </a:prstGeom>
          <a:solidFill>
            <a:srgbClr val="F8FAFC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96" name="Shape 32"/>
          <p:cNvSpPr/>
          <p:nvPr/>
        </p:nvSpPr>
        <p:spPr>
          <a:xfrm>
            <a:off x="5053450" y="2001044"/>
            <a:ext cx="1218764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197" name="Text 33"/>
          <p:cNvSpPr txBox="1"/>
          <p:nvPr/>
        </p:nvSpPr>
        <p:spPr>
          <a:xfrm>
            <a:off x="5087359" y="1723121"/>
            <a:ext cx="1150946" cy="289940"/>
          </a:xfrm>
          <a:prstGeom prst="rect">
            <a:avLst/>
          </a:prstGeom>
          <a:ln w="12700">
            <a:miter lim="400000"/>
          </a:ln>
        </p:spPr>
        <p:txBody>
          <a:bodyPr lIns="102107" tIns="102107" rIns="102107" bIns="102107" anchor="ctr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API ENDPOINT</a:t>
            </a:r>
          </a:p>
        </p:txBody>
      </p:sp>
      <p:sp>
        <p:nvSpPr>
          <p:cNvPr id="198" name="Text 34"/>
          <p:cNvSpPr txBox="1"/>
          <p:nvPr/>
        </p:nvSpPr>
        <p:spPr>
          <a:xfrm>
            <a:off x="2000250" y="2119908"/>
            <a:ext cx="465845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Llama-3-70B</a:t>
            </a:r>
          </a:p>
        </p:txBody>
      </p:sp>
      <p:sp>
        <p:nvSpPr>
          <p:cNvPr id="199" name="Text 35"/>
          <p:cNvSpPr txBox="1"/>
          <p:nvPr/>
        </p:nvSpPr>
        <p:spPr>
          <a:xfrm>
            <a:off x="3257557" y="2006128"/>
            <a:ext cx="621379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v1.2</a:t>
            </a:r>
          </a:p>
        </p:txBody>
      </p:sp>
      <p:sp>
        <p:nvSpPr>
          <p:cNvPr id="200" name="Shape 36"/>
          <p:cNvSpPr/>
          <p:nvPr/>
        </p:nvSpPr>
        <p:spPr>
          <a:xfrm>
            <a:off x="4010126" y="2116335"/>
            <a:ext cx="516137" cy="125017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01" name="Text 37"/>
          <p:cNvSpPr txBox="1"/>
          <p:nvPr/>
        </p:nvSpPr>
        <p:spPr>
          <a:xfrm>
            <a:off x="4153001" y="2130623"/>
            <a:ext cx="270143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Running</a:t>
            </a:r>
          </a:p>
        </p:txBody>
      </p:sp>
      <p:sp>
        <p:nvSpPr>
          <p:cNvPr id="202" name="Text 38"/>
          <p:cNvSpPr txBox="1"/>
          <p:nvPr/>
        </p:nvSpPr>
        <p:spPr>
          <a:xfrm>
            <a:off x="5070340" y="2006128"/>
            <a:ext cx="1184982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/v1/llama3</a:t>
            </a:r>
          </a:p>
        </p:txBody>
      </p:sp>
      <p:sp>
        <p:nvSpPr>
          <p:cNvPr id="203" name="Text 39"/>
          <p:cNvSpPr txBox="1"/>
          <p:nvPr/>
        </p:nvSpPr>
        <p:spPr>
          <a:xfrm>
            <a:off x="2000250" y="2457450"/>
            <a:ext cx="516633" cy="1270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Qwen-1.5-72B</a:t>
            </a:r>
          </a:p>
        </p:txBody>
      </p:sp>
      <p:sp>
        <p:nvSpPr>
          <p:cNvPr id="204" name="Text 40"/>
          <p:cNvSpPr txBox="1"/>
          <p:nvPr/>
        </p:nvSpPr>
        <p:spPr>
          <a:xfrm>
            <a:off x="3257557" y="2343670"/>
            <a:ext cx="621379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v2.0</a:t>
            </a:r>
          </a:p>
        </p:txBody>
      </p:sp>
      <p:sp>
        <p:nvSpPr>
          <p:cNvPr id="205" name="Shape 41"/>
          <p:cNvSpPr/>
          <p:nvPr/>
        </p:nvSpPr>
        <p:spPr>
          <a:xfrm>
            <a:off x="4010126" y="2453877"/>
            <a:ext cx="516137" cy="125017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06" name="Text 42"/>
          <p:cNvSpPr txBox="1"/>
          <p:nvPr/>
        </p:nvSpPr>
        <p:spPr>
          <a:xfrm>
            <a:off x="4153001" y="2468166"/>
            <a:ext cx="270143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Running</a:t>
            </a:r>
          </a:p>
        </p:txBody>
      </p:sp>
      <p:sp>
        <p:nvSpPr>
          <p:cNvPr id="207" name="Text 43"/>
          <p:cNvSpPr txBox="1"/>
          <p:nvPr/>
        </p:nvSpPr>
        <p:spPr>
          <a:xfrm>
            <a:off x="5070340" y="2343670"/>
            <a:ext cx="1184982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/v1/qwen</a:t>
            </a:r>
          </a:p>
        </p:txBody>
      </p:sp>
      <p:sp>
        <p:nvSpPr>
          <p:cNvPr id="208" name="Text 44"/>
          <p:cNvSpPr txBox="1"/>
          <p:nvPr/>
        </p:nvSpPr>
        <p:spPr>
          <a:xfrm>
            <a:off x="2000250" y="2794991"/>
            <a:ext cx="381087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Mistral-7B</a:t>
            </a:r>
          </a:p>
        </p:txBody>
      </p:sp>
      <p:sp>
        <p:nvSpPr>
          <p:cNvPr id="209" name="Text 45"/>
          <p:cNvSpPr txBox="1"/>
          <p:nvPr/>
        </p:nvSpPr>
        <p:spPr>
          <a:xfrm>
            <a:off x="3257557" y="2681212"/>
            <a:ext cx="621379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v0.1</a:t>
            </a:r>
          </a:p>
        </p:txBody>
      </p:sp>
      <p:sp>
        <p:nvSpPr>
          <p:cNvPr id="210" name="Shape 46"/>
          <p:cNvSpPr/>
          <p:nvPr/>
        </p:nvSpPr>
        <p:spPr>
          <a:xfrm>
            <a:off x="4010126" y="2791419"/>
            <a:ext cx="516137" cy="125017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1" name="Text 47"/>
          <p:cNvSpPr txBox="1"/>
          <p:nvPr/>
        </p:nvSpPr>
        <p:spPr>
          <a:xfrm>
            <a:off x="4153001" y="2805708"/>
            <a:ext cx="270143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Running</a:t>
            </a:r>
          </a:p>
        </p:txBody>
      </p:sp>
      <p:sp>
        <p:nvSpPr>
          <p:cNvPr id="212" name="Text 48"/>
          <p:cNvSpPr txBox="1"/>
          <p:nvPr/>
        </p:nvSpPr>
        <p:spPr>
          <a:xfrm>
            <a:off x="5070340" y="2681212"/>
            <a:ext cx="1184982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/v1/mistral</a:t>
            </a:r>
          </a:p>
        </p:txBody>
      </p:sp>
      <p:sp>
        <p:nvSpPr>
          <p:cNvPr id="213" name="Text 49"/>
          <p:cNvSpPr txBox="1"/>
          <p:nvPr/>
        </p:nvSpPr>
        <p:spPr>
          <a:xfrm>
            <a:off x="2000250" y="3132533"/>
            <a:ext cx="44177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Yi-34B-Chat</a:t>
            </a:r>
          </a:p>
        </p:txBody>
      </p:sp>
      <p:sp>
        <p:nvSpPr>
          <p:cNvPr id="214" name="Text 50"/>
          <p:cNvSpPr txBox="1"/>
          <p:nvPr/>
        </p:nvSpPr>
        <p:spPr>
          <a:xfrm>
            <a:off x="3257557" y="3015182"/>
            <a:ext cx="621379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v1.0</a:t>
            </a:r>
          </a:p>
        </p:txBody>
      </p:sp>
      <p:sp>
        <p:nvSpPr>
          <p:cNvPr id="215" name="Shape 51"/>
          <p:cNvSpPr/>
          <p:nvPr/>
        </p:nvSpPr>
        <p:spPr>
          <a:xfrm>
            <a:off x="4010126" y="3128963"/>
            <a:ext cx="516137" cy="125017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6" name="Text 52"/>
          <p:cNvSpPr txBox="1"/>
          <p:nvPr/>
        </p:nvSpPr>
        <p:spPr>
          <a:xfrm>
            <a:off x="4153001" y="3143250"/>
            <a:ext cx="270143" cy="1270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700"/>
              </a:lnSpc>
              <a:defRPr sz="500" b="1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Running</a:t>
            </a:r>
          </a:p>
        </p:txBody>
      </p:sp>
      <p:sp>
        <p:nvSpPr>
          <p:cNvPr id="217" name="Text 53"/>
          <p:cNvSpPr txBox="1"/>
          <p:nvPr/>
        </p:nvSpPr>
        <p:spPr>
          <a:xfrm>
            <a:off x="5070340" y="3015182"/>
            <a:ext cx="1184982" cy="347218"/>
          </a:xfrm>
          <a:prstGeom prst="rect">
            <a:avLst/>
          </a:prstGeom>
          <a:ln w="12700">
            <a:miter lim="400000"/>
          </a:ln>
        </p:spPr>
        <p:txBody>
          <a:bodyPr lIns="119126" tIns="119126" rIns="119126" bIns="119126" anchor="ctr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/v1/yi-chat</a:t>
            </a:r>
          </a:p>
        </p:txBody>
      </p:sp>
      <p:sp>
        <p:nvSpPr>
          <p:cNvPr id="218" name="Shape 54"/>
          <p:cNvSpPr/>
          <p:nvPr/>
        </p:nvSpPr>
        <p:spPr>
          <a:xfrm>
            <a:off x="6757988" y="828675"/>
            <a:ext cx="2100264" cy="12477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19" name="Shape 55"/>
          <p:cNvSpPr/>
          <p:nvPr/>
        </p:nvSpPr>
        <p:spPr>
          <a:xfrm>
            <a:off x="6900863" y="1114843"/>
            <a:ext cx="285751" cy="28575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20" name="Image 7" descr="Imag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1407" y="1193425"/>
            <a:ext cx="144662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1" name="Text 56"/>
          <p:cNvSpPr txBox="1"/>
          <p:nvPr/>
        </p:nvSpPr>
        <p:spPr>
          <a:xfrm>
            <a:off x="6900863" y="1486318"/>
            <a:ext cx="368301" cy="13182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000"/>
              </a:lnSpc>
              <a:defRPr sz="7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模型管理</a:t>
            </a:r>
          </a:p>
        </p:txBody>
      </p:sp>
      <p:sp>
        <p:nvSpPr>
          <p:cNvPr id="222" name="Text 57"/>
          <p:cNvSpPr txBox="1"/>
          <p:nvPr/>
        </p:nvSpPr>
        <p:spPr>
          <a:xfrm>
            <a:off x="6900863" y="1670269"/>
            <a:ext cx="15367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支持主流开源模型一键部署，版本自动管理。</a:t>
            </a:r>
          </a:p>
        </p:txBody>
      </p:sp>
      <p:sp>
        <p:nvSpPr>
          <p:cNvPr id="223" name="Shape 58"/>
          <p:cNvSpPr/>
          <p:nvPr/>
        </p:nvSpPr>
        <p:spPr>
          <a:xfrm>
            <a:off x="6757988" y="2219333"/>
            <a:ext cx="2100264" cy="124778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24" name="Shape 59"/>
          <p:cNvSpPr/>
          <p:nvPr/>
        </p:nvSpPr>
        <p:spPr>
          <a:xfrm>
            <a:off x="6900863" y="2505503"/>
            <a:ext cx="285751" cy="285751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25" name="Image 8" descr="Imag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7479" y="2584083"/>
            <a:ext cx="112515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6" name="Text 60"/>
          <p:cNvSpPr txBox="1"/>
          <p:nvPr/>
        </p:nvSpPr>
        <p:spPr>
          <a:xfrm>
            <a:off x="6900863" y="2876978"/>
            <a:ext cx="457201" cy="13182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000"/>
              </a:lnSpc>
              <a:defRPr sz="7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弹性扩缩容</a:t>
            </a:r>
          </a:p>
        </p:txBody>
      </p:sp>
      <p:sp>
        <p:nvSpPr>
          <p:cNvPr id="227" name="Text 61"/>
          <p:cNvSpPr txBox="1"/>
          <p:nvPr/>
        </p:nvSpPr>
        <p:spPr>
          <a:xfrm>
            <a:off x="6900863" y="3060929"/>
            <a:ext cx="15367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根据流量自动调整算力资源，降低运营成本。</a:t>
            </a:r>
          </a:p>
        </p:txBody>
      </p:sp>
      <p:sp>
        <p:nvSpPr>
          <p:cNvPr id="228" name="Shape 62"/>
          <p:cNvSpPr/>
          <p:nvPr/>
        </p:nvSpPr>
        <p:spPr>
          <a:xfrm>
            <a:off x="6757988" y="3609993"/>
            <a:ext cx="2100264" cy="124778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29" name="Shape 63"/>
          <p:cNvSpPr/>
          <p:nvPr/>
        </p:nvSpPr>
        <p:spPr>
          <a:xfrm>
            <a:off x="6900863" y="3836165"/>
            <a:ext cx="285751" cy="285751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30" name="Image 9" descr="Imag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79443" y="3914747"/>
            <a:ext cx="128589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1" name="Text 64"/>
          <p:cNvSpPr txBox="1"/>
          <p:nvPr/>
        </p:nvSpPr>
        <p:spPr>
          <a:xfrm>
            <a:off x="6900863" y="4207640"/>
            <a:ext cx="368301" cy="13182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000"/>
              </a:lnSpc>
              <a:defRPr sz="7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实时监控</a:t>
            </a:r>
          </a:p>
        </p:txBody>
      </p:sp>
      <p:sp>
        <p:nvSpPr>
          <p:cNvPr id="232" name="Text 65"/>
          <p:cNvSpPr txBox="1"/>
          <p:nvPr/>
        </p:nvSpPr>
        <p:spPr>
          <a:xfrm>
            <a:off x="6900863" y="4391592"/>
            <a:ext cx="1814514" cy="1270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全链路监控 API 调用状态、延迟与 Token 消耗。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5" name="Text 0"/>
          <p:cNvSpPr txBox="1"/>
          <p:nvPr/>
        </p:nvSpPr>
        <p:spPr>
          <a:xfrm>
            <a:off x="285750" y="285750"/>
            <a:ext cx="1079500" cy="3345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实操演示</a:t>
            </a:r>
          </a:p>
        </p:txBody>
      </p:sp>
      <p:sp>
        <p:nvSpPr>
          <p:cNvPr id="236" name="Text 1"/>
          <p:cNvSpPr txBox="1"/>
          <p:nvPr/>
        </p:nvSpPr>
        <p:spPr>
          <a:xfrm>
            <a:off x="7943850" y="430410"/>
            <a:ext cx="724198" cy="1452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07 / Live Demo</a:t>
            </a:r>
          </a:p>
        </p:txBody>
      </p:sp>
      <p:sp>
        <p:nvSpPr>
          <p:cNvPr id="237" name="Shape 2"/>
          <p:cNvSpPr/>
          <p:nvPr/>
        </p:nvSpPr>
        <p:spPr>
          <a:xfrm>
            <a:off x="285750" y="757238"/>
            <a:ext cx="8572500" cy="41005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38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024234"/>
            <a:ext cx="192881" cy="1714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39" name="Text 3"/>
          <p:cNvSpPr txBox="1"/>
          <p:nvPr/>
        </p:nvSpPr>
        <p:spPr>
          <a:xfrm>
            <a:off x="792956" y="985837"/>
            <a:ext cx="850901" cy="21006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1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产品操作演示</a:t>
            </a:r>
          </a:p>
        </p:txBody>
      </p:sp>
      <p:sp>
        <p:nvSpPr>
          <p:cNvPr id="240" name="Shape 4"/>
          <p:cNvSpPr/>
          <p:nvPr/>
        </p:nvSpPr>
        <p:spPr>
          <a:xfrm>
            <a:off x="8052792" y="1006375"/>
            <a:ext cx="576859" cy="20717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41" name="Text 5"/>
          <p:cNvSpPr txBox="1"/>
          <p:nvPr/>
        </p:nvSpPr>
        <p:spPr>
          <a:xfrm>
            <a:off x="8295679" y="1049237"/>
            <a:ext cx="182068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LIVE</a:t>
            </a:r>
          </a:p>
        </p:txBody>
      </p:sp>
      <p:sp>
        <p:nvSpPr>
          <p:cNvPr id="242" name="Shape 6"/>
          <p:cNvSpPr/>
          <p:nvPr/>
        </p:nvSpPr>
        <p:spPr>
          <a:xfrm>
            <a:off x="514350" y="1405533"/>
            <a:ext cx="8115300" cy="3223617"/>
          </a:xfrm>
          <a:prstGeom prst="rect">
            <a:avLst/>
          </a:prstGeom>
          <a:solidFill>
            <a:srgbClr val="111827"/>
          </a:solidFill>
          <a:ln w="9144">
            <a:solidFill>
              <a:srgbClr val="374151"/>
            </a:solidFill>
          </a:ln>
        </p:spPr>
        <p:txBody>
          <a:bodyPr lIns="0" tIns="0" rIns="0" bIns="0"/>
          <a:lstStyle/>
          <a:p/>
        </p:txBody>
      </p:sp>
      <p:sp>
        <p:nvSpPr>
          <p:cNvPr id="243" name="Shape 7"/>
          <p:cNvSpPr/>
          <p:nvPr/>
        </p:nvSpPr>
        <p:spPr>
          <a:xfrm>
            <a:off x="4214812" y="2360116"/>
            <a:ext cx="714377" cy="714377"/>
          </a:xfrm>
          <a:prstGeom prst="ellipse">
            <a:avLst/>
          </a:prstGeom>
          <a:solidFill>
            <a:srgbClr val="FFFFFF">
              <a:alpha val="10000"/>
            </a:srgbClr>
          </a:solidFill>
          <a:ln w="18288">
            <a:solidFill>
              <a:srgbClr val="FFFFFF">
                <a:alpha val="20000"/>
              </a:srgbClr>
            </a:solidFill>
          </a:ln>
        </p:spPr>
        <p:txBody>
          <a:bodyPr lIns="0" tIns="0" rIns="0" bIns="0"/>
          <a:lstStyle/>
          <a:p/>
        </p:txBody>
      </p:sp>
      <p:pic>
        <p:nvPicPr>
          <p:cNvPr id="244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2574428"/>
            <a:ext cx="214314" cy="28575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5" name="Text 8"/>
          <p:cNvSpPr txBox="1"/>
          <p:nvPr/>
        </p:nvSpPr>
        <p:spPr>
          <a:xfrm>
            <a:off x="3652242" y="3245941"/>
            <a:ext cx="1479569" cy="1811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屏幕录制 / 产品操作演示区域</a:t>
            </a:r>
          </a:p>
        </p:txBody>
      </p:sp>
      <p:sp>
        <p:nvSpPr>
          <p:cNvPr id="246" name="Text 9"/>
          <p:cNvSpPr txBox="1"/>
          <p:nvPr/>
        </p:nvSpPr>
        <p:spPr>
          <a:xfrm>
            <a:off x="3829050" y="3510260"/>
            <a:ext cx="1333500" cy="14630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讲师将在此进行实时操作演示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49" name="Text 0"/>
          <p:cNvSpPr txBox="1"/>
          <p:nvPr/>
        </p:nvSpPr>
        <p:spPr>
          <a:xfrm>
            <a:off x="285749" y="285750"/>
            <a:ext cx="3702225" cy="3345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Prompt Engineering 基础技巧</a:t>
            </a:r>
          </a:p>
        </p:txBody>
      </p:sp>
      <p:sp>
        <p:nvSpPr>
          <p:cNvPr id="250" name="Text 1"/>
          <p:cNvSpPr txBox="1"/>
          <p:nvPr/>
        </p:nvSpPr>
        <p:spPr>
          <a:xfrm>
            <a:off x="8065293" y="398263"/>
            <a:ext cx="616795" cy="156466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08 / 核心方法</a:t>
            </a:r>
          </a:p>
        </p:txBody>
      </p:sp>
      <p:sp>
        <p:nvSpPr>
          <p:cNvPr id="251" name="Shape 2"/>
          <p:cNvSpPr/>
          <p:nvPr/>
        </p:nvSpPr>
        <p:spPr>
          <a:xfrm>
            <a:off x="285750" y="800100"/>
            <a:ext cx="4200525" cy="19431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2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52" name="Shape 3"/>
          <p:cNvSpPr/>
          <p:nvPr/>
        </p:nvSpPr>
        <p:spPr>
          <a:xfrm>
            <a:off x="285750" y="800099"/>
            <a:ext cx="42863" cy="1928815"/>
          </a:xfrm>
          <a:prstGeom prst="rect">
            <a:avLst/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53" name="Text 4"/>
          <p:cNvSpPr txBox="1"/>
          <p:nvPr/>
        </p:nvSpPr>
        <p:spPr>
          <a:xfrm>
            <a:off x="3795117" y="942975"/>
            <a:ext cx="436489" cy="5041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3000"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01</a:t>
            </a:r>
          </a:p>
        </p:txBody>
      </p:sp>
      <p:sp>
        <p:nvSpPr>
          <p:cNvPr id="254" name="Shape 5"/>
          <p:cNvSpPr/>
          <p:nvPr/>
        </p:nvSpPr>
        <p:spPr>
          <a:xfrm>
            <a:off x="514350" y="1121763"/>
            <a:ext cx="457200" cy="457201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55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9" y="1250351"/>
            <a:ext cx="175023" cy="200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6" name="Text 6"/>
          <p:cNvSpPr txBox="1"/>
          <p:nvPr/>
        </p:nvSpPr>
        <p:spPr>
          <a:xfrm>
            <a:off x="514350" y="1721839"/>
            <a:ext cx="1285485" cy="21005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明确角色设定 (Role)</a:t>
            </a:r>
          </a:p>
        </p:txBody>
      </p:sp>
      <p:sp>
        <p:nvSpPr>
          <p:cNvPr id="257" name="Text 7"/>
          <p:cNvSpPr txBox="1"/>
          <p:nvPr/>
        </p:nvSpPr>
        <p:spPr>
          <a:xfrm>
            <a:off x="514350" y="2055809"/>
            <a:ext cx="3743325" cy="3545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使用 </a:t>
            </a:r>
            <a:r>
              <a:rPr sz="700" b="1"/>
              <a:t>System Prompt</a:t>
            </a:r>
            <a:r>
              <a:t> 定义 AI 的身份和行为边界。例如："你是一位资深的 Python 工程师"，这能显著提升回答的专业度。</a:t>
            </a:r>
          </a:p>
        </p:txBody>
      </p:sp>
      <p:sp>
        <p:nvSpPr>
          <p:cNvPr id="258" name="Shape 8"/>
          <p:cNvSpPr/>
          <p:nvPr/>
        </p:nvSpPr>
        <p:spPr>
          <a:xfrm>
            <a:off x="4657725" y="800100"/>
            <a:ext cx="4200525" cy="19431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2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59" name="Shape 9"/>
          <p:cNvSpPr/>
          <p:nvPr/>
        </p:nvSpPr>
        <p:spPr>
          <a:xfrm>
            <a:off x="4657725" y="800099"/>
            <a:ext cx="42863" cy="1928815"/>
          </a:xfrm>
          <a:prstGeom prst="rect">
            <a:avLst/>
          </a:prstGeom>
          <a:solidFill>
            <a:srgbClr val="9333EA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60" name="Text 10"/>
          <p:cNvSpPr txBox="1"/>
          <p:nvPr/>
        </p:nvSpPr>
        <p:spPr>
          <a:xfrm>
            <a:off x="8088510" y="942975"/>
            <a:ext cx="436490" cy="5041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3000"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02</a:t>
            </a:r>
          </a:p>
        </p:txBody>
      </p:sp>
      <p:sp>
        <p:nvSpPr>
          <p:cNvPr id="261" name="Shape 11"/>
          <p:cNvSpPr/>
          <p:nvPr/>
        </p:nvSpPr>
        <p:spPr>
          <a:xfrm>
            <a:off x="4886325" y="1121763"/>
            <a:ext cx="457200" cy="457201"/>
          </a:xfrm>
          <a:prstGeom prst="roundRect">
            <a:avLst>
              <a:gd name="adj" fmla="val 16667"/>
            </a:avLst>
          </a:prstGeom>
          <a:solidFill>
            <a:srgbClr val="F3E8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62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410" y="1250351"/>
            <a:ext cx="225029" cy="200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3" name="Text 12"/>
          <p:cNvSpPr txBox="1"/>
          <p:nvPr/>
        </p:nvSpPr>
        <p:spPr>
          <a:xfrm>
            <a:off x="4886325" y="1721839"/>
            <a:ext cx="1464066" cy="21005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结构化指令 (Structure)</a:t>
            </a:r>
          </a:p>
        </p:txBody>
      </p:sp>
      <p:sp>
        <p:nvSpPr>
          <p:cNvPr id="264" name="Text 13"/>
          <p:cNvSpPr txBox="1"/>
          <p:nvPr/>
        </p:nvSpPr>
        <p:spPr>
          <a:xfrm>
            <a:off x="4886325" y="2055809"/>
            <a:ext cx="3743325" cy="3545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将复杂任务拆解为清晰的步骤说明。使用 Markdown 符号（如 #, -, 1.）来组织 Prompt，避免模型遗漏关键信息。</a:t>
            </a:r>
          </a:p>
        </p:txBody>
      </p:sp>
      <p:sp>
        <p:nvSpPr>
          <p:cNvPr id="265" name="Shape 14"/>
          <p:cNvSpPr/>
          <p:nvPr/>
        </p:nvSpPr>
        <p:spPr>
          <a:xfrm>
            <a:off x="285750" y="2914650"/>
            <a:ext cx="4200525" cy="19431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2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66" name="Shape 15"/>
          <p:cNvSpPr/>
          <p:nvPr/>
        </p:nvSpPr>
        <p:spPr>
          <a:xfrm>
            <a:off x="285750" y="2914650"/>
            <a:ext cx="42863" cy="1928814"/>
          </a:xfrm>
          <a:prstGeom prst="rect">
            <a:avLst/>
          </a:prstGeom>
          <a:solidFill>
            <a:srgbClr val="DB277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67" name="Text 16"/>
          <p:cNvSpPr txBox="1"/>
          <p:nvPr/>
        </p:nvSpPr>
        <p:spPr>
          <a:xfrm>
            <a:off x="3709392" y="3057525"/>
            <a:ext cx="436489" cy="5041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3000"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03</a:t>
            </a:r>
          </a:p>
        </p:txBody>
      </p:sp>
      <p:sp>
        <p:nvSpPr>
          <p:cNvPr id="268" name="Shape 17"/>
          <p:cNvSpPr/>
          <p:nvPr/>
        </p:nvSpPr>
        <p:spPr>
          <a:xfrm>
            <a:off x="514350" y="3236314"/>
            <a:ext cx="457200" cy="457201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69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5" y="3364901"/>
            <a:ext cx="176809" cy="200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0" name="Text 18"/>
          <p:cNvSpPr txBox="1"/>
          <p:nvPr/>
        </p:nvSpPr>
        <p:spPr>
          <a:xfrm>
            <a:off x="514350" y="3836389"/>
            <a:ext cx="1316453" cy="21005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提供示例 (Few-shot)</a:t>
            </a:r>
          </a:p>
        </p:txBody>
      </p:sp>
      <p:sp>
        <p:nvSpPr>
          <p:cNvPr id="271" name="Text 19"/>
          <p:cNvSpPr txBox="1"/>
          <p:nvPr/>
        </p:nvSpPr>
        <p:spPr>
          <a:xfrm>
            <a:off x="514350" y="4170359"/>
            <a:ext cx="3743325" cy="3545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通过提供 1-3 个输入输出样例（Few-shot Learning），引导模型理解期望的格式和风格，大幅提高输出准确性。</a:t>
            </a:r>
          </a:p>
        </p:txBody>
      </p:sp>
      <p:sp>
        <p:nvSpPr>
          <p:cNvPr id="272" name="Shape 20"/>
          <p:cNvSpPr/>
          <p:nvPr/>
        </p:nvSpPr>
        <p:spPr>
          <a:xfrm>
            <a:off x="4657725" y="2914650"/>
            <a:ext cx="4200525" cy="19431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2000"/>
              </a:srgbClr>
            </a:solidFill>
          </a:ln>
        </p:spPr>
        <p:txBody>
          <a:bodyPr lIns="0" tIns="0" rIns="0" bIns="0"/>
          <a:lstStyle/>
          <a:p/>
        </p:txBody>
      </p:sp>
      <p:sp>
        <p:nvSpPr>
          <p:cNvPr id="273" name="Shape 21"/>
          <p:cNvSpPr/>
          <p:nvPr/>
        </p:nvSpPr>
        <p:spPr>
          <a:xfrm>
            <a:off x="4657725" y="2914650"/>
            <a:ext cx="42863" cy="1928814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74" name="Text 22"/>
          <p:cNvSpPr txBox="1"/>
          <p:nvPr/>
        </p:nvSpPr>
        <p:spPr>
          <a:xfrm>
            <a:off x="8059935" y="3057525"/>
            <a:ext cx="436490" cy="50418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4100"/>
              </a:lnSpc>
              <a:defRPr sz="3000" b="1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04</a:t>
            </a:r>
          </a:p>
        </p:txBody>
      </p:sp>
      <p:sp>
        <p:nvSpPr>
          <p:cNvPr id="275" name="Shape 23"/>
          <p:cNvSpPr/>
          <p:nvPr/>
        </p:nvSpPr>
        <p:spPr>
          <a:xfrm>
            <a:off x="4886325" y="3236314"/>
            <a:ext cx="457200" cy="457201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76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912" y="3364901"/>
            <a:ext cx="200026" cy="200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77" name="Text 24"/>
          <p:cNvSpPr txBox="1"/>
          <p:nvPr/>
        </p:nvSpPr>
        <p:spPr>
          <a:xfrm>
            <a:off x="4886325" y="3836389"/>
            <a:ext cx="1254448" cy="21005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600"/>
              </a:lnSpc>
              <a:defRPr sz="1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迭代优化 (Iteration)</a:t>
            </a:r>
          </a:p>
        </p:txBody>
      </p:sp>
      <p:sp>
        <p:nvSpPr>
          <p:cNvPr id="278" name="Text 25"/>
          <p:cNvSpPr txBox="1"/>
          <p:nvPr/>
        </p:nvSpPr>
        <p:spPr>
          <a:xfrm>
            <a:off x="4886325" y="4170359"/>
            <a:ext cx="3743325" cy="3545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sz="8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不要期望一次完美。根据输出结果持续调整 Prompt，增加约束条件或澄清模糊点，逐步逼近理想效果。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1" name="Text 0"/>
          <p:cNvSpPr txBox="1"/>
          <p:nvPr/>
        </p:nvSpPr>
        <p:spPr>
          <a:xfrm>
            <a:off x="285750" y="285750"/>
            <a:ext cx="2311425" cy="321565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通用 Prompt 结构模板</a:t>
            </a:r>
          </a:p>
        </p:txBody>
      </p:sp>
      <p:sp>
        <p:nvSpPr>
          <p:cNvPr id="282" name="Text 1"/>
          <p:cNvSpPr txBox="1"/>
          <p:nvPr/>
        </p:nvSpPr>
        <p:spPr>
          <a:xfrm>
            <a:off x="8038504" y="492918"/>
            <a:ext cx="630183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09 / 结构化思维</a:t>
            </a:r>
          </a:p>
        </p:txBody>
      </p:sp>
      <p:sp>
        <p:nvSpPr>
          <p:cNvPr id="283" name="Shape 2"/>
          <p:cNvSpPr/>
          <p:nvPr/>
        </p:nvSpPr>
        <p:spPr>
          <a:xfrm>
            <a:off x="285749" y="828675"/>
            <a:ext cx="5169872" cy="402907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</a:ln>
        </p:spPr>
        <p:txBody>
          <a:bodyPr lIns="0" tIns="0" rIns="0" bIns="0"/>
          <a:lstStyle/>
          <a:p/>
        </p:txBody>
      </p:sp>
      <p:sp>
        <p:nvSpPr>
          <p:cNvPr id="284" name="Shape 3"/>
          <p:cNvSpPr/>
          <p:nvPr/>
        </p:nvSpPr>
        <p:spPr>
          <a:xfrm>
            <a:off x="285749" y="828675"/>
            <a:ext cx="5169872" cy="342900"/>
          </a:xfrm>
          <a:prstGeom prst="rect">
            <a:avLst/>
          </a:prstGeom>
          <a:solidFill>
            <a:srgbClr val="F9FAF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85" name="Shape 4"/>
          <p:cNvSpPr/>
          <p:nvPr/>
        </p:nvSpPr>
        <p:spPr>
          <a:xfrm>
            <a:off x="285749" y="1161652"/>
            <a:ext cx="5169872" cy="12701"/>
          </a:xfrm>
          <a:prstGeom prst="rect">
            <a:avLst/>
          </a:prstGeom>
          <a:solidFill>
            <a:srgbClr val="E5E7E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86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950119"/>
            <a:ext cx="75009" cy="10001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87" name="Text 5"/>
          <p:cNvSpPr txBox="1"/>
          <p:nvPr/>
        </p:nvSpPr>
        <p:spPr>
          <a:xfrm>
            <a:off x="560783" y="939403"/>
            <a:ext cx="702892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900"/>
              </a:lnSpc>
              <a:defRPr sz="6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master_prompt.md</a:t>
            </a:r>
          </a:p>
        </p:txBody>
      </p:sp>
      <p:sp>
        <p:nvSpPr>
          <p:cNvPr id="288" name="Shape 6"/>
          <p:cNvSpPr/>
          <p:nvPr/>
        </p:nvSpPr>
        <p:spPr>
          <a:xfrm>
            <a:off x="4844829" y="918865"/>
            <a:ext cx="467917" cy="162521"/>
          </a:xfrm>
          <a:prstGeom prst="rect">
            <a:avLst/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89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266" y="956370"/>
            <a:ext cx="85726" cy="857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0" name="Text 7"/>
          <p:cNvSpPr txBox="1"/>
          <p:nvPr/>
        </p:nvSpPr>
        <p:spPr>
          <a:xfrm>
            <a:off x="5001991" y="947440"/>
            <a:ext cx="17145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800"/>
              </a:lnSpc>
              <a:defRPr sz="500" b="1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Copy</a:t>
            </a:r>
          </a:p>
        </p:txBody>
      </p:sp>
      <p:sp>
        <p:nvSpPr>
          <p:cNvPr id="291" name="Shape 8"/>
          <p:cNvSpPr/>
          <p:nvPr/>
        </p:nvSpPr>
        <p:spPr>
          <a:xfrm>
            <a:off x="285749" y="1171575"/>
            <a:ext cx="5169872" cy="36861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92" name="Text 9"/>
          <p:cNvSpPr txBox="1"/>
          <p:nvPr/>
        </p:nvSpPr>
        <p:spPr>
          <a:xfrm>
            <a:off x="285749" y="1171575"/>
            <a:ext cx="5169872" cy="2785111"/>
          </a:xfrm>
          <a:prstGeom prst="rect">
            <a:avLst/>
          </a:prstGeom>
          <a:ln w="12700">
            <a:miter lim="400000"/>
          </a:ln>
        </p:spPr>
        <p:txBody>
          <a:bodyPr lIns="255143" tIns="255143" rIns="255143" bIns="255143">
            <a:spAutoFit/>
          </a:bodyPr>
          <a:lstStyle/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t># Role:</a:t>
            </a:r>
            <a:r>
              <a:rPr sz="900" b="0">
                <a:solidFill>
                  <a:srgbClr val="374151"/>
                </a:solidFill>
              </a:rPr>
              <a:t> </a:t>
            </a:r>
            <a:r>
              <a:rPr sz="900" b="0">
                <a:solidFill>
                  <a:srgbClr val="059669"/>
                </a:solidFill>
              </a:rPr>
              <a:t>[设定AI的专业身份]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b="0" i="1">
                <a:solidFill>
                  <a:srgbClr val="9CA3AF"/>
                </a:solidFill>
              </a:rPr>
              <a:t>&gt; 你是拥有10年经验的Python架构师...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sz="900" b="0">
                <a:solidFill>
                  <a:srgbClr val="374151"/>
                </a:solidFill>
              </a:rPr>
              <a:t> </a:t>
            </a:r>
            <a:r>
              <a:t># Context:</a:t>
            </a:r>
            <a:r>
              <a:rPr sz="900" b="0">
                <a:solidFill>
                  <a:srgbClr val="374151"/>
                </a:solidFill>
              </a:rPr>
              <a:t> </a:t>
            </a:r>
            <a:r>
              <a:rPr sz="900" b="0">
                <a:solidFill>
                  <a:srgbClr val="059669"/>
                </a:solidFill>
              </a:rPr>
              <a:t>[提供必要的背景信息]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b="0" i="1">
                <a:solidFill>
                  <a:srgbClr val="9CA3AF"/>
                </a:solidFill>
              </a:rPr>
              <a:t>&gt; 用户是编程初学者，需要理解装饰器...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sz="900" b="0">
                <a:solidFill>
                  <a:srgbClr val="374151"/>
                </a:solidFill>
              </a:rPr>
              <a:t> </a:t>
            </a:r>
            <a:r>
              <a:t># Task:</a:t>
            </a:r>
            <a:r>
              <a:rPr sz="900" b="0">
                <a:solidFill>
                  <a:srgbClr val="374151"/>
                </a:solidFill>
              </a:rPr>
              <a:t> </a:t>
            </a:r>
            <a:r>
              <a:rPr sz="900" b="0">
                <a:solidFill>
                  <a:srgbClr val="059669"/>
                </a:solidFill>
              </a:rPr>
              <a:t>[明确具体的任务目标]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b="0" i="1">
                <a:solidFill>
                  <a:srgbClr val="9CA3AF"/>
                </a:solidFill>
              </a:rPr>
              <a:t>&gt; 请解释装饰器的原理，并提供3个示例...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sz="900" b="0">
                <a:solidFill>
                  <a:srgbClr val="374151"/>
                </a:solidFill>
              </a:rPr>
              <a:t> </a:t>
            </a:r>
            <a:r>
              <a:t># Constraints:</a:t>
            </a:r>
            <a:r>
              <a:rPr sz="900" b="0">
                <a:solidFill>
                  <a:srgbClr val="374151"/>
                </a:solidFill>
              </a:rPr>
              <a:t> </a:t>
            </a:r>
            <a:r>
              <a:rPr sz="900" b="0">
                <a:solidFill>
                  <a:srgbClr val="059669"/>
                </a:solidFill>
              </a:rPr>
              <a:t>[设置限制条件]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b="0" i="1">
                <a:solidFill>
                  <a:srgbClr val="9CA3AF"/>
                </a:solidFill>
              </a:rPr>
              <a:t>&gt; 解释要通俗易懂，代码需包含注释...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sz="900" b="0">
                <a:solidFill>
                  <a:srgbClr val="374151"/>
                </a:solidFill>
              </a:rPr>
              <a:t> </a:t>
            </a:r>
            <a:r>
              <a:t># Output Format:</a:t>
            </a:r>
            <a:r>
              <a:rPr sz="900" b="0">
                <a:solidFill>
                  <a:srgbClr val="374151"/>
                </a:solidFill>
              </a:rPr>
              <a:t> </a:t>
            </a:r>
            <a:r>
              <a:rPr sz="900" b="0">
                <a:solidFill>
                  <a:srgbClr val="059669"/>
                </a:solidFill>
              </a:rPr>
              <a:t>[指定输出格式]</a:t>
            </a:r>
            <a:endParaRPr sz="900" b="0">
              <a:solidFill>
                <a:srgbClr val="374151"/>
              </a:solidFill>
            </a:endParaRPr>
          </a:p>
          <a:p>
            <a:pPr>
              <a:lnSpc>
                <a:spcPts val="1800"/>
              </a:lnSpc>
              <a:defRPr sz="800" b="1">
                <a:solidFill>
                  <a:srgbClr val="7C3AED"/>
                </a:solidFill>
                <a:latin typeface="Fira Code"/>
                <a:ea typeface="Fira Code"/>
                <a:cs typeface="Fira Code"/>
                <a:sym typeface="Fira Code"/>
              </a:defRPr>
            </a:pPr>
            <a:r>
              <a:rPr b="0" i="1">
                <a:solidFill>
                  <a:srgbClr val="9CA3AF"/>
                </a:solidFill>
              </a:rPr>
              <a:t>&gt; 使用Markdown格式，包含代码块...</a:t>
            </a:r>
            <a:endParaRPr b="0" i="1">
              <a:solidFill>
                <a:srgbClr val="9CA3AF"/>
              </a:solidFill>
            </a:endParaRPr>
          </a:p>
        </p:txBody>
      </p:sp>
      <p:sp>
        <p:nvSpPr>
          <p:cNvPr id="293" name="Shape 10"/>
          <p:cNvSpPr/>
          <p:nvPr/>
        </p:nvSpPr>
        <p:spPr>
          <a:xfrm>
            <a:off x="5627070" y="828675"/>
            <a:ext cx="3231181" cy="12477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94" name="Shape 11"/>
          <p:cNvSpPr/>
          <p:nvPr/>
        </p:nvSpPr>
        <p:spPr>
          <a:xfrm>
            <a:off x="5627070" y="971550"/>
            <a:ext cx="28576" cy="962035"/>
          </a:xfrm>
          <a:prstGeom prst="rect">
            <a:avLst/>
          </a:prstGeom>
          <a:solidFill>
            <a:srgbClr val="7C3AED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295" name="Image 3" descr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520" y="1304319"/>
            <a:ext cx="142876" cy="1143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96" name="Text 12"/>
          <p:cNvSpPr txBox="1"/>
          <p:nvPr/>
        </p:nvSpPr>
        <p:spPr>
          <a:xfrm>
            <a:off x="5998545" y="1279316"/>
            <a:ext cx="644854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身份锚定 (Role)</a:t>
            </a:r>
          </a:p>
        </p:txBody>
      </p:sp>
      <p:sp>
        <p:nvSpPr>
          <p:cNvPr id="297" name="Text 13"/>
          <p:cNvSpPr txBox="1"/>
          <p:nvPr/>
        </p:nvSpPr>
        <p:spPr>
          <a:xfrm>
            <a:off x="5798520" y="1486486"/>
            <a:ext cx="2070101" cy="137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激活模型特定领域的知识库，使其回答更具专业性和针对性。</a:t>
            </a:r>
          </a:p>
        </p:txBody>
      </p:sp>
      <p:sp>
        <p:nvSpPr>
          <p:cNvPr id="298" name="Shape 14"/>
          <p:cNvSpPr/>
          <p:nvPr/>
        </p:nvSpPr>
        <p:spPr>
          <a:xfrm>
            <a:off x="5627070" y="2219333"/>
            <a:ext cx="3231181" cy="124778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299" name="Shape 15"/>
          <p:cNvSpPr/>
          <p:nvPr/>
        </p:nvSpPr>
        <p:spPr>
          <a:xfrm>
            <a:off x="5627070" y="2362208"/>
            <a:ext cx="28576" cy="962035"/>
          </a:xfrm>
          <a:prstGeom prst="rect">
            <a:avLst/>
          </a:prstGeom>
          <a:solidFill>
            <a:srgbClr val="2563EB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300" name="Image 4" descr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520" y="2694980"/>
            <a:ext cx="114301" cy="1143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1" name="Text 16"/>
          <p:cNvSpPr txBox="1"/>
          <p:nvPr/>
        </p:nvSpPr>
        <p:spPr>
          <a:xfrm>
            <a:off x="5969970" y="2669976"/>
            <a:ext cx="1092784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任务背景 (Context &amp; Task)</a:t>
            </a:r>
          </a:p>
        </p:txBody>
      </p:sp>
      <p:sp>
        <p:nvSpPr>
          <p:cNvPr id="302" name="Text 17"/>
          <p:cNvSpPr txBox="1"/>
          <p:nvPr/>
        </p:nvSpPr>
        <p:spPr>
          <a:xfrm>
            <a:off x="5798520" y="2877144"/>
            <a:ext cx="2146301" cy="137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提供充足的上下文，减少模型的幻觉，确保理解用户真实意图。</a:t>
            </a:r>
          </a:p>
        </p:txBody>
      </p:sp>
      <p:sp>
        <p:nvSpPr>
          <p:cNvPr id="303" name="Shape 18"/>
          <p:cNvSpPr/>
          <p:nvPr/>
        </p:nvSpPr>
        <p:spPr>
          <a:xfrm>
            <a:off x="5627070" y="3609993"/>
            <a:ext cx="3231181" cy="124778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04" name="Shape 19"/>
          <p:cNvSpPr/>
          <p:nvPr/>
        </p:nvSpPr>
        <p:spPr>
          <a:xfrm>
            <a:off x="5627070" y="3752868"/>
            <a:ext cx="28576" cy="962036"/>
          </a:xfrm>
          <a:prstGeom prst="rect">
            <a:avLst/>
          </a:prstGeom>
          <a:solidFill>
            <a:srgbClr val="DB277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305" name="Image 5" descr="Imag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520" y="4085638"/>
            <a:ext cx="114301" cy="1143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06" name="Text 20"/>
          <p:cNvSpPr txBox="1"/>
          <p:nvPr/>
        </p:nvSpPr>
        <p:spPr>
          <a:xfrm>
            <a:off x="5969970" y="4060635"/>
            <a:ext cx="946151" cy="1419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边界控制 (Constraints)</a:t>
            </a:r>
          </a:p>
        </p:txBody>
      </p:sp>
      <p:sp>
        <p:nvSpPr>
          <p:cNvPr id="307" name="Text 21"/>
          <p:cNvSpPr txBox="1"/>
          <p:nvPr/>
        </p:nvSpPr>
        <p:spPr>
          <a:xfrm>
            <a:off x="5798520" y="4267805"/>
            <a:ext cx="2019201" cy="13766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6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明确“做什么”和“不做什么”，控制输出的风格、长度和格式。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Image 0" descr="Imag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0" name="Text 0"/>
          <p:cNvSpPr txBox="1"/>
          <p:nvPr/>
        </p:nvSpPr>
        <p:spPr>
          <a:xfrm>
            <a:off x="285750" y="285750"/>
            <a:ext cx="1346200" cy="33451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2400"/>
              </a:lnSpc>
              <a:defRPr sz="21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总结与预告</a:t>
            </a:r>
          </a:p>
        </p:txBody>
      </p:sp>
      <p:sp>
        <p:nvSpPr>
          <p:cNvPr id="311" name="Text 1"/>
          <p:cNvSpPr txBox="1"/>
          <p:nvPr/>
        </p:nvSpPr>
        <p:spPr>
          <a:xfrm>
            <a:off x="8068865" y="430410"/>
            <a:ext cx="626270" cy="1452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200"/>
              </a:lnSpc>
              <a:defRPr sz="800" b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10 / Wrap Up</a:t>
            </a:r>
          </a:p>
        </p:txBody>
      </p:sp>
      <p:sp>
        <p:nvSpPr>
          <p:cNvPr id="312" name="Shape 2"/>
          <p:cNvSpPr/>
          <p:nvPr/>
        </p:nvSpPr>
        <p:spPr>
          <a:xfrm>
            <a:off x="285750" y="800100"/>
            <a:ext cx="2743200" cy="40576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13" name="Shape 3"/>
          <p:cNvSpPr/>
          <p:nvPr/>
        </p:nvSpPr>
        <p:spPr>
          <a:xfrm>
            <a:off x="514350" y="102870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314" name="Image 1" descr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04" y="1107280"/>
            <a:ext cx="96442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5" name="Text 4"/>
          <p:cNvSpPr txBox="1"/>
          <p:nvPr/>
        </p:nvSpPr>
        <p:spPr>
          <a:xfrm>
            <a:off x="885825" y="1067991"/>
            <a:ext cx="698500" cy="1811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本节核心回顾</a:t>
            </a:r>
          </a:p>
        </p:txBody>
      </p:sp>
      <p:pic>
        <p:nvPicPr>
          <p:cNvPr id="316" name="Image 2" descr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635918"/>
            <a:ext cx="114300" cy="3143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7" name="Text 5"/>
          <p:cNvSpPr txBox="1"/>
          <p:nvPr/>
        </p:nvSpPr>
        <p:spPr>
          <a:xfrm>
            <a:off x="714375" y="1607344"/>
            <a:ext cx="2085975" cy="35458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7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LLM 原理</a:t>
            </a:r>
            <a:r>
              <a:rPr sz="800" b="0"/>
              <a:t>：理解 Token、Context Window 与 Transformer 架构。</a:t>
            </a:r>
            <a:endParaRPr sz="800" b="0"/>
          </a:p>
        </p:txBody>
      </p:sp>
      <p:pic>
        <p:nvPicPr>
          <p:cNvPr id="318" name="Image 3" descr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093118"/>
            <a:ext cx="114300" cy="3143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19" name="Text 6"/>
          <p:cNvSpPr txBox="1"/>
          <p:nvPr/>
        </p:nvSpPr>
        <p:spPr>
          <a:xfrm>
            <a:off x="714375" y="2064543"/>
            <a:ext cx="2085975" cy="3545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7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工具选型</a:t>
            </a:r>
            <a:r>
              <a:rPr sz="800" b="0"/>
              <a:t>：根据场景选择 ChatGPT (通用)、Claude (长文) 或开源模型。</a:t>
            </a:r>
            <a:endParaRPr sz="800" b="0"/>
          </a:p>
        </p:txBody>
      </p:sp>
      <p:pic>
        <p:nvPicPr>
          <p:cNvPr id="320" name="Image 4" descr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550318"/>
            <a:ext cx="114300" cy="3143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1" name="Text 7"/>
          <p:cNvSpPr txBox="1"/>
          <p:nvPr/>
        </p:nvSpPr>
        <p:spPr>
          <a:xfrm>
            <a:off x="714375" y="2521743"/>
            <a:ext cx="2085975" cy="3545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7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开发入门</a:t>
            </a:r>
            <a:r>
              <a:rPr sz="800" b="0"/>
              <a:t>：掌握 OpenAI SDK 的基础调用与参数配置。</a:t>
            </a:r>
            <a:endParaRPr sz="800" b="0"/>
          </a:p>
        </p:txBody>
      </p:sp>
      <p:pic>
        <p:nvPicPr>
          <p:cNvPr id="322" name="Image 5" descr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007518"/>
            <a:ext cx="114300" cy="3143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3" name="Text 8"/>
          <p:cNvSpPr txBox="1"/>
          <p:nvPr/>
        </p:nvSpPr>
        <p:spPr>
          <a:xfrm>
            <a:off x="714375" y="2978943"/>
            <a:ext cx="2085975" cy="176786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1400"/>
              </a:lnSpc>
              <a:defRPr sz="700" b="1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Prompt 基础</a:t>
            </a:r>
            <a:r>
              <a:rPr sz="800" b="0"/>
              <a:t>：学会角色设定与结构化指令。</a:t>
            </a:r>
            <a:endParaRPr sz="800" b="0"/>
          </a:p>
        </p:txBody>
      </p:sp>
      <p:sp>
        <p:nvSpPr>
          <p:cNvPr id="324" name="Shape 9"/>
          <p:cNvSpPr/>
          <p:nvPr/>
        </p:nvSpPr>
        <p:spPr>
          <a:xfrm>
            <a:off x="3200400" y="800100"/>
            <a:ext cx="2743200" cy="40576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25" name="Shape 10"/>
          <p:cNvSpPr/>
          <p:nvPr/>
        </p:nvSpPr>
        <p:spPr>
          <a:xfrm>
            <a:off x="3429000" y="1028700"/>
            <a:ext cx="285750" cy="285750"/>
          </a:xfrm>
          <a:prstGeom prst="roundRect">
            <a:avLst>
              <a:gd name="adj" fmla="val 16667"/>
            </a:avLst>
          </a:prstGeom>
          <a:solidFill>
            <a:srgbClr val="FDF4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326" name="Image 6" descr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580" y="1107280"/>
            <a:ext cx="128589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27" name="Text 11"/>
          <p:cNvSpPr txBox="1"/>
          <p:nvPr/>
        </p:nvSpPr>
        <p:spPr>
          <a:xfrm>
            <a:off x="3800475" y="1067991"/>
            <a:ext cx="469900" cy="1811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111827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课后作业</a:t>
            </a:r>
          </a:p>
        </p:txBody>
      </p:sp>
      <p:sp>
        <p:nvSpPr>
          <p:cNvPr id="328" name="Shape 12"/>
          <p:cNvSpPr/>
          <p:nvPr/>
        </p:nvSpPr>
        <p:spPr>
          <a:xfrm>
            <a:off x="3429000" y="1607344"/>
            <a:ext cx="2286000" cy="810817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144">
            <a:solidFill>
              <a:srgbClr val="D1D5DB"/>
            </a:solidFill>
            <a:prstDash val="dash"/>
          </a:ln>
        </p:spPr>
        <p:txBody>
          <a:bodyPr lIns="0" tIns="0" rIns="0" bIns="0"/>
          <a:lstStyle/>
          <a:p/>
        </p:txBody>
      </p:sp>
      <p:pic>
        <p:nvPicPr>
          <p:cNvPr id="329" name="Image 7" descr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1775222"/>
            <a:ext cx="114300" cy="1143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0" name="Text 13"/>
          <p:cNvSpPr txBox="1"/>
          <p:nvPr/>
        </p:nvSpPr>
        <p:spPr>
          <a:xfrm>
            <a:off x="3750990" y="1757883"/>
            <a:ext cx="646764" cy="141988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1. 获取 API Key</a:t>
            </a:r>
          </a:p>
        </p:txBody>
      </p:sp>
      <p:sp>
        <p:nvSpPr>
          <p:cNvPr id="331" name="Text 14"/>
          <p:cNvSpPr txBox="1"/>
          <p:nvPr/>
        </p:nvSpPr>
        <p:spPr>
          <a:xfrm>
            <a:off x="3571875" y="1971675"/>
            <a:ext cx="2000250" cy="2359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注册 OpenAI 或 OpenCSG 账号，获取可用的 API Key。</a:t>
            </a:r>
          </a:p>
        </p:txBody>
      </p:sp>
      <p:sp>
        <p:nvSpPr>
          <p:cNvPr id="332" name="Shape 15"/>
          <p:cNvSpPr/>
          <p:nvPr/>
        </p:nvSpPr>
        <p:spPr>
          <a:xfrm>
            <a:off x="3429000" y="2518172"/>
            <a:ext cx="2286000" cy="810817"/>
          </a:xfrm>
          <a:prstGeom prst="roundRect">
            <a:avLst>
              <a:gd name="adj" fmla="val 16667"/>
            </a:avLst>
          </a:prstGeom>
          <a:solidFill>
            <a:srgbClr val="F9FAFB"/>
          </a:solidFill>
          <a:ln w="9144">
            <a:solidFill>
              <a:srgbClr val="D1D5DB"/>
            </a:solidFill>
            <a:prstDash val="dash"/>
          </a:ln>
        </p:spPr>
        <p:txBody>
          <a:bodyPr lIns="0" tIns="0" rIns="0" bIns="0"/>
          <a:lstStyle/>
          <a:p/>
        </p:txBody>
      </p:sp>
      <p:pic>
        <p:nvPicPr>
          <p:cNvPr id="333" name="Image 8" descr="Imag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686050"/>
            <a:ext cx="142875" cy="1143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4" name="Text 16"/>
          <p:cNvSpPr txBox="1"/>
          <p:nvPr/>
        </p:nvSpPr>
        <p:spPr>
          <a:xfrm>
            <a:off x="3771900" y="2661047"/>
            <a:ext cx="806333" cy="141987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100"/>
              </a:lnSpc>
              <a:defRPr sz="700"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2. 跑通 Hello World</a:t>
            </a:r>
          </a:p>
        </p:txBody>
      </p:sp>
      <p:sp>
        <p:nvSpPr>
          <p:cNvPr id="335" name="Text 17"/>
          <p:cNvSpPr txBox="1"/>
          <p:nvPr/>
        </p:nvSpPr>
        <p:spPr>
          <a:xfrm>
            <a:off x="3571875" y="2882502"/>
            <a:ext cx="2000250" cy="2359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900"/>
              </a:lnSpc>
              <a:defRPr sz="7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参考代码示例，在本地环境成功运行第一次 API 对话。</a:t>
            </a:r>
          </a:p>
        </p:txBody>
      </p:sp>
      <p:sp>
        <p:nvSpPr>
          <p:cNvPr id="336" name="Shape 18"/>
          <p:cNvSpPr/>
          <p:nvPr/>
        </p:nvSpPr>
        <p:spPr>
          <a:xfrm>
            <a:off x="6115050" y="800100"/>
            <a:ext cx="2743200" cy="405765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37" name="Shape 19"/>
          <p:cNvSpPr/>
          <p:nvPr/>
        </p:nvSpPr>
        <p:spPr>
          <a:xfrm>
            <a:off x="6343650" y="1028700"/>
            <a:ext cx="285750" cy="28575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338" name="Image 9" descr="Imag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230" y="1107280"/>
            <a:ext cx="128589" cy="12858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39" name="Text 20"/>
          <p:cNvSpPr txBox="1"/>
          <p:nvPr/>
        </p:nvSpPr>
        <p:spPr>
          <a:xfrm>
            <a:off x="6715125" y="1067991"/>
            <a:ext cx="469900" cy="181103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lnSpc>
                <a:spcPts val="1400"/>
              </a:lnSpc>
              <a:defRPr sz="9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lvl1pPr>
          </a:lstStyle>
          <a:p>
            <a:r>
              <a:t>下节预告</a:t>
            </a:r>
          </a:p>
        </p:txBody>
      </p:sp>
      <p:sp>
        <p:nvSpPr>
          <p:cNvPr id="340" name="Shape 21"/>
          <p:cNvSpPr/>
          <p:nvPr/>
        </p:nvSpPr>
        <p:spPr>
          <a:xfrm>
            <a:off x="6343650" y="1607344"/>
            <a:ext cx="614363" cy="182167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41" name="Text 22"/>
          <p:cNvSpPr txBox="1"/>
          <p:nvPr/>
        </p:nvSpPr>
        <p:spPr>
          <a:xfrm>
            <a:off x="6411721" y="1607344"/>
            <a:ext cx="478220" cy="170943"/>
          </a:xfrm>
          <a:prstGeom prst="rect">
            <a:avLst/>
          </a:prstGeom>
          <a:ln w="12700">
            <a:miter lim="400000"/>
          </a:ln>
        </p:spPr>
        <p:txBody>
          <a:bodyPr lIns="34036" tIns="34036" rIns="34036" bIns="34036">
            <a:spAutoFit/>
          </a:bodyPr>
          <a:lstStyle>
            <a:lvl1pPr>
              <a:lnSpc>
                <a:spcPts val="800"/>
              </a:lnSpc>
              <a:defRPr sz="5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C2 · 进阶篇</a:t>
            </a:r>
          </a:p>
        </p:txBody>
      </p:sp>
      <p:sp>
        <p:nvSpPr>
          <p:cNvPr id="342" name="Text 23"/>
          <p:cNvSpPr txBox="1"/>
          <p:nvPr/>
        </p:nvSpPr>
        <p:spPr>
          <a:xfrm>
            <a:off x="6343650" y="1932383"/>
            <a:ext cx="2286000" cy="57201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>
              <a:lnSpc>
                <a:spcPts val="2200"/>
              </a:lnSpc>
              <a:defRPr sz="16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Prompt Engineering</a:t>
            </a:r>
          </a:p>
          <a:p>
            <a:pPr>
              <a:lnSpc>
                <a:spcPts val="2200"/>
              </a:lnSpc>
              <a:defRPr sz="1600" b="1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defRPr>
            </a:pPr>
            <a:r>
              <a:t>进阶实战</a:t>
            </a:r>
          </a:p>
        </p:txBody>
      </p:sp>
      <p:sp>
        <p:nvSpPr>
          <p:cNvPr id="343" name="Text 24"/>
          <p:cNvSpPr txBox="1"/>
          <p:nvPr/>
        </p:nvSpPr>
        <p:spPr>
          <a:xfrm>
            <a:off x="6343650" y="2566727"/>
            <a:ext cx="2286000" cy="32740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如何让 AI 处理复杂任务？我们将深入探讨思维链 (CoT) 与 ReAct 框架。</a:t>
            </a:r>
          </a:p>
        </p:txBody>
      </p:sp>
      <p:sp>
        <p:nvSpPr>
          <p:cNvPr id="344" name="Shape 25"/>
          <p:cNvSpPr/>
          <p:nvPr/>
        </p:nvSpPr>
        <p:spPr>
          <a:xfrm>
            <a:off x="6343650" y="3101057"/>
            <a:ext cx="333970" cy="19109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45" name="Text 26"/>
          <p:cNvSpPr txBox="1"/>
          <p:nvPr/>
        </p:nvSpPr>
        <p:spPr>
          <a:xfrm>
            <a:off x="6394703" y="3101057"/>
            <a:ext cx="231863" cy="302513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CoT</a:t>
            </a:r>
          </a:p>
        </p:txBody>
      </p:sp>
      <p:sp>
        <p:nvSpPr>
          <p:cNvPr id="346" name="Shape 27"/>
          <p:cNvSpPr/>
          <p:nvPr/>
        </p:nvSpPr>
        <p:spPr>
          <a:xfrm>
            <a:off x="6734770" y="3101057"/>
            <a:ext cx="407195" cy="19109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47" name="Text 28"/>
          <p:cNvSpPr txBox="1"/>
          <p:nvPr/>
        </p:nvSpPr>
        <p:spPr>
          <a:xfrm>
            <a:off x="6785824" y="3101057"/>
            <a:ext cx="305087" cy="302513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ReAct</a:t>
            </a:r>
          </a:p>
        </p:txBody>
      </p:sp>
      <p:sp>
        <p:nvSpPr>
          <p:cNvPr id="348" name="Shape 29"/>
          <p:cNvSpPr/>
          <p:nvPr/>
        </p:nvSpPr>
        <p:spPr>
          <a:xfrm>
            <a:off x="7199114" y="3101057"/>
            <a:ext cx="560785" cy="191096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sp>
        <p:nvSpPr>
          <p:cNvPr id="349" name="Text 30"/>
          <p:cNvSpPr txBox="1"/>
          <p:nvPr/>
        </p:nvSpPr>
        <p:spPr>
          <a:xfrm>
            <a:off x="7250168" y="3101057"/>
            <a:ext cx="458677" cy="200913"/>
          </a:xfrm>
          <a:prstGeom prst="rect">
            <a:avLst/>
          </a:prstGeom>
          <a:ln w="12700">
            <a:miter lim="400000"/>
          </a:ln>
        </p:spPr>
        <p:txBody>
          <a:bodyPr lIns="51053" tIns="51053" rIns="51053" bIns="51053">
            <a:spAutoFit/>
          </a:bodyPr>
          <a:lstStyle>
            <a:lvl1pPr>
              <a:lnSpc>
                <a:spcPts val="800"/>
              </a:lnSpc>
              <a:defRPr sz="60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r>
              <a:t>Few-Shot</a:t>
            </a:r>
          </a:p>
        </p:txBody>
      </p:sp>
      <p:sp>
        <p:nvSpPr>
          <p:cNvPr id="350" name="Shape 31"/>
          <p:cNvSpPr/>
          <p:nvPr/>
        </p:nvSpPr>
        <p:spPr>
          <a:xfrm>
            <a:off x="8286750" y="4286250"/>
            <a:ext cx="342900" cy="342900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/>
          <a:lstStyle/>
          <a:p/>
        </p:txBody>
      </p:sp>
      <p:pic>
        <p:nvPicPr>
          <p:cNvPr id="351" name="Image 10" descr="Imag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5692" y="4386262"/>
            <a:ext cx="125017" cy="14287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2666</Words>
  <Application>WPS 演示</Application>
  <PresentationFormat/>
  <Paragraphs>320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Helvetica Neue</vt:lpstr>
      <vt:lpstr>Calibri Light</vt:lpstr>
      <vt:lpstr>Arial</vt:lpstr>
      <vt:lpstr>Space Grotesk</vt:lpstr>
      <vt:lpstr>Thonburi</vt:lpstr>
      <vt:lpstr>Inter</vt:lpstr>
      <vt:lpstr>黑体</vt:lpstr>
      <vt:lpstr>汉仪中黑KW</vt:lpstr>
      <vt:lpstr>Plus Jakarta Sans</vt:lpstr>
      <vt:lpstr>Fira Code</vt:lpstr>
      <vt:lpstr>汉仪书宋二KW</vt:lpstr>
      <vt:lpstr>宋体</vt:lpstr>
      <vt:lpstr>微软雅黑</vt:lpstr>
      <vt:lpstr>汉仪旗黑</vt:lpstr>
      <vt:lpstr>Arial Unicode MS</vt:lpstr>
      <vt:lpstr>Fira Code</vt:lpstr>
      <vt:lpstr>Inter</vt:lpstr>
      <vt:lpstr>Plus Jakarta Sans</vt:lpstr>
      <vt:lpstr>Space Grotesk</vt:lpstr>
      <vt:lpstr>黑体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Frank</cp:lastModifiedBy>
  <cp:revision>2</cp:revision>
  <dcterms:created xsi:type="dcterms:W3CDTF">2026-03-28T11:27:23Z</dcterms:created>
  <dcterms:modified xsi:type="dcterms:W3CDTF">2026-03-28T11:27:23Z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B5B331A3E8D366B1FF8FC469D0088BA5_42</vt:lpwstr>
  </property>
</Properties>
</file>